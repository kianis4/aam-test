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338" r:id="rId5"/>
    <p:sldId id="339" r:id="rId6"/>
    <p:sldId id="340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379" r:id="rId43"/>
    <p:sldId id="38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F55E933-91F6-45B2-B079-B8170C2802FE}">
          <p14:sldIdLst>
            <p14:sldId id="338"/>
            <p14:sldId id="339"/>
            <p14:sldId id="340"/>
            <p14:sldId id="343"/>
            <p14:sldId id="344"/>
            <p14:sldId id="345"/>
            <p14:sldId id="346"/>
            <p14:sldId id="347"/>
            <p14:sldId id="348"/>
            <p14:sldId id="349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F39B74-47FD-4300-A85E-A265C6CD025C}" v="20" dt="2026-02-17T13:52:46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5C0B3-4567-421B-A274-21EB88CBBE0B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E945C-BB44-4E36-8C98-BFEBF50C1FA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0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1">
            <a:extLst>
              <a:ext uri="{FF2B5EF4-FFF2-40B4-BE49-F238E27FC236}">
                <a16:creationId xmlns:a16="http://schemas.microsoft.com/office/drawing/2014/main" id="{246D2032-6EB1-AA38-9C03-4EC05745D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noFill/>
        </p:spPr>
        <p:txBody>
          <a:bodyPr lIns="360000" tIns="360000" rIns="360000" bIns="360000" anchor="t"/>
          <a:lstStyle>
            <a:lvl1pPr algn="l">
              <a:defRPr sz="5000">
                <a:solidFill>
                  <a:schemeClr val="bg2"/>
                </a:solidFill>
              </a:defRPr>
            </a:lvl1pPr>
          </a:lstStyle>
          <a:p>
            <a:r>
              <a:rPr lang="en-US"/>
              <a:t>Change the style of the title</a:t>
            </a:r>
            <a:endParaRPr lang="en-US" dirty="0"/>
          </a:p>
        </p:txBody>
      </p:sp>
      <p:sp>
        <p:nvSpPr>
          <p:cNvPr id="38" name="Sous-titre 2">
            <a:extLst>
              <a:ext uri="{FF2B5EF4-FFF2-40B4-BE49-F238E27FC236}">
                <a16:creationId xmlns:a16="http://schemas.microsoft.com/office/drawing/2014/main" id="{C7ACC6BC-9944-C510-373F-4D648FABA8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noFill/>
        </p:spPr>
        <p:txBody>
          <a:bodyPr lIns="360000" tIns="360000" rIns="360000" bIns="0" anchor="b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Change the style of the mask subtitles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FB53285-AF96-6D5A-578C-081FDFA3D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322057"/>
            <a:ext cx="4530010" cy="1013184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19A63CAE-D959-E7CF-EEE5-3F5CEE43B4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3502" y="4838581"/>
            <a:ext cx="1592804" cy="1592803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0DA2037C-70D4-08BC-5BB4-3AAB77063B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502" y="3100648"/>
            <a:ext cx="1592804" cy="1592803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806D06F9-7021-A252-08E3-84D25422BD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4838581"/>
            <a:ext cx="1592804" cy="1592803"/>
          </a:xfrm>
          <a:prstGeom prst="rect">
            <a:avLst/>
          </a:prstGeom>
        </p:spPr>
      </p:pic>
      <p:pic>
        <p:nvPicPr>
          <p:cNvPr id="43" name="Graphique 42">
            <a:extLst>
              <a:ext uri="{FF2B5EF4-FFF2-40B4-BE49-F238E27FC236}">
                <a16:creationId xmlns:a16="http://schemas.microsoft.com/office/drawing/2014/main" id="{5940BCC3-C3B3-9039-4AB4-C1971BA7E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3100648"/>
            <a:ext cx="1592804" cy="1592803"/>
          </a:xfrm>
          <a:prstGeom prst="rect">
            <a:avLst/>
          </a:prstGeom>
        </p:spPr>
      </p:pic>
      <p:sp>
        <p:nvSpPr>
          <p:cNvPr id="44" name="Espace réservé pour une image  18">
            <a:extLst>
              <a:ext uri="{FF2B5EF4-FFF2-40B4-BE49-F238E27FC236}">
                <a16:creationId xmlns:a16="http://schemas.microsoft.com/office/drawing/2014/main" id="{8021CF9D-D2ED-B291-9CE1-EE3F2AE989C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544882" y="3252027"/>
            <a:ext cx="1290045" cy="1290045"/>
          </a:xfrm>
          <a:prstGeom prst="roundRect">
            <a:avLst>
              <a:gd name="adj" fmla="val 8647"/>
            </a:avLst>
          </a:prstGeom>
        </p:spPr>
        <p:txBody>
          <a:bodyPr/>
          <a:lstStyle>
            <a:lvl1pPr>
              <a:defRPr sz="1200"/>
            </a:lvl1pPr>
          </a:lstStyle>
          <a:p>
            <a:r>
              <a:rPr lang="fr-FR"/>
              <a:t>Cliquez sur l'icône pour ajouter une image</a:t>
            </a:r>
            <a:endParaRPr lang="en-CA"/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C0DCF638-D783-DAD9-C2C4-3E988DB44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1362715"/>
            <a:ext cx="1592804" cy="1592803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5404ABE1-4F3E-265D-F710-89436939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449" y="4838581"/>
            <a:ext cx="1592804" cy="15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E3941FB-BD47-4E2D-A65B-ECB8A32F4D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63638"/>
            <a:ext cx="12192000" cy="56943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5B8D23-EBCC-42C3-B6E5-754CF42C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65E2AF0-1E25-4CAA-930E-55C1C448A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DB4542-6795-46FA-8206-77BFA8E9F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112452"/>
            <a:ext cx="4530010" cy="10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02C0-59AF-4611-9B8C-7D137DC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2923367" cy="1876169"/>
          </a:xfrm>
          <a:prstGeom prst="rect">
            <a:avLst/>
          </a:prstGeom>
          <a:noFill/>
        </p:spPr>
        <p:txBody>
          <a:bodyPr lIns="216000" tIns="36000" rIns="216000" bIns="18000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EA4E8-6294-44D3-B0D9-41A92362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325" y="971809"/>
            <a:ext cx="8133693" cy="5205153"/>
          </a:xfrm>
          <a:prstGeom prst="rect">
            <a:avLst/>
          </a:prstGeom>
        </p:spPr>
        <p:txBody>
          <a:bodyPr lIns="180000" tIns="180000" rIns="180000" bIns="180000" numCol="2" spcCol="720000"/>
          <a:lstStyle>
            <a:lvl1pPr marL="514350" indent="-514350">
              <a:spcAft>
                <a:spcPts val="1200"/>
              </a:spcAft>
              <a:buClr>
                <a:schemeClr val="bg2"/>
              </a:buClr>
              <a:buSzPct val="105000"/>
              <a:buFont typeface="+mj-lt"/>
              <a:buAutoNum type="arabicPeriod"/>
              <a:defRPr sz="2400"/>
            </a:lvl1pPr>
            <a:lvl2pPr marL="9144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2000"/>
            </a:lvl2pPr>
            <a:lvl3pPr marL="13716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800"/>
            </a:lvl3pPr>
            <a:lvl4pPr marL="17145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4pPr>
            <a:lvl5pPr marL="21717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28ECB7-DE2C-473F-8CD3-E9567CED8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DBB548-FC81-4391-BD42-278C025F5132}"/>
              </a:ext>
            </a:extLst>
          </p:cNvPr>
          <p:cNvSpPr/>
          <p:nvPr userDrawn="1"/>
        </p:nvSpPr>
        <p:spPr>
          <a:xfrm>
            <a:off x="0" y="971807"/>
            <a:ext cx="419100" cy="52051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AA6D22C-9BA0-48C0-A8F1-64E2B33D5D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900" y="2959100"/>
            <a:ext cx="2946400" cy="32178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DBA5D20-298E-44EA-B2F2-D1684501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49E73B9-2A1B-E689-E27F-03DE9880FB93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</a:t>
            </a:r>
            <a:r>
              <a:rPr lang="en-US" sz="1000">
                <a:cs typeface="Calibri Light" panose="020F0302020204030204" pitchFamily="34" charset="0"/>
              </a:rPr>
              <a:t>Canada 2026. </a:t>
            </a:r>
            <a:r>
              <a:rPr lang="en-US" sz="1000" dirty="0">
                <a:cs typeface="Calibri Light" panose="020F0302020204030204" pitchFamily="34" charset="0"/>
              </a:rPr>
              <a:t>Tous droits </a:t>
            </a:r>
            <a:r>
              <a:rPr lang="en-US" sz="1000" dirty="0" err="1">
                <a:cs typeface="Calibri Light" panose="020F0302020204030204" pitchFamily="34" charset="0"/>
              </a:rPr>
              <a:t>réservés</a:t>
            </a:r>
            <a:r>
              <a:rPr lang="en-US" sz="1000" dirty="0">
                <a:cs typeface="Calibri Light" panose="020F0302020204030204" pitchFamily="34" charset="0"/>
              </a:rPr>
              <a:t>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D264B0F-C016-5FDF-0169-2798BC111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397" y="2126232"/>
            <a:ext cx="2545571" cy="2545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5">
              <a:lumMod val="75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4EC37-01EB-33A8-D987-850541EEDF8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93D2985-4F6B-7282-69DC-775B60A85CAA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/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787D01FF-2EE0-57E3-1BB4-15D605E9B991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96BC23D-F34D-7803-EB17-6051D2649BE9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1EDD5C1-194B-C446-E4CB-A1D5460823B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92903AE-3124-55EC-1FC2-74021A5F0AA8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5C1AAFA2-CA50-0C02-6B8C-382E6053A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9131B87-8E92-7D6D-57D4-386A1CA63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61C141D-750B-B5C0-1D6D-042AE830F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060" y="540181"/>
            <a:ext cx="2442363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ox 3 col. content - contenu 3 col 2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911600" cy="4716463"/>
          </a:xfrm>
          <a:prstGeom prst="rect">
            <a:avLst/>
          </a:prstGeo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93A5E-7B93-48E8-B4F6-3D9D924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D19DF6D4-C0F9-48BA-9108-2E36C36335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E774ADA-B0FB-478A-8A1E-1171D1351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3700" y="1460500"/>
            <a:ext cx="7696200" cy="4716463"/>
          </a:xfrm>
          <a:prstGeom prst="rect">
            <a:avLst/>
          </a:prstGeom>
          <a:noFill/>
        </p:spPr>
        <p:txBody>
          <a:bodyPr lIns="360000" tIns="360000" rIns="360000" bIns="360000" numCol="2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2D0FFB6-BEB0-415F-A818-09FB5CA0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0DD089-605C-D270-6133-B32A0147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E86E8-D045-09C0-175D-CCA0D938573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2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 content - contenu 3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619500" cy="4716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483F5BC-E705-4594-8F69-A2584C3409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625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1BB7B1-4DA3-4707-88B2-30229628DC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8040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717A1FF6-DF5A-4BF6-8E12-711B6F9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E29BC-0AA9-3944-1875-DB6E3241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DBE3BDAB-B470-2A08-BDA3-7F02A6974E9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1B5409-B357-CD2D-B6D6-DDE100C66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B41C91F-0E79-3968-8FFE-2C15F561D356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4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/50 tex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9A3D40-84E1-4C94-948D-CEF3749013F5}"/>
              </a:ext>
            </a:extLst>
          </p:cNvPr>
          <p:cNvSpPr/>
          <p:nvPr userDrawn="1"/>
        </p:nvSpPr>
        <p:spPr>
          <a:xfrm>
            <a:off x="292100" y="1393050"/>
            <a:ext cx="5803900" cy="4906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56" y="17404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156" y="2821264"/>
            <a:ext cx="5157787" cy="31731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725C576E-4E39-4450-9D29-69E336D99D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392793"/>
            <a:ext cx="5803900" cy="49061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911CC7C8-E969-47C4-BE69-A7BAB082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5430FF-6B70-F789-4A72-F705F986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C547173-FEB6-4D86-64C3-FCF89D585E6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EA723-6A35-5BD3-C898-EA6B7B966E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F5B33DF-6E29-28FE-FB60-78A4EB87F21C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77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_text - 2/3_image-graph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4127500" cy="11599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2705099"/>
            <a:ext cx="41275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2495BEA-529C-47B8-880F-141CF8A9C88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62500" y="1392792"/>
            <a:ext cx="7137399" cy="4906150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48286AC-0A86-48CB-B688-74B85F26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F57F95-8001-9CFE-9AE3-49DF191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6246886-0A51-2FBD-6719-C623C4D1D51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8E407-2644-ACAB-B203-4AE184F7A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898637F-483D-C480-5C99-BF36508554D9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10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highlight - souligne des donn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11584918" cy="23719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5164436"/>
            <a:ext cx="5473700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0AD63EF-8251-455A-943D-C2FBF900A7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92101" y="4212194"/>
            <a:ext cx="5473700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100 %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AAB538C-D14A-4194-AAA0-6DEB9B616F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7786"/>
            <a:ext cx="0" cy="213171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5DB4C81D-79BB-49D1-AB60-DA24C66C686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26201" y="5164436"/>
            <a:ext cx="5450818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7F8EB1F-235F-4F56-9E3A-74E68BBEC6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26201" y="4212194"/>
            <a:ext cx="5450818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167,850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5A4D534E-EC4B-48BC-8640-B0D4BD66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236ED6-D1E2-63F0-B4A9-8AB9A44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5C0DDD9-7853-1165-8B84-AC2B12A6C8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22DAEB-4939-4E55-0F0E-B5C1441EB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E68BA5A-96C0-487D-AC75-11AC9D9B7C2B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423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-div horiz - 1/3_text - 2/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2D688-9ADA-45E9-9ACE-3DADFDFBF2F4}"/>
              </a:ext>
            </a:extLst>
          </p:cNvPr>
          <p:cNvSpPr/>
          <p:nvPr userDrawn="1"/>
        </p:nvSpPr>
        <p:spPr>
          <a:xfrm>
            <a:off x="317500" y="835285"/>
            <a:ext cx="4178300" cy="55591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211BB4-2811-436C-9514-7F55B171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11252"/>
            <a:ext cx="3543300" cy="1314448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E63814-A83D-4A0A-A1D3-39D74B319E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300" y="2527299"/>
            <a:ext cx="35433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421EEB0-3132-4629-99A6-97E81BFCFD9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86300" y="83528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6C2539-48DA-40FA-94CE-47852252C8B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0" y="392773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DF5DD9E6-7603-4730-89E0-97650EE0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3213899-1856-36CB-A750-92B8E16D7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9A02993-F37D-5947-78FA-EF1848AA048A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4468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64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11569933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9412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‹N°›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cs typeface="Calibri Light" panose="020F0302020204030204" pitchFamily="34" charset="0"/>
              </a:rPr>
              <a:t>© Mitsubishi HC Capital Canada 2026.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67E45A-AF52-D15D-1C0A-35B8FDD188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36484" y="1392222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5579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456AB99-2268-1DD0-944C-4809DC3BA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403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FDE6758D-0600-40A4-853E-8AB0568534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549901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D52F7B0-9496-478A-B66B-B0200484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2667000"/>
            <a:ext cx="4127500" cy="2527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360000" tIns="360000" rIns="360000" bIns="360000" anchor="t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E0868-E46A-81B9-0EB7-3D28AC45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862195-07C7-A3A9-683B-7E9D660F2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1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6AE5122-ECEB-4DDC-82D8-6C0DDE11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1062592"/>
            <a:ext cx="4801357" cy="31411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175F3C-65EF-04B2-D4C9-A6E93FBEA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99563A-909E-8913-A231-61E8751AE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25" dirty="0"/>
              <a:t> </a:t>
            </a:r>
            <a:r>
              <a:rPr dirty="0"/>
              <a:t>Capital</a:t>
            </a:r>
            <a:r>
              <a:rPr spc="-20" dirty="0"/>
              <a:t> </a:t>
            </a:r>
            <a:r>
              <a:rPr dirty="0"/>
              <a:t>Canada</a:t>
            </a:r>
            <a:r>
              <a:rPr spc="-4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40" dirty="0"/>
              <a:t> </a:t>
            </a:r>
            <a:r>
              <a:rPr dirty="0"/>
              <a:t>All</a:t>
            </a:r>
            <a:r>
              <a:rPr spc="-1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420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35" dirty="0"/>
              <a:t> </a:t>
            </a:r>
            <a:r>
              <a:rPr dirty="0"/>
              <a:t>Capital</a:t>
            </a:r>
            <a:r>
              <a:rPr spc="-30" dirty="0"/>
              <a:t> </a:t>
            </a:r>
            <a:r>
              <a:rPr dirty="0"/>
              <a:t>Canada</a:t>
            </a:r>
            <a:r>
              <a:rPr spc="-3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5626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35" dirty="0"/>
              <a:t> </a:t>
            </a:r>
            <a:r>
              <a:rPr dirty="0"/>
              <a:t>Capital</a:t>
            </a:r>
            <a:r>
              <a:rPr spc="-30" dirty="0"/>
              <a:t> </a:t>
            </a:r>
            <a:r>
              <a:rPr dirty="0"/>
              <a:t>Canada</a:t>
            </a:r>
            <a:r>
              <a:rPr spc="-3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6890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269" y="233248"/>
            <a:ext cx="27920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0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Hitachi</a:t>
            </a:r>
            <a:r>
              <a:rPr spc="-35" dirty="0"/>
              <a:t> </a:t>
            </a:r>
            <a:r>
              <a:rPr dirty="0"/>
              <a:t>Capital</a:t>
            </a:r>
            <a:r>
              <a:rPr spc="-30" dirty="0"/>
              <a:t> </a:t>
            </a:r>
            <a:r>
              <a:rPr dirty="0"/>
              <a:t>Canada</a:t>
            </a:r>
            <a:r>
              <a:rPr spc="-35" dirty="0"/>
              <a:t> </a:t>
            </a:r>
            <a:r>
              <a:rPr dirty="0"/>
              <a:t>Corp.</a:t>
            </a:r>
            <a:r>
              <a:rPr spc="-30" dirty="0"/>
              <a:t> </a:t>
            </a:r>
            <a:r>
              <a:rPr dirty="0"/>
              <a:t>2018.</a:t>
            </a:r>
            <a:r>
              <a:rPr spc="-35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rights</a:t>
            </a:r>
            <a:r>
              <a:rPr spc="-3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050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8" r:id="rId2"/>
    <p:sldLayoutId id="214748365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9" r:id="rId16"/>
    <p:sldLayoutId id="2147483690" r:id="rId17"/>
    <p:sldLayoutId id="2147483685" r:id="rId18"/>
    <p:sldLayoutId id="2147483691" r:id="rId19"/>
    <p:sldLayoutId id="2147483686" r:id="rId20"/>
    <p:sldLayoutId id="2147483687" r:id="rId21"/>
    <p:sldLayoutId id="2147483692" r:id="rId22"/>
    <p:sldLayoutId id="2147483693" r:id="rId23"/>
    <p:sldLayoutId id="2147483694" r:id="rId24"/>
    <p:sldLayoutId id="2147483695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DF4E-B6F0-F0A5-BE44-5E8C6BED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DED8D-B592-2384-9D30-364B245EB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220" y="2560025"/>
            <a:ext cx="7964911" cy="2137541"/>
          </a:xfrm>
        </p:spPr>
        <p:txBody>
          <a:bodyPr/>
          <a:lstStyle/>
          <a:p>
            <a:r>
              <a:rPr lang="en-CA" sz="4400" dirty="0"/>
              <a:t>How to master accounting and tax concepts to gain commercial advantage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86BBEB-FA1B-EC5A-3AEF-428703F25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523" y="5331133"/>
            <a:ext cx="4940559" cy="1439210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CA" dirty="0">
                <a:latin typeface="Arial"/>
                <a:cs typeface="Arial"/>
              </a:rPr>
              <a:t>Presented</a:t>
            </a:r>
            <a:r>
              <a:rPr lang="en-CA" spc="3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by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 err="1">
                <a:latin typeface="Arial"/>
                <a:cs typeface="Arial"/>
              </a:rPr>
              <a:t>Mikaël</a:t>
            </a:r>
            <a:r>
              <a:rPr lang="en-CA" spc="30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Langlois</a:t>
            </a:r>
            <a:endParaRPr lang="en-CA" dirty="0">
              <a:latin typeface="Arial"/>
              <a:cs typeface="Arial"/>
            </a:endParaRP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690425F-87D1-5658-06E9-31048B890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9803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7935-F70E-4C4A-3529-E978D540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D14E5-F05B-A2EA-C241-5801EF19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3146425" cy="1876169"/>
          </a:xfrm>
        </p:spPr>
        <p:txBody>
          <a:bodyPr/>
          <a:lstStyle/>
          <a:p>
            <a:r>
              <a:rPr lang="en-CA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95B17E3C-D72D-C863-9130-8DF9616CA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222" y="743209"/>
            <a:ext cx="8133693" cy="5205153"/>
          </a:xfrm>
        </p:spPr>
        <p:txBody>
          <a:bodyPr/>
          <a:lstStyle/>
          <a:p>
            <a:r>
              <a:rPr lang="en-CA" dirty="0"/>
              <a:t>Definition of accounting and taxation</a:t>
            </a:r>
          </a:p>
          <a:p>
            <a:r>
              <a:rPr lang="en-CA" dirty="0"/>
              <a:t>Historical reminder of accounting and taxation</a:t>
            </a:r>
          </a:p>
          <a:p>
            <a:r>
              <a:rPr lang="en-CA" dirty="0"/>
              <a:t>Differences between incorporation and business</a:t>
            </a:r>
          </a:p>
          <a:p>
            <a:r>
              <a:rPr lang="en-CA" dirty="0"/>
              <a:t>Accounting and tax treatment of our products</a:t>
            </a:r>
          </a:p>
          <a:p>
            <a:endParaRPr lang="en-CA" dirty="0"/>
          </a:p>
          <a:p>
            <a:r>
              <a:rPr lang="en-CA" dirty="0"/>
              <a:t>The general concepts to know for the tax report production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BEC68B8-7B5C-BC20-7A7F-8B1D10045ABF}"/>
              </a:ext>
            </a:extLst>
          </p:cNvPr>
          <p:cNvSpPr txBox="1"/>
          <p:nvPr/>
        </p:nvSpPr>
        <p:spPr>
          <a:xfrm>
            <a:off x="670691" y="6114791"/>
            <a:ext cx="10562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i="1" dirty="0">
                <a:latin typeface="Arial"/>
                <a:cs typeface="Arial"/>
              </a:rPr>
              <a:t>The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content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of</a:t>
            </a:r>
            <a:r>
              <a:rPr lang="en-CA" sz="1600" i="1" spc="50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this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presentation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is</a:t>
            </a:r>
            <a:r>
              <a:rPr lang="en-CA" sz="1600" i="1" spc="50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provided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for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informational</a:t>
            </a:r>
            <a:r>
              <a:rPr lang="en-CA" sz="1600" i="1" spc="50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purposes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only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and</a:t>
            </a:r>
            <a:r>
              <a:rPr lang="en-CA" sz="1600" i="1" spc="50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does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not</a:t>
            </a:r>
            <a:r>
              <a:rPr lang="en-CA" sz="1600" i="1" spc="50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substitute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for</a:t>
            </a:r>
            <a:r>
              <a:rPr lang="en-CA" sz="1600" i="1" spc="45" dirty="0">
                <a:latin typeface="Arial"/>
                <a:cs typeface="Arial"/>
              </a:rPr>
              <a:t> </a:t>
            </a:r>
            <a:r>
              <a:rPr lang="en-CA" sz="1600" i="1" dirty="0">
                <a:latin typeface="Arial"/>
                <a:cs typeface="Arial"/>
              </a:rPr>
              <a:t>legislative</a:t>
            </a:r>
            <a:r>
              <a:rPr lang="en-CA" sz="1600" i="1" spc="50" dirty="0">
                <a:latin typeface="Arial"/>
                <a:cs typeface="Arial"/>
              </a:rPr>
              <a:t> </a:t>
            </a:r>
            <a:r>
              <a:rPr lang="en-CA" sz="1600" i="1" spc="-10" dirty="0">
                <a:latin typeface="Arial"/>
                <a:cs typeface="Arial"/>
              </a:rPr>
              <a:t>texts.</a:t>
            </a:r>
            <a:endParaRPr lang="en-CA" sz="1600" dirty="0">
              <a:latin typeface="Arial"/>
              <a:cs typeface="Arial"/>
            </a:endParaRPr>
          </a:p>
          <a:p>
            <a:br>
              <a:rPr lang="fr-FR" sz="1600" dirty="0"/>
            </a:b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225973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CAF081B-1D14-B574-E519-CF9FB83E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3</a:t>
            </a:fld>
            <a:endParaRPr lang="en-US" sz="1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ADE14AD-E68A-466A-67D1-EF385BCC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Definitions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0120A40B-450E-AFD6-2799-4DDD1C6971D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356C1A-D969-AB88-C8D3-C822EA718BA7}"/>
              </a:ext>
            </a:extLst>
          </p:cNvPr>
          <p:cNvSpPr txBox="1"/>
          <p:nvPr/>
        </p:nvSpPr>
        <p:spPr>
          <a:xfrm>
            <a:off x="292100" y="1363717"/>
            <a:ext cx="88538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Accounting:</a:t>
            </a:r>
            <a:r>
              <a:rPr lang="en-CA" u="heavy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CA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lang="en-CA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CA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lang="en-CA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CA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</a:t>
            </a:r>
            <a:r>
              <a:rPr lang="en-CA" dirty="0">
                <a:latin typeface="Arial"/>
                <a:cs typeface="Arial"/>
              </a:rPr>
              <a:t>et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of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conventions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and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rules</a:t>
            </a:r>
            <a:r>
              <a:rPr lang="en-CA" spc="4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that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consist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of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collecting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and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compiling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data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related</a:t>
            </a:r>
            <a:r>
              <a:rPr lang="en-CA" spc="4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to</a:t>
            </a:r>
            <a:r>
              <a:rPr lang="en-CA" spc="35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financial </a:t>
            </a:r>
            <a:r>
              <a:rPr lang="en-CA" dirty="0">
                <a:latin typeface="Arial"/>
                <a:cs typeface="Arial"/>
              </a:rPr>
              <a:t>events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and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operations,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in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order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to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present,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in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monetary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unit,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the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financial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situation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and</a:t>
            </a:r>
            <a:r>
              <a:rPr lang="en-CA" spc="6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economic</a:t>
            </a:r>
            <a:r>
              <a:rPr lang="en-CA" spc="70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activities </a:t>
            </a:r>
            <a:r>
              <a:rPr lang="en-CA" dirty="0">
                <a:latin typeface="Arial"/>
                <a:cs typeface="Arial"/>
              </a:rPr>
              <a:t>of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entity,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allowing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users</a:t>
            </a:r>
            <a:r>
              <a:rPr lang="en-CA" spc="19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of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this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information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system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to</a:t>
            </a:r>
            <a:r>
              <a:rPr lang="en-CA" spc="19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compare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and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analyze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this</a:t>
            </a:r>
            <a:r>
              <a:rPr lang="en-CA" spc="18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accounting</a:t>
            </a:r>
            <a:r>
              <a:rPr lang="en-CA" spc="190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information </a:t>
            </a:r>
            <a:r>
              <a:rPr lang="en-CA" dirty="0">
                <a:latin typeface="Arial"/>
                <a:cs typeface="Arial"/>
              </a:rPr>
              <a:t>and</a:t>
            </a:r>
            <a:r>
              <a:rPr lang="en-CA" spc="-1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make</a:t>
            </a:r>
            <a:r>
              <a:rPr lang="en-CA" spc="-10" dirty="0">
                <a:latin typeface="Arial"/>
                <a:cs typeface="Arial"/>
              </a:rPr>
              <a:t> decisions.</a:t>
            </a:r>
            <a:endParaRPr lang="fr-FR" sz="1800" b="0" i="0" dirty="0">
              <a:solidFill>
                <a:srgbClr val="000000"/>
              </a:solidFill>
              <a:effectLst/>
              <a:latin typeface="ArialMT"/>
            </a:endParaRPr>
          </a:p>
          <a:p>
            <a:pPr>
              <a:buNone/>
            </a:pPr>
            <a:endParaRPr lang="fr-FR" dirty="0">
              <a:solidFill>
                <a:srgbClr val="000000"/>
              </a:solidFill>
              <a:latin typeface="ArialMT"/>
            </a:endParaRPr>
          </a:p>
          <a:p>
            <a:pPr>
              <a:buNone/>
            </a:pPr>
            <a:endParaRPr lang="fr-FR" sz="1800" b="0" i="0" dirty="0">
              <a:solidFill>
                <a:srgbClr val="000000"/>
              </a:solidFill>
              <a:effectLst/>
              <a:latin typeface="ArialMT"/>
            </a:endParaRPr>
          </a:p>
          <a:p>
            <a:r>
              <a:rPr lang="en-CA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Taxation</a:t>
            </a:r>
            <a:r>
              <a:rPr lang="en-CA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r>
              <a:rPr lang="en-CA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CA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lang="en-CA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CA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lang="en-CA" dirty="0">
                <a:latin typeface="Arial"/>
                <a:cs typeface="Arial"/>
              </a:rPr>
              <a:t>e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fact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that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public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administrations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subject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legal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or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natural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person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to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tax,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fee,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spc="-50" dirty="0">
                <a:latin typeface="Arial"/>
                <a:cs typeface="Arial"/>
              </a:rPr>
              <a:t>a </a:t>
            </a:r>
            <a:r>
              <a:rPr lang="en-CA" dirty="0">
                <a:latin typeface="Arial"/>
                <a:cs typeface="Arial"/>
              </a:rPr>
              <a:t>contribution,</a:t>
            </a:r>
            <a:r>
              <a:rPr lang="en-CA" spc="-1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or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even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a</a:t>
            </a:r>
            <a:r>
              <a:rPr lang="en-CA" spc="-10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social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dirty="0">
                <a:latin typeface="Arial"/>
                <a:cs typeface="Arial"/>
              </a:rPr>
              <a:t>security</a:t>
            </a:r>
            <a:r>
              <a:rPr lang="en-CA" spc="-5" dirty="0">
                <a:latin typeface="Arial"/>
                <a:cs typeface="Arial"/>
              </a:rPr>
              <a:t> </a:t>
            </a:r>
            <a:r>
              <a:rPr lang="en-CA" spc="-10" dirty="0">
                <a:latin typeface="Arial"/>
                <a:cs typeface="Arial"/>
              </a:rPr>
              <a:t>contribution.</a:t>
            </a:r>
            <a:endParaRPr lang="en-CA" dirty="0">
              <a:latin typeface="Arial"/>
              <a:cs typeface="Arial"/>
            </a:endParaRPr>
          </a:p>
          <a:p>
            <a:pPr>
              <a:buNone/>
            </a:pPr>
            <a:br>
              <a:rPr lang="fr-FR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519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344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20"/>
              </a:spcBef>
            </a:pPr>
            <a:r>
              <a:rPr sz="2500" b="1" dirty="0">
                <a:latin typeface="Arial"/>
                <a:cs typeface="Arial"/>
              </a:rPr>
              <a:t>Historical</a:t>
            </a:r>
            <a:r>
              <a:rPr sz="2500" b="1" spc="5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Reminder</a:t>
            </a:r>
            <a:endParaRPr sz="2500">
              <a:latin typeface="Arial"/>
              <a:cs typeface="Arial"/>
            </a:endParaRPr>
          </a:p>
        </p:txBody>
      </p:sp>
      <p:sp>
        <p:nvSpPr>
          <p:cNvPr id="20" name="Sous-titre 19">
            <a:extLst>
              <a:ext uri="{FF2B5EF4-FFF2-40B4-BE49-F238E27FC236}">
                <a16:creationId xmlns:a16="http://schemas.microsoft.com/office/drawing/2014/main" id="{B04B9C91-A820-2D0D-CE97-C5F5B79B6F7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3" name="object 3"/>
          <p:cNvGrpSpPr/>
          <p:nvPr/>
        </p:nvGrpSpPr>
        <p:grpSpPr>
          <a:xfrm>
            <a:off x="431037" y="3078226"/>
            <a:ext cx="11236960" cy="1597660"/>
            <a:chOff x="431037" y="3078226"/>
            <a:chExt cx="11236960" cy="1597660"/>
          </a:xfrm>
        </p:grpSpPr>
        <p:sp>
          <p:nvSpPr>
            <p:cNvPr id="4" name="object 4"/>
            <p:cNvSpPr/>
            <p:nvPr/>
          </p:nvSpPr>
          <p:spPr>
            <a:xfrm>
              <a:off x="437387" y="3287268"/>
              <a:ext cx="11224260" cy="1099185"/>
            </a:xfrm>
            <a:custGeom>
              <a:avLst/>
              <a:gdLst/>
              <a:ahLst/>
              <a:cxnLst/>
              <a:rect l="l" t="t" r="r" b="b"/>
              <a:pathLst>
                <a:path w="11224260" h="1099185">
                  <a:moveTo>
                    <a:pt x="10674858" y="0"/>
                  </a:moveTo>
                  <a:lnTo>
                    <a:pt x="10674858" y="274700"/>
                  </a:lnTo>
                  <a:lnTo>
                    <a:pt x="0" y="274700"/>
                  </a:lnTo>
                  <a:lnTo>
                    <a:pt x="0" y="824102"/>
                  </a:lnTo>
                  <a:lnTo>
                    <a:pt x="10674858" y="824102"/>
                  </a:lnTo>
                  <a:lnTo>
                    <a:pt x="10674858" y="1098804"/>
                  </a:lnTo>
                  <a:lnTo>
                    <a:pt x="11224133" y="549401"/>
                  </a:lnTo>
                  <a:lnTo>
                    <a:pt x="106748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387" y="3287268"/>
              <a:ext cx="11224260" cy="1099185"/>
            </a:xfrm>
            <a:custGeom>
              <a:avLst/>
              <a:gdLst/>
              <a:ahLst/>
              <a:cxnLst/>
              <a:rect l="l" t="t" r="r" b="b"/>
              <a:pathLst>
                <a:path w="11224260" h="1099185">
                  <a:moveTo>
                    <a:pt x="0" y="274700"/>
                  </a:moveTo>
                  <a:lnTo>
                    <a:pt x="10674858" y="274700"/>
                  </a:lnTo>
                  <a:lnTo>
                    <a:pt x="10674858" y="0"/>
                  </a:lnTo>
                  <a:lnTo>
                    <a:pt x="11224133" y="549401"/>
                  </a:lnTo>
                  <a:lnTo>
                    <a:pt x="10674858" y="1098804"/>
                  </a:lnTo>
                  <a:lnTo>
                    <a:pt x="10674858" y="824102"/>
                  </a:lnTo>
                  <a:lnTo>
                    <a:pt x="0" y="824102"/>
                  </a:lnTo>
                  <a:lnTo>
                    <a:pt x="0" y="27470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6289" y="3088386"/>
              <a:ext cx="0" cy="1537335"/>
            </a:xfrm>
            <a:custGeom>
              <a:avLst/>
              <a:gdLst/>
              <a:ahLst/>
              <a:cxnLst/>
              <a:rect l="l" t="t" r="r" b="b"/>
              <a:pathLst>
                <a:path h="1537335">
                  <a:moveTo>
                    <a:pt x="0" y="0"/>
                  </a:moveTo>
                  <a:lnTo>
                    <a:pt x="0" y="153720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809" y="3128010"/>
              <a:ext cx="0" cy="1537335"/>
            </a:xfrm>
            <a:custGeom>
              <a:avLst/>
              <a:gdLst/>
              <a:ahLst/>
              <a:cxnLst/>
              <a:rect l="l" t="t" r="r" b="b"/>
              <a:pathLst>
                <a:path h="1537335">
                  <a:moveTo>
                    <a:pt x="0" y="0"/>
                  </a:moveTo>
                  <a:lnTo>
                    <a:pt x="0" y="1537208"/>
                  </a:lnTo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8046" y="2706230"/>
            <a:ext cx="125095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10" dirty="0">
                <a:latin typeface="Arial"/>
                <a:cs typeface="Arial"/>
              </a:rPr>
              <a:t>ANTIQUITY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57386" y="4652898"/>
            <a:ext cx="1167130" cy="724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1962</a:t>
            </a:r>
            <a:endParaRPr sz="1800">
              <a:latin typeface="Arial"/>
              <a:cs typeface="Arial"/>
            </a:endParaRPr>
          </a:p>
          <a:p>
            <a:pPr marL="166370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Birth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latin typeface="Arial"/>
                <a:cs typeface="Arial"/>
              </a:rPr>
              <a:t>Daniel</a:t>
            </a:r>
            <a:r>
              <a:rPr sz="1350" spc="5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Vachon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1982" y="2567685"/>
            <a:ext cx="2226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2387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CONVERSATIO </a:t>
            </a:r>
            <a:r>
              <a:rPr sz="1800" b="1" dirty="0">
                <a:latin typeface="Arial"/>
                <a:cs typeface="Arial"/>
              </a:rPr>
              <a:t>NAL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LETTERING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39" y="4652898"/>
            <a:ext cx="174498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3000 </a:t>
            </a:r>
            <a:r>
              <a:rPr sz="1800" b="1" spc="-25" dirty="0">
                <a:latin typeface="Arial"/>
                <a:cs typeface="Arial"/>
              </a:rPr>
              <a:t>BC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1530"/>
              </a:lnSpc>
              <a:spcBef>
                <a:spcPts val="150"/>
              </a:spcBef>
            </a:pPr>
            <a:r>
              <a:rPr sz="1350" dirty="0">
                <a:latin typeface="Arial"/>
                <a:cs typeface="Arial"/>
              </a:rPr>
              <a:t>And</a:t>
            </a:r>
            <a:r>
              <a:rPr sz="1350" spc="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no,</a:t>
            </a:r>
            <a:r>
              <a:rPr sz="1350" spc="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I'm</a:t>
            </a:r>
            <a:r>
              <a:rPr sz="1350" spc="2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not</a:t>
            </a:r>
            <a:r>
              <a:rPr sz="1350" spc="2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talking </a:t>
            </a:r>
            <a:r>
              <a:rPr sz="1350" dirty="0">
                <a:latin typeface="Arial"/>
                <a:cs typeface="Arial"/>
              </a:rPr>
              <a:t>about</a:t>
            </a:r>
            <a:r>
              <a:rPr sz="1350" spc="7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Josée-</a:t>
            </a:r>
            <a:r>
              <a:rPr sz="1350" spc="-10" dirty="0">
                <a:latin typeface="Arial"/>
                <a:cs typeface="Arial"/>
              </a:rPr>
              <a:t>CLOSE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46932" y="3104388"/>
            <a:ext cx="2613660" cy="1554480"/>
            <a:chOff x="3646932" y="3104388"/>
            <a:chExt cx="2613660" cy="155448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2304" y="3104388"/>
              <a:ext cx="18287" cy="15544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6932" y="3104388"/>
              <a:ext cx="18287" cy="155448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64607" y="2716898"/>
            <a:ext cx="204787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latin typeface="Arial"/>
                <a:cs typeface="Arial"/>
              </a:rPr>
              <a:t>NOTION</a:t>
            </a:r>
            <a:r>
              <a:rPr sz="1450" b="1" spc="85" dirty="0">
                <a:latin typeface="Arial"/>
                <a:cs typeface="Arial"/>
              </a:rPr>
              <a:t> </a:t>
            </a:r>
            <a:r>
              <a:rPr sz="1450" b="1" dirty="0">
                <a:latin typeface="Arial"/>
                <a:cs typeface="Arial"/>
              </a:rPr>
              <a:t>OF</a:t>
            </a:r>
            <a:r>
              <a:rPr sz="1450" b="1" spc="85" dirty="0">
                <a:latin typeface="Arial"/>
                <a:cs typeface="Arial"/>
              </a:rPr>
              <a:t> </a:t>
            </a:r>
            <a:r>
              <a:rPr sz="1450" b="1" spc="-10" dirty="0">
                <a:latin typeface="Arial"/>
                <a:cs typeface="Arial"/>
              </a:rPr>
              <a:t>BALANCE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65419" y="4689970"/>
            <a:ext cx="121856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Arial"/>
                <a:cs typeface="Arial"/>
              </a:rPr>
              <a:t>16th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century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2501" y="4652898"/>
            <a:ext cx="2340610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1494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Arial"/>
                <a:cs typeface="Arial"/>
              </a:rPr>
              <a:t>Published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Luca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Pacioli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12745" y="2574416"/>
            <a:ext cx="1329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1ST </a:t>
            </a:r>
            <a:r>
              <a:rPr sz="1800" b="1" spc="-25" dirty="0">
                <a:latin typeface="Arial"/>
                <a:cs typeface="Arial"/>
              </a:rPr>
              <a:t>CTB</a:t>
            </a:r>
            <a:endParaRPr sz="1800">
              <a:latin typeface="Arial"/>
              <a:cs typeface="Arial"/>
            </a:endParaRPr>
          </a:p>
          <a:p>
            <a:pPr marL="32639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MANUAL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different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accounting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systems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known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over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time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0402" y="791083"/>
            <a:ext cx="1011936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organization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has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known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6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systems</a:t>
            </a: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  <a:tab pos="2546350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Italian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accounting: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 dirty="0">
              <a:latin typeface="Arial"/>
              <a:cs typeface="Arial"/>
            </a:endParaRPr>
          </a:p>
          <a:p>
            <a:pPr marL="580390" marR="5080" lvl="1" indent="-111125">
              <a:lnSpc>
                <a:spcPct val="100000"/>
              </a:lnSpc>
              <a:spcBef>
                <a:spcPts val="5"/>
              </a:spcBef>
              <a:buChar char="•"/>
              <a:tabLst>
                <a:tab pos="812165" algn="l"/>
              </a:tabLst>
            </a:pPr>
            <a:r>
              <a:rPr sz="1400" dirty="0">
                <a:latin typeface="Arial"/>
                <a:cs typeface="Arial"/>
              </a:rPr>
              <a:t>Luca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Pacioli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MS PGothic"/>
                <a:cs typeface="MS PGothic"/>
              </a:rPr>
              <a:t>"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Father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dirty="0">
                <a:latin typeface="MS PGothic"/>
                <a:cs typeface="MS PGothic"/>
              </a:rPr>
              <a:t>"</a:t>
            </a:r>
            <a:r>
              <a:rPr sz="1400" spc="-55" dirty="0">
                <a:latin typeface="MS PGothic"/>
                <a:cs typeface="MS PGothic"/>
              </a:rPr>
              <a:t> </a:t>
            </a:r>
            <a:r>
              <a:rPr sz="1400" dirty="0">
                <a:latin typeface="Arial"/>
                <a:cs typeface="Arial"/>
              </a:rPr>
              <a:t>introduced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double-entry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greatest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concepts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ledger,</a:t>
            </a:r>
            <a:r>
              <a:rPr sz="1400" spc="-10" dirty="0">
                <a:latin typeface="Arial"/>
                <a:cs typeface="Arial"/>
              </a:rPr>
              <a:t> journal 	</a:t>
            </a:r>
            <a:r>
              <a:rPr sz="1400" dirty="0">
                <a:latin typeface="Arial"/>
                <a:cs typeface="Arial"/>
              </a:rPr>
              <a:t>entries,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balance, profits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 </a:t>
            </a:r>
            <a:r>
              <a:rPr sz="1400" spc="-10" dirty="0">
                <a:latin typeface="Arial"/>
                <a:cs typeface="Arial"/>
              </a:rPr>
              <a:t>losses.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0402" y="1919097"/>
            <a:ext cx="1746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Arial"/>
                <a:cs typeface="Arial"/>
              </a:rPr>
              <a:t>2.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302" y="1919935"/>
            <a:ext cx="10222230" cy="879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300" u="sng" spc="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American</a:t>
            </a:r>
            <a:r>
              <a:rPr sz="1300" u="sng" spc="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journal:</a:t>
            </a:r>
            <a:endParaRPr sz="1300" dirty="0">
              <a:latin typeface="Arial"/>
              <a:cs typeface="Arial"/>
            </a:endParaRPr>
          </a:p>
          <a:p>
            <a:pPr marL="237490" marR="5080" indent="-111125">
              <a:lnSpc>
                <a:spcPct val="100000"/>
              </a:lnSpc>
              <a:spcBef>
                <a:spcPts val="85"/>
              </a:spcBef>
              <a:buChar char="•"/>
              <a:tabLst>
                <a:tab pos="469265" algn="l"/>
              </a:tabLst>
            </a:pPr>
            <a:r>
              <a:rPr sz="1400" dirty="0">
                <a:latin typeface="Arial"/>
                <a:cs typeface="Arial"/>
              </a:rPr>
              <a:t>This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journal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contained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significant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number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(about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dozen)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debit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credit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columns.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Due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very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practical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usage 	</a:t>
            </a:r>
            <a:r>
              <a:rPr sz="1400" dirty="0">
                <a:latin typeface="Arial"/>
                <a:cs typeface="Arial"/>
              </a:rPr>
              <a:t>technique,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journal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found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place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management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small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businesses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such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small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artisanal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enterprises.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type 	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often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handled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students.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402" y="2842134"/>
            <a:ext cx="10654030" cy="3714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354965" algn="l"/>
                <a:tab pos="3904615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stencil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OBBO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system: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 dirty="0">
              <a:latin typeface="Arial"/>
              <a:cs typeface="Arial"/>
            </a:endParaRPr>
          </a:p>
          <a:p>
            <a:pPr marL="580390" marR="5080" lvl="1" indent="-111125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system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provided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documents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entries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through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single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operation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superimposing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documents,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journals, 	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accounts.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stencil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recording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normally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allowed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avoiding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carryovers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errors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could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arise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0" dirty="0">
                <a:latin typeface="Arial"/>
                <a:cs typeface="Arial"/>
              </a:rPr>
              <a:t> them.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Font typeface="Arial"/>
              <a:buChar char="•"/>
            </a:pPr>
            <a:endParaRPr sz="1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54965" algn="l"/>
                <a:tab pos="6743700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Mechanical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front-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loading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machines: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 dirty="0">
              <a:latin typeface="Arial"/>
              <a:cs typeface="Arial"/>
            </a:endParaRPr>
          </a:p>
          <a:p>
            <a:pPr marL="580390" marR="192405" lvl="1" indent="-111125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1400" dirty="0">
                <a:latin typeface="Arial"/>
                <a:cs typeface="Arial"/>
              </a:rPr>
              <a:t>They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designed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print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both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journals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individual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various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auxiliary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accounts.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processing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of 	</a:t>
            </a:r>
            <a:r>
              <a:rPr sz="1400" dirty="0">
                <a:latin typeface="Arial"/>
                <a:cs typeface="Arial"/>
              </a:rPr>
              <a:t>general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large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companies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therefore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exclusively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reserved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front-</a:t>
            </a:r>
            <a:r>
              <a:rPr sz="1400" dirty="0">
                <a:latin typeface="Arial"/>
                <a:cs typeface="Arial"/>
              </a:rPr>
              <a:t>loading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machines.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20"/>
              </a:spcBef>
              <a:buFont typeface="Arial"/>
              <a:buChar char="•"/>
            </a:pPr>
            <a:endParaRPr sz="1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AutoNum type="arabicPeriod" startAt="3"/>
              <a:tabLst>
                <a:tab pos="354965" algn="l"/>
                <a:tab pos="2624455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Computerized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accounting: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 dirty="0">
              <a:latin typeface="Arial"/>
              <a:cs typeface="Arial"/>
            </a:endParaRPr>
          </a:p>
          <a:p>
            <a:pPr marL="580390" marR="242570" lvl="1" indent="-111125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1400" dirty="0">
                <a:latin typeface="Arial"/>
                <a:cs typeface="Arial"/>
              </a:rPr>
              <a:t>In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1964,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IBM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launched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France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generation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computers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360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series.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allowed,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among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other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things,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have 	</a:t>
            </a:r>
            <a:r>
              <a:rPr sz="1400" dirty="0">
                <a:latin typeface="Arial"/>
                <a:cs typeface="Arial"/>
              </a:rPr>
              <a:t>account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extracts,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previous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balances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amounts,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movements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cash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flow,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balances.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1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54965" algn="l"/>
                <a:tab pos="5175250" algn="l"/>
              </a:tabLst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Conversational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accounting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through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computer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lettering: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400" dirty="0">
              <a:latin typeface="Arial"/>
              <a:cs typeface="Arial"/>
            </a:endParaRPr>
          </a:p>
          <a:p>
            <a:pPr marL="580390" marR="114935" lvl="1" indent="-111125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1400" dirty="0">
                <a:latin typeface="Arial"/>
                <a:cs typeface="Arial"/>
              </a:rPr>
              <a:t>Gilbert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Bitsch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invented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conversational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lettering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qualifying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entries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general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performed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dirty="0">
                <a:latin typeface="Arial"/>
                <a:cs typeface="Arial"/>
              </a:rPr>
              <a:t>first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positioning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details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third-party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account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balances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computer.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6183" y="1093978"/>
            <a:ext cx="10570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accounting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taxation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extremely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vast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themes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quite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complex,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decided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focus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analysis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3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axes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directly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related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our</a:t>
            </a:r>
            <a:r>
              <a:rPr sz="1800" b="1" spc="-10" dirty="0">
                <a:latin typeface="Arial"/>
                <a:cs typeface="Arial"/>
              </a:rPr>
              <a:t> reality: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784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Presentation</a:t>
            </a:r>
            <a:r>
              <a:rPr b="1" spc="-17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plan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B9AC56BC-BFBC-37E3-8170-7C14DB91790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873658" y="2740278"/>
            <a:ext cx="921258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6700" algn="l"/>
              </a:tabLst>
            </a:pPr>
            <a:r>
              <a:rPr sz="1800" dirty="0">
                <a:latin typeface="Arial"/>
                <a:cs typeface="Arial"/>
              </a:rPr>
              <a:t>Incorporation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sole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proprietorship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major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differences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treatment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our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various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products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concepts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know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reports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6071" y="5495671"/>
            <a:ext cx="9782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‘’Life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is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like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accounting,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even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if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it’s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hard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to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be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balanced,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we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still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try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to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make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it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balanced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spc="-25" dirty="0">
                <a:latin typeface="Arial"/>
                <a:cs typeface="Arial"/>
              </a:rPr>
              <a:t>no</a:t>
            </a:r>
            <a:endParaRPr sz="1800">
              <a:latin typeface="Arial"/>
              <a:cs typeface="Arial"/>
            </a:endParaRPr>
          </a:p>
          <a:p>
            <a:pPr marL="1513205" algn="ctr">
              <a:lnSpc>
                <a:spcPct val="100000"/>
              </a:lnSpc>
            </a:pPr>
            <a:r>
              <a:rPr sz="1800" b="1" i="1" dirty="0">
                <a:latin typeface="Arial"/>
                <a:cs typeface="Arial"/>
              </a:rPr>
              <a:t>matter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what.‘’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518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INCORPORATION: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Some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advantages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and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disadvantages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Sous-titre 25">
            <a:extLst>
              <a:ext uri="{FF2B5EF4-FFF2-40B4-BE49-F238E27FC236}">
                <a16:creationId xmlns:a16="http://schemas.microsoft.com/office/drawing/2014/main" id="{436D6A17-79CB-C9A3-7E76-14E8AE66C68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3" name="object 3"/>
          <p:cNvGrpSpPr/>
          <p:nvPr/>
        </p:nvGrpSpPr>
        <p:grpSpPr>
          <a:xfrm>
            <a:off x="1213611" y="1466469"/>
            <a:ext cx="9765030" cy="5002530"/>
            <a:chOff x="1213611" y="1466469"/>
            <a:chExt cx="9765030" cy="5002530"/>
          </a:xfrm>
        </p:grpSpPr>
        <p:sp>
          <p:nvSpPr>
            <p:cNvPr id="4" name="object 4"/>
            <p:cNvSpPr/>
            <p:nvPr/>
          </p:nvSpPr>
          <p:spPr>
            <a:xfrm>
              <a:off x="1213612" y="1466468"/>
              <a:ext cx="9765030" cy="336550"/>
            </a:xfrm>
            <a:custGeom>
              <a:avLst/>
              <a:gdLst/>
              <a:ahLst/>
              <a:cxnLst/>
              <a:rect l="l" t="t" r="r" b="b"/>
              <a:pathLst>
                <a:path w="9765030" h="336550">
                  <a:moveTo>
                    <a:pt x="9764776" y="0"/>
                  </a:moveTo>
                  <a:lnTo>
                    <a:pt x="4885944" y="0"/>
                  </a:lnTo>
                  <a:lnTo>
                    <a:pt x="791337" y="0"/>
                  </a:lnTo>
                  <a:lnTo>
                    <a:pt x="0" y="0"/>
                  </a:lnTo>
                  <a:lnTo>
                    <a:pt x="0" y="336042"/>
                  </a:lnTo>
                  <a:lnTo>
                    <a:pt x="791337" y="336042"/>
                  </a:lnTo>
                  <a:lnTo>
                    <a:pt x="4885944" y="336042"/>
                  </a:lnTo>
                  <a:lnTo>
                    <a:pt x="9764776" y="336042"/>
                  </a:lnTo>
                  <a:lnTo>
                    <a:pt x="9764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3612" y="1802383"/>
              <a:ext cx="9765030" cy="653415"/>
            </a:xfrm>
            <a:custGeom>
              <a:avLst/>
              <a:gdLst/>
              <a:ahLst/>
              <a:cxnLst/>
              <a:rect l="l" t="t" r="r" b="b"/>
              <a:pathLst>
                <a:path w="9765030" h="653414">
                  <a:moveTo>
                    <a:pt x="9764776" y="0"/>
                  </a:moveTo>
                  <a:lnTo>
                    <a:pt x="4885944" y="0"/>
                  </a:lnTo>
                  <a:lnTo>
                    <a:pt x="791337" y="0"/>
                  </a:lnTo>
                  <a:lnTo>
                    <a:pt x="0" y="0"/>
                  </a:lnTo>
                  <a:lnTo>
                    <a:pt x="0" y="653034"/>
                  </a:lnTo>
                  <a:lnTo>
                    <a:pt x="791337" y="653034"/>
                  </a:lnTo>
                  <a:lnTo>
                    <a:pt x="4885944" y="653034"/>
                  </a:lnTo>
                  <a:lnTo>
                    <a:pt x="9764776" y="653034"/>
                  </a:lnTo>
                  <a:lnTo>
                    <a:pt x="976477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3612" y="2455417"/>
              <a:ext cx="9765030" cy="1092835"/>
            </a:xfrm>
            <a:custGeom>
              <a:avLst/>
              <a:gdLst/>
              <a:ahLst/>
              <a:cxnLst/>
              <a:rect l="l" t="t" r="r" b="b"/>
              <a:pathLst>
                <a:path w="9765030" h="1092835">
                  <a:moveTo>
                    <a:pt x="9764776" y="0"/>
                  </a:moveTo>
                  <a:lnTo>
                    <a:pt x="4885944" y="0"/>
                  </a:lnTo>
                  <a:lnTo>
                    <a:pt x="791337" y="0"/>
                  </a:lnTo>
                  <a:lnTo>
                    <a:pt x="0" y="0"/>
                  </a:lnTo>
                  <a:lnTo>
                    <a:pt x="0" y="1092339"/>
                  </a:lnTo>
                  <a:lnTo>
                    <a:pt x="791337" y="1092339"/>
                  </a:lnTo>
                  <a:lnTo>
                    <a:pt x="4885944" y="1092339"/>
                  </a:lnTo>
                  <a:lnTo>
                    <a:pt x="9764776" y="1092339"/>
                  </a:lnTo>
                  <a:lnTo>
                    <a:pt x="976477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3612" y="3547744"/>
              <a:ext cx="9765030" cy="1547495"/>
            </a:xfrm>
            <a:custGeom>
              <a:avLst/>
              <a:gdLst/>
              <a:ahLst/>
              <a:cxnLst/>
              <a:rect l="l" t="t" r="r" b="b"/>
              <a:pathLst>
                <a:path w="9765030" h="1547495">
                  <a:moveTo>
                    <a:pt x="9764776" y="0"/>
                  </a:moveTo>
                  <a:lnTo>
                    <a:pt x="4885944" y="0"/>
                  </a:lnTo>
                  <a:lnTo>
                    <a:pt x="791337" y="0"/>
                  </a:lnTo>
                  <a:lnTo>
                    <a:pt x="0" y="0"/>
                  </a:lnTo>
                  <a:lnTo>
                    <a:pt x="0" y="1547114"/>
                  </a:lnTo>
                  <a:lnTo>
                    <a:pt x="791337" y="1547114"/>
                  </a:lnTo>
                  <a:lnTo>
                    <a:pt x="4885944" y="1547114"/>
                  </a:lnTo>
                  <a:lnTo>
                    <a:pt x="9764776" y="1547114"/>
                  </a:lnTo>
                  <a:lnTo>
                    <a:pt x="976477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3612" y="5094973"/>
              <a:ext cx="9765030" cy="762000"/>
            </a:xfrm>
            <a:custGeom>
              <a:avLst/>
              <a:gdLst/>
              <a:ahLst/>
              <a:cxnLst/>
              <a:rect l="l" t="t" r="r" b="b"/>
              <a:pathLst>
                <a:path w="9765030" h="762000">
                  <a:moveTo>
                    <a:pt x="9764776" y="0"/>
                  </a:moveTo>
                  <a:lnTo>
                    <a:pt x="4885944" y="0"/>
                  </a:lnTo>
                  <a:lnTo>
                    <a:pt x="791337" y="0"/>
                  </a:lnTo>
                  <a:lnTo>
                    <a:pt x="0" y="0"/>
                  </a:lnTo>
                  <a:lnTo>
                    <a:pt x="0" y="761873"/>
                  </a:lnTo>
                  <a:lnTo>
                    <a:pt x="791337" y="761873"/>
                  </a:lnTo>
                  <a:lnTo>
                    <a:pt x="4885944" y="761873"/>
                  </a:lnTo>
                  <a:lnTo>
                    <a:pt x="9764776" y="761873"/>
                  </a:lnTo>
                  <a:lnTo>
                    <a:pt x="976477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13612" y="5856871"/>
              <a:ext cx="9765030" cy="612140"/>
            </a:xfrm>
            <a:custGeom>
              <a:avLst/>
              <a:gdLst/>
              <a:ahLst/>
              <a:cxnLst/>
              <a:rect l="l" t="t" r="r" b="b"/>
              <a:pathLst>
                <a:path w="9765030" h="612139">
                  <a:moveTo>
                    <a:pt x="9764776" y="0"/>
                  </a:moveTo>
                  <a:lnTo>
                    <a:pt x="4885944" y="0"/>
                  </a:lnTo>
                  <a:lnTo>
                    <a:pt x="791337" y="0"/>
                  </a:lnTo>
                  <a:lnTo>
                    <a:pt x="0" y="0"/>
                  </a:lnTo>
                  <a:lnTo>
                    <a:pt x="0" y="611632"/>
                  </a:lnTo>
                  <a:lnTo>
                    <a:pt x="791337" y="611632"/>
                  </a:lnTo>
                  <a:lnTo>
                    <a:pt x="4885944" y="611632"/>
                  </a:lnTo>
                  <a:lnTo>
                    <a:pt x="9764776" y="611632"/>
                  </a:lnTo>
                  <a:lnTo>
                    <a:pt x="976477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30015" y="1495171"/>
            <a:ext cx="32575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ADVANTAGES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DISADVANTAGES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8285" y="1831339"/>
            <a:ext cx="1816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latin typeface="Arial"/>
                <a:cs typeface="Arial"/>
              </a:rPr>
              <a:t>#1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0166" y="1831339"/>
            <a:ext cx="380174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525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tax advantage: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Indeed, 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first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$500,000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business,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tax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19%.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2331" y="1831339"/>
            <a:ext cx="451485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Incorporation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fees: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legal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accounting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fees.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addition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one-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incorporation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fees,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annual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preparation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reports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documents.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8285" y="2484501"/>
            <a:ext cx="1816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latin typeface="Arial"/>
                <a:cs typeface="Arial"/>
              </a:rPr>
              <a:t>#2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7615" y="2484501"/>
            <a:ext cx="3750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Capital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injection: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investor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put </a:t>
            </a:r>
            <a:r>
              <a:rPr sz="1100" dirty="0">
                <a:latin typeface="Arial"/>
                <a:cs typeface="Arial"/>
              </a:rPr>
              <a:t>money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because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believe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money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business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personal </a:t>
            </a:r>
            <a:r>
              <a:rPr sz="1100" dirty="0">
                <a:latin typeface="Arial"/>
                <a:cs typeface="Arial"/>
              </a:rPr>
              <a:t>debts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individual.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7899" y="2484501"/>
            <a:ext cx="46621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38735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Government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control: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documents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reports.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allow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governments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exercise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control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oversight </a:t>
            </a:r>
            <a:r>
              <a:rPr sz="1100" dirty="0">
                <a:latin typeface="Arial"/>
                <a:cs typeface="Arial"/>
              </a:rPr>
              <a:t>over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companies.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Furthermore,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it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scrutinized...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8285" y="3576954"/>
            <a:ext cx="1816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latin typeface="Arial"/>
                <a:cs typeface="Arial"/>
              </a:rPr>
              <a:t>#3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07869" y="3576954"/>
            <a:ext cx="385191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Borrowing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power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incorporated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businesses: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corporation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own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assets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liabilities,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therefore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own </a:t>
            </a:r>
            <a:r>
              <a:rPr sz="1100" dirty="0">
                <a:latin typeface="Arial"/>
                <a:cs typeface="Arial"/>
              </a:rPr>
              <a:t>value.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easier, 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difficult, 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 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borrow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individual,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because,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among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things,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personal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debts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shareholders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debts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corporation.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estates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separate.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9967" y="3576954"/>
            <a:ext cx="4459605" cy="1200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Arial"/>
                <a:cs typeface="Arial"/>
              </a:rPr>
              <a:t>Capital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tax,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FSS,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Act: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provincial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government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levies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 </a:t>
            </a:r>
            <a:r>
              <a:rPr sz="1100" dirty="0">
                <a:latin typeface="Arial"/>
                <a:cs typeface="Arial"/>
              </a:rPr>
              <a:t>annual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tax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assets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10" dirty="0">
                <a:latin typeface="Arial"/>
                <a:cs typeface="Arial"/>
              </a:rPr>
              <a:t> varies </a:t>
            </a:r>
            <a:r>
              <a:rPr sz="1100" dirty="0">
                <a:latin typeface="Arial"/>
                <a:cs typeface="Arial"/>
              </a:rPr>
              <a:t>according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activities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concerned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business.</a:t>
            </a:r>
            <a:r>
              <a:rPr sz="1100" spc="-10" dirty="0">
                <a:latin typeface="Arial"/>
                <a:cs typeface="Arial"/>
              </a:rPr>
              <a:t> Additionally, </a:t>
            </a:r>
            <a:r>
              <a:rPr sz="1100" dirty="0">
                <a:latin typeface="Arial"/>
                <a:cs typeface="Arial"/>
              </a:rPr>
              <a:t>contributions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Health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Service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required,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can </a:t>
            </a:r>
            <a:r>
              <a:rPr sz="1100" dirty="0">
                <a:latin typeface="Arial"/>
                <a:cs typeface="Arial"/>
              </a:rPr>
              <a:t>represent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significant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amount.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Moreover,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payroll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exceeds </a:t>
            </a:r>
            <a:r>
              <a:rPr sz="1100" spc="-10" dirty="0">
                <a:latin typeface="Arial"/>
                <a:cs typeface="Arial"/>
              </a:rPr>
              <a:t>$250, </a:t>
            </a:r>
            <a:r>
              <a:rPr sz="1100" dirty="0">
                <a:latin typeface="Arial"/>
                <a:cs typeface="Arial"/>
              </a:rPr>
              <a:t>000.00,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company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allocate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1%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payroll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under </a:t>
            </a:r>
            <a:r>
              <a:rPr sz="1100" dirty="0">
                <a:latin typeface="Arial"/>
                <a:cs typeface="Arial"/>
              </a:rPr>
              <a:t>certain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18285" y="5124450"/>
            <a:ext cx="1816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Arial"/>
                <a:cs typeface="Arial"/>
              </a:rPr>
              <a:t>#4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8083" y="5124450"/>
            <a:ext cx="3891279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Guarantees: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entirety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0" dirty="0">
                <a:latin typeface="Arial"/>
                <a:cs typeface="Arial"/>
              </a:rPr>
              <a:t> assets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collateral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 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loan, whereas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 </a:t>
            </a:r>
            <a:r>
              <a:rPr sz="1100" spc="-10" dirty="0">
                <a:latin typeface="Arial"/>
                <a:cs typeface="Arial"/>
              </a:rPr>
              <a:t>individual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company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difficultly.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99670" y="5124450"/>
            <a:ext cx="467804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429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Business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secrets: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Generally,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corporation,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MS PGothic"/>
                <a:cs typeface="MS PGothic"/>
              </a:rPr>
              <a:t>"</a:t>
            </a:r>
            <a:r>
              <a:rPr sz="1100" dirty="0">
                <a:latin typeface="Arial"/>
                <a:cs typeface="Arial"/>
              </a:rPr>
              <a:t>big</a:t>
            </a:r>
            <a:r>
              <a:rPr sz="1100" spc="-10" dirty="0">
                <a:latin typeface="Arial"/>
                <a:cs typeface="Arial"/>
              </a:rPr>
              <a:t> secrets</a:t>
            </a:r>
            <a:r>
              <a:rPr sz="1100" spc="-10" dirty="0">
                <a:latin typeface="MS PGothic"/>
                <a:cs typeface="MS PGothic"/>
              </a:rPr>
              <a:t>"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shared.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people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aware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10" dirty="0">
                <a:latin typeface="Arial"/>
                <a:cs typeface="Arial"/>
              </a:rPr>
              <a:t> so-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MS PGothic"/>
                <a:cs typeface="MS PGothic"/>
              </a:rPr>
              <a:t>" </a:t>
            </a:r>
            <a:r>
              <a:rPr sz="1100" dirty="0">
                <a:latin typeface="Arial"/>
                <a:cs typeface="Arial"/>
              </a:rPr>
              <a:t>big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secrets,</a:t>
            </a:r>
            <a:r>
              <a:rPr sz="1100" dirty="0">
                <a:latin typeface="MS PGothic"/>
                <a:cs typeface="MS PGothic"/>
              </a:rPr>
              <a:t>"</a:t>
            </a:r>
            <a:r>
              <a:rPr sz="1100" spc="-40" dirty="0">
                <a:latin typeface="MS PGothic"/>
                <a:cs typeface="MS PGothic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revealed.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18285" y="5886399"/>
            <a:ext cx="1816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Arial"/>
                <a:cs typeface="Arial"/>
              </a:rPr>
              <a:t>#5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60270" y="5886399"/>
            <a:ext cx="36264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830" marR="5080" indent="-40576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Subsidies: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government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subsidies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offered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incorporated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businesses.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57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Incorporation VS </a:t>
            </a:r>
            <a:r>
              <a:rPr sz="2400" b="1" spc="-10" dirty="0">
                <a:latin typeface="Arial"/>
                <a:cs typeface="Arial"/>
              </a:rPr>
              <a:t>Registration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A767D3DD-8D07-B680-18B3-BA470DB4C31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32000" y="2182114"/>
          <a:ext cx="8128634" cy="3036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0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7410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FACTORS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7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INCORPORATION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REGISTRATION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962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SalaryCos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30607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Dividends|Salary+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63754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profits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+|-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423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tWealth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1000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62738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$40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Common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126364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$Distinct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10369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Entity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00" marR="772795" indent="-41338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Distinct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legal entity*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800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Net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Tax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Rate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50" b="1" dirty="0">
                          <a:latin typeface="Arial"/>
                          <a:cs typeface="Arial"/>
                        </a:rPr>
                        <a:t>19%</a:t>
                      </a:r>
                      <a:r>
                        <a:rPr sz="165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dirty="0">
                          <a:latin typeface="Arial"/>
                          <a:cs typeface="Arial"/>
                        </a:rPr>
                        <a:t>($500,000</a:t>
                      </a:r>
                      <a:r>
                        <a:rPr sz="1650" b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50" b="1" spc="-20" dirty="0">
                          <a:latin typeface="Arial"/>
                          <a:cs typeface="Arial"/>
                        </a:rPr>
                        <a:t>EBIT)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45110" marR="15748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37% ($50,000 salary)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*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Combined</a:t>
                      </a:r>
                      <a:r>
                        <a:rPr sz="18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marginal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rate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5596" y="5646521"/>
            <a:ext cx="88798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*The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creditor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cannot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pursue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you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personally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IF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you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have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not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personally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guaranteed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loan.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3785" y="1489456"/>
            <a:ext cx="2230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1678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Summary</a:t>
            </a:r>
            <a:r>
              <a:rPr sz="18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Table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741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Myths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Sous-titre 20">
            <a:extLst>
              <a:ext uri="{FF2B5EF4-FFF2-40B4-BE49-F238E27FC236}">
                <a16:creationId xmlns:a16="http://schemas.microsoft.com/office/drawing/2014/main" id="{673B86D6-FA3C-965C-9BCE-155199ED413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9" name="object 19"/>
          <p:cNvSpPr txBox="1"/>
          <p:nvPr/>
        </p:nvSpPr>
        <p:spPr>
          <a:xfrm>
            <a:off x="709266" y="1257520"/>
            <a:ext cx="990282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053080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BEWARE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MYTHS</a:t>
            </a:r>
            <a:r>
              <a:rPr sz="1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!!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55575" marR="728980" indent="-143510">
              <a:lnSpc>
                <a:spcPct val="100000"/>
              </a:lnSpc>
              <a:buChar char="▪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M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YTH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#1: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sz="1800" u="none" dirty="0">
                <a:latin typeface="Arial"/>
                <a:cs typeface="Arial"/>
              </a:rPr>
              <a:t>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corporate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tax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rate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lower,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so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it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automatically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more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advantageous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to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spc="-25" dirty="0">
                <a:latin typeface="Arial"/>
                <a:cs typeface="Arial"/>
              </a:rPr>
              <a:t>be 	</a:t>
            </a:r>
            <a:r>
              <a:rPr sz="1800" u="none" spc="-10" dirty="0">
                <a:latin typeface="Arial"/>
                <a:cs typeface="Arial"/>
              </a:rPr>
              <a:t>incorporated!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▪"/>
            </a:pPr>
            <a:endParaRPr sz="18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It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understood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cash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generated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business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taxed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second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when </a:t>
            </a:r>
            <a:r>
              <a:rPr sz="1800" dirty="0">
                <a:latin typeface="Arial"/>
                <a:cs typeface="Arial"/>
              </a:rPr>
              <a:t>withdrawn/transferred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5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shareholder.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combined</a:t>
            </a:r>
            <a:r>
              <a:rPr sz="1800" spc="15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15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company</a:t>
            </a:r>
            <a:r>
              <a:rPr sz="1800" spc="1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150" dirty="0">
                <a:latin typeface="Arial"/>
                <a:cs typeface="Arial"/>
              </a:rPr>
              <a:t> 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shareholder</a:t>
            </a:r>
            <a:r>
              <a:rPr sz="1800" spc="2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often</a:t>
            </a:r>
            <a:r>
              <a:rPr sz="1800" spc="2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equivalent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what</a:t>
            </a:r>
            <a:r>
              <a:rPr sz="1800" spc="2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self-</a:t>
            </a:r>
            <a:r>
              <a:rPr sz="1800" dirty="0">
                <a:latin typeface="Arial"/>
                <a:cs typeface="Arial"/>
              </a:rPr>
              <a:t>employed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worker</a:t>
            </a:r>
            <a:r>
              <a:rPr sz="1800" spc="2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would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paid</a:t>
            </a:r>
            <a:r>
              <a:rPr sz="1800" spc="2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2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had </a:t>
            </a:r>
            <a:r>
              <a:rPr sz="1800" dirty="0">
                <a:latin typeface="Arial"/>
                <a:cs typeface="Arial"/>
              </a:rPr>
              <a:t>received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money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directly.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▪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YTH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#2: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sz="1800" u="none" dirty="0">
                <a:latin typeface="Arial"/>
                <a:cs typeface="Arial"/>
              </a:rPr>
              <a:t>ere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are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more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deductible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expenses</a:t>
            </a:r>
            <a:r>
              <a:rPr sz="1800" u="none" spc="-2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when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incorporated!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33972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majority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expenses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deductible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level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self- </a:t>
            </a:r>
            <a:r>
              <a:rPr sz="1800" dirty="0">
                <a:latin typeface="Arial"/>
                <a:cs typeface="Arial"/>
              </a:rPr>
              <a:t>employed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worker,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except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mechanism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 </a:t>
            </a:r>
            <a:r>
              <a:rPr sz="1800" spc="-10" dirty="0">
                <a:latin typeface="Arial"/>
                <a:cs typeface="Arial"/>
              </a:rPr>
              <a:t>used.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34036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EX.: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self-</a:t>
            </a:r>
            <a:r>
              <a:rPr sz="1800" dirty="0">
                <a:latin typeface="Arial"/>
                <a:cs typeface="Arial"/>
              </a:rPr>
              <a:t>employed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worker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portion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their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vehicle </a:t>
            </a:r>
            <a:r>
              <a:rPr sz="1800" dirty="0">
                <a:latin typeface="Arial"/>
                <a:cs typeface="Arial"/>
              </a:rPr>
              <a:t>expenses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shareholder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personal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therefore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be </a:t>
            </a:r>
            <a:r>
              <a:rPr sz="1800" dirty="0">
                <a:latin typeface="Arial"/>
                <a:cs typeface="Arial"/>
              </a:rPr>
              <a:t>assigned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benefit.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527" y="1298905"/>
            <a:ext cx="10687050" cy="1792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 indent="-191135">
              <a:lnSpc>
                <a:spcPct val="100000"/>
              </a:lnSpc>
              <a:spcBef>
                <a:spcPts val="100"/>
              </a:spcBef>
              <a:buChar char="▪"/>
              <a:tabLst>
                <a:tab pos="289560" algn="l"/>
              </a:tabLst>
            </a:pPr>
            <a:r>
              <a:rPr sz="2400" dirty="0">
                <a:latin typeface="Arial"/>
                <a:cs typeface="Arial"/>
              </a:rPr>
              <a:t>Give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answer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"economist"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famous: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DEPENDS!!!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2390"/>
              </a:spcBef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incorporated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has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many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advantages.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Nevertheless,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case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different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case.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advantages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usually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outweigh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disadvantages,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before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making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decision,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always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best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check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lawyer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accountant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ensure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3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impact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other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consequences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mode</a:t>
            </a:r>
            <a:r>
              <a:rPr sz="1800" spc="34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</a:t>
            </a:r>
            <a:r>
              <a:rPr sz="1800" dirty="0">
                <a:latin typeface="Arial"/>
                <a:cs typeface="Arial"/>
              </a:rPr>
              <a:t>business </a:t>
            </a:r>
            <a:r>
              <a:rPr sz="1800" spc="-10" dirty="0">
                <a:latin typeface="Arial"/>
                <a:cs typeface="Arial"/>
              </a:rPr>
              <a:t>operation.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100" y="223154"/>
            <a:ext cx="8382000" cy="542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What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answer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if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client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asks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whether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they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should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incorporate?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3429000"/>
            <a:ext cx="6248400" cy="2877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7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C017A06-8C7E-4F9F-58CB-B144D54FBBE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555447" y="939545"/>
            <a:ext cx="10495280" cy="549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3055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PRODUCT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LEASE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ACQUISITION</a:t>
            </a:r>
            <a:endParaRPr sz="2000" dirty="0">
              <a:latin typeface="Arial"/>
              <a:cs typeface="Arial"/>
            </a:endParaRPr>
          </a:p>
          <a:p>
            <a:pPr marL="12700" marR="43815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Arial"/>
                <a:cs typeface="Arial"/>
              </a:rPr>
              <a:t>Leasing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essentially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allows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'rent'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HCC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rather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acquiring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through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-10" dirty="0">
                <a:latin typeface="Arial"/>
                <a:cs typeface="Arial"/>
              </a:rPr>
              <a:t> agreement.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therefore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two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parties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lessor,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HCC)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grants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other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lessee,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right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period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exchange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consideration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rent).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Since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lessee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applicable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said</a:t>
            </a:r>
            <a:r>
              <a:rPr sz="1800" spc="-10" dirty="0">
                <a:latin typeface="Arial"/>
                <a:cs typeface="Arial"/>
              </a:rPr>
              <a:t> rent.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We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usually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two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categories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namely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acquisition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(which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aims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transfer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ownership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operational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contract </a:t>
            </a:r>
            <a:r>
              <a:rPr sz="1800" dirty="0">
                <a:latin typeface="Arial"/>
                <a:cs typeface="Arial"/>
              </a:rPr>
              <a:t>(where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return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term).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Accounting</a:t>
            </a:r>
            <a:r>
              <a:rPr sz="1800" b="1" spc="-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treatment:</a:t>
            </a:r>
            <a:endParaRPr sz="1800" dirty="0">
              <a:latin typeface="Arial"/>
              <a:cs typeface="Arial"/>
            </a:endParaRPr>
          </a:p>
          <a:p>
            <a:pPr marL="163195" indent="-15049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63195" algn="l"/>
              </a:tabLst>
            </a:pPr>
            <a:r>
              <a:rPr sz="1050" dirty="0">
                <a:latin typeface="Arial"/>
                <a:cs typeface="Arial"/>
              </a:rPr>
              <a:t>Appears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asset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side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is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capitalized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liability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side</a:t>
            </a:r>
            <a:r>
              <a:rPr sz="1050" spc="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balance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sheet</a:t>
            </a:r>
            <a:endParaRPr sz="1050" dirty="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spcBef>
                <a:spcPts val="810"/>
              </a:spcBef>
              <a:buAutoNum type="arabicPeriod"/>
              <a:tabLst>
                <a:tab pos="266700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expenses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</a:t>
            </a:r>
            <a:r>
              <a:rPr sz="1800" spc="-10" dirty="0">
                <a:latin typeface="Arial"/>
                <a:cs typeface="Arial"/>
              </a:rPr>
              <a:t> statement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Tax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treatment: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1.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rent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lease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is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recorded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expense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7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A730B4E-2245-6D14-66DA-5D0C00D2717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546912" y="1092453"/>
            <a:ext cx="10908665" cy="5051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04085" marR="2502535" indent="80772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PRODUCT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OPERATIONAL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LEASE* </a:t>
            </a:r>
            <a:r>
              <a:rPr sz="2000" dirty="0">
                <a:latin typeface="Arial"/>
                <a:cs typeface="Arial"/>
              </a:rPr>
              <a:t>COMMONLY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CALLED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JEAN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PRODUCT*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sz="1800" dirty="0">
                <a:latin typeface="Arial"/>
                <a:cs typeface="Arial"/>
              </a:rPr>
              <a:t>What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 OPERATIONAL </a:t>
            </a:r>
            <a:r>
              <a:rPr sz="1800" spc="-10" dirty="0">
                <a:latin typeface="Arial"/>
                <a:cs typeface="Arial"/>
              </a:rPr>
              <a:t>LEASE?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>
              <a:latin typeface="Arial"/>
              <a:cs typeface="Arial"/>
            </a:endParaRPr>
          </a:p>
          <a:p>
            <a:pPr marL="294005" marR="69215" indent="-281940">
              <a:lnSpc>
                <a:spcPct val="10080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Operational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contractual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credit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technique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medium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company 	</a:t>
            </a:r>
            <a:r>
              <a:rPr sz="1800" dirty="0">
                <a:latin typeface="Arial"/>
                <a:cs typeface="Arial"/>
              </a:rPr>
              <a:t>(the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lessor)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fully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acquires,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request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according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specifications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lessee),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	</a:t>
            </a:r>
            <a:r>
              <a:rPr sz="1800" dirty="0">
                <a:latin typeface="Arial"/>
                <a:cs typeface="Arial"/>
              </a:rPr>
              <a:t>ownership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movable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property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professional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view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fixed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exchange 	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rents.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lessee,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maintains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financial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independence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through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financing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method,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must 	</a:t>
            </a:r>
            <a:r>
              <a:rPr sz="1800" dirty="0">
                <a:latin typeface="Arial"/>
                <a:cs typeface="Arial"/>
              </a:rPr>
              <a:t>take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father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family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insure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adequately.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Segoe UI Symbol"/>
              <a:buChar char="➢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Segoe UI Symbol"/>
              <a:buChar char="➢"/>
            </a:pPr>
            <a:endParaRPr sz="1800">
              <a:latin typeface="Arial"/>
              <a:cs typeface="Arial"/>
            </a:endParaRPr>
          </a:p>
          <a:p>
            <a:pPr marL="278765" marR="63500" indent="-266700">
              <a:lnSpc>
                <a:spcPts val="197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Since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lessee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does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not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intend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become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owner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asset,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contract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generally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does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not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provide</a:t>
            </a:r>
            <a:r>
              <a:rPr sz="1700" spc="-25" dirty="0">
                <a:latin typeface="Arial"/>
                <a:cs typeface="Arial"/>
              </a:rPr>
              <a:t> for 	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purchase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option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(e.g.,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FMV).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Segoe UI Symbol"/>
              <a:buChar char="➢"/>
            </a:pPr>
            <a:endParaRPr sz="1700">
              <a:latin typeface="Arial"/>
              <a:cs typeface="Arial"/>
            </a:endParaRPr>
          </a:p>
          <a:p>
            <a:pPr marL="249554" indent="-236854">
              <a:lnSpc>
                <a:spcPct val="100000"/>
              </a:lnSpc>
              <a:buFont typeface="Segoe UI Symbol"/>
              <a:buChar char="➢"/>
              <a:tabLst>
                <a:tab pos="249554" algn="l"/>
              </a:tabLst>
            </a:pPr>
            <a:r>
              <a:rPr sz="1500" dirty="0">
                <a:latin typeface="Arial"/>
                <a:cs typeface="Arial"/>
              </a:rPr>
              <a:t>As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result,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any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potential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buyback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asset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by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lessee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is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negotiated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only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at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end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contract.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5"/>
              </a:spcBef>
              <a:buFont typeface="Segoe UI Symbol"/>
              <a:buChar char="➢"/>
            </a:pPr>
            <a:endParaRPr sz="15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Segoe UI Symbol"/>
              <a:buChar char="➢"/>
              <a:tabLst>
                <a:tab pos="279400" algn="l"/>
              </a:tabLst>
            </a:pPr>
            <a:r>
              <a:rPr sz="1700" dirty="0">
                <a:latin typeface="Arial"/>
                <a:cs typeface="Arial"/>
              </a:rPr>
              <a:t>Operational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leasing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most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often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offered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by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industry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specialists,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as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requires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good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knowledge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market.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59951" y="2303779"/>
            <a:ext cx="2493010" cy="2707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684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N.B.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Our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lease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may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be </a:t>
            </a:r>
            <a:r>
              <a:rPr sz="1600" b="1" dirty="0">
                <a:latin typeface="Arial"/>
                <a:cs typeface="Arial"/>
              </a:rPr>
              <a:t>classified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with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certain accountants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"off- </a:t>
            </a:r>
            <a:r>
              <a:rPr sz="1600" b="1" dirty="0">
                <a:latin typeface="Arial"/>
                <a:cs typeface="Arial"/>
              </a:rPr>
              <a:t>balance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sheet"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if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the </a:t>
            </a:r>
            <a:r>
              <a:rPr sz="1600" b="1" spc="-10" dirty="0">
                <a:latin typeface="Arial"/>
                <a:cs typeface="Arial"/>
              </a:rPr>
              <a:t>structure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meets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the </a:t>
            </a:r>
            <a:r>
              <a:rPr sz="1600" b="1" dirty="0">
                <a:latin typeface="Arial"/>
                <a:cs typeface="Arial"/>
              </a:rPr>
              <a:t>criteria,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but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make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no </a:t>
            </a:r>
            <a:r>
              <a:rPr sz="1600" b="1" spc="-10" dirty="0">
                <a:latin typeface="Arial"/>
                <a:cs typeface="Arial"/>
              </a:rPr>
              <a:t>representation</a:t>
            </a:r>
            <a:r>
              <a:rPr sz="1600" b="1" dirty="0">
                <a:latin typeface="Arial"/>
                <a:cs typeface="Arial"/>
              </a:rPr>
              <a:t> in </a:t>
            </a:r>
            <a:r>
              <a:rPr sz="1600" b="1" spc="-20" dirty="0">
                <a:latin typeface="Arial"/>
                <a:cs typeface="Arial"/>
              </a:rPr>
              <a:t>this </a:t>
            </a:r>
            <a:r>
              <a:rPr sz="1600" b="1" dirty="0">
                <a:latin typeface="Arial"/>
                <a:cs typeface="Arial"/>
              </a:rPr>
              <a:t>regard,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clients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must </a:t>
            </a:r>
            <a:r>
              <a:rPr sz="1600" b="1" dirty="0">
                <a:latin typeface="Arial"/>
                <a:cs typeface="Arial"/>
              </a:rPr>
              <a:t>always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validate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with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their </a:t>
            </a:r>
            <a:r>
              <a:rPr sz="1600" b="1" dirty="0">
                <a:latin typeface="Arial"/>
                <a:cs typeface="Arial"/>
              </a:rPr>
              <a:t>external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accountant.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*See </a:t>
            </a:r>
            <a:r>
              <a:rPr sz="1600" b="1" dirty="0">
                <a:latin typeface="Arial"/>
                <a:cs typeface="Arial"/>
              </a:rPr>
              <a:t>contract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clause*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8856" y="1280667"/>
            <a:ext cx="8594725" cy="5327015"/>
            <a:chOff x="348856" y="1280667"/>
            <a:chExt cx="8594725" cy="5327015"/>
          </a:xfrm>
        </p:grpSpPr>
        <p:sp>
          <p:nvSpPr>
            <p:cNvPr id="5" name="object 5"/>
            <p:cNvSpPr/>
            <p:nvPr/>
          </p:nvSpPr>
          <p:spPr>
            <a:xfrm>
              <a:off x="348856" y="1280667"/>
              <a:ext cx="8594725" cy="419734"/>
            </a:xfrm>
            <a:custGeom>
              <a:avLst/>
              <a:gdLst/>
              <a:ahLst/>
              <a:cxnLst/>
              <a:rect l="l" t="t" r="r" b="b"/>
              <a:pathLst>
                <a:path w="8594725" h="419735">
                  <a:moveTo>
                    <a:pt x="737743" y="0"/>
                  </a:moveTo>
                  <a:lnTo>
                    <a:pt x="0" y="0"/>
                  </a:lnTo>
                  <a:lnTo>
                    <a:pt x="0" y="419481"/>
                  </a:lnTo>
                  <a:lnTo>
                    <a:pt x="737743" y="419481"/>
                  </a:lnTo>
                  <a:lnTo>
                    <a:pt x="737743" y="0"/>
                  </a:lnTo>
                  <a:close/>
                </a:path>
                <a:path w="8594725" h="419735">
                  <a:moveTo>
                    <a:pt x="8594484" y="0"/>
                  </a:moveTo>
                  <a:lnTo>
                    <a:pt x="4298620" y="0"/>
                  </a:lnTo>
                  <a:lnTo>
                    <a:pt x="737793" y="0"/>
                  </a:lnTo>
                  <a:lnTo>
                    <a:pt x="737793" y="419481"/>
                  </a:lnTo>
                  <a:lnTo>
                    <a:pt x="4298581" y="419481"/>
                  </a:lnTo>
                  <a:lnTo>
                    <a:pt x="8594484" y="419481"/>
                  </a:lnTo>
                  <a:lnTo>
                    <a:pt x="85944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8856" y="1700148"/>
              <a:ext cx="8594725" cy="1363345"/>
            </a:xfrm>
            <a:custGeom>
              <a:avLst/>
              <a:gdLst/>
              <a:ahLst/>
              <a:cxnLst/>
              <a:rect l="l" t="t" r="r" b="b"/>
              <a:pathLst>
                <a:path w="8594725" h="1363345">
                  <a:moveTo>
                    <a:pt x="737743" y="0"/>
                  </a:moveTo>
                  <a:lnTo>
                    <a:pt x="0" y="0"/>
                  </a:lnTo>
                  <a:lnTo>
                    <a:pt x="0" y="1363345"/>
                  </a:lnTo>
                  <a:lnTo>
                    <a:pt x="737743" y="1363345"/>
                  </a:lnTo>
                  <a:lnTo>
                    <a:pt x="737743" y="0"/>
                  </a:lnTo>
                  <a:close/>
                </a:path>
                <a:path w="8594725" h="1363345">
                  <a:moveTo>
                    <a:pt x="8594484" y="0"/>
                  </a:moveTo>
                  <a:lnTo>
                    <a:pt x="4298620" y="0"/>
                  </a:lnTo>
                  <a:lnTo>
                    <a:pt x="737793" y="0"/>
                  </a:lnTo>
                  <a:lnTo>
                    <a:pt x="737793" y="1363345"/>
                  </a:lnTo>
                  <a:lnTo>
                    <a:pt x="4298581" y="1363345"/>
                  </a:lnTo>
                  <a:lnTo>
                    <a:pt x="8594484" y="1363345"/>
                  </a:lnTo>
                  <a:lnTo>
                    <a:pt x="8594484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8856" y="3063747"/>
              <a:ext cx="8594725" cy="734060"/>
            </a:xfrm>
            <a:custGeom>
              <a:avLst/>
              <a:gdLst/>
              <a:ahLst/>
              <a:cxnLst/>
              <a:rect l="l" t="t" r="r" b="b"/>
              <a:pathLst>
                <a:path w="8594725" h="734060">
                  <a:moveTo>
                    <a:pt x="737743" y="0"/>
                  </a:moveTo>
                  <a:lnTo>
                    <a:pt x="0" y="0"/>
                  </a:lnTo>
                  <a:lnTo>
                    <a:pt x="0" y="733933"/>
                  </a:lnTo>
                  <a:lnTo>
                    <a:pt x="737743" y="733933"/>
                  </a:lnTo>
                  <a:lnTo>
                    <a:pt x="737743" y="0"/>
                  </a:lnTo>
                  <a:close/>
                </a:path>
                <a:path w="8594725" h="734060">
                  <a:moveTo>
                    <a:pt x="8594484" y="0"/>
                  </a:moveTo>
                  <a:lnTo>
                    <a:pt x="4298620" y="0"/>
                  </a:lnTo>
                  <a:lnTo>
                    <a:pt x="737793" y="0"/>
                  </a:lnTo>
                  <a:lnTo>
                    <a:pt x="737793" y="733933"/>
                  </a:lnTo>
                  <a:lnTo>
                    <a:pt x="4298581" y="733933"/>
                  </a:lnTo>
                  <a:lnTo>
                    <a:pt x="8594484" y="733933"/>
                  </a:lnTo>
                  <a:lnTo>
                    <a:pt x="8594484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8856" y="3797680"/>
              <a:ext cx="8594725" cy="1218565"/>
            </a:xfrm>
            <a:custGeom>
              <a:avLst/>
              <a:gdLst/>
              <a:ahLst/>
              <a:cxnLst/>
              <a:rect l="l" t="t" r="r" b="b"/>
              <a:pathLst>
                <a:path w="8594725" h="1218564">
                  <a:moveTo>
                    <a:pt x="737743" y="0"/>
                  </a:moveTo>
                  <a:lnTo>
                    <a:pt x="0" y="0"/>
                  </a:lnTo>
                  <a:lnTo>
                    <a:pt x="0" y="1218057"/>
                  </a:lnTo>
                  <a:lnTo>
                    <a:pt x="737743" y="1218057"/>
                  </a:lnTo>
                  <a:lnTo>
                    <a:pt x="737743" y="0"/>
                  </a:lnTo>
                  <a:close/>
                </a:path>
                <a:path w="8594725" h="1218564">
                  <a:moveTo>
                    <a:pt x="8594484" y="0"/>
                  </a:moveTo>
                  <a:lnTo>
                    <a:pt x="4298620" y="0"/>
                  </a:lnTo>
                  <a:lnTo>
                    <a:pt x="737793" y="0"/>
                  </a:lnTo>
                  <a:lnTo>
                    <a:pt x="737793" y="1218057"/>
                  </a:lnTo>
                  <a:lnTo>
                    <a:pt x="4298581" y="1218057"/>
                  </a:lnTo>
                  <a:lnTo>
                    <a:pt x="8594484" y="1218057"/>
                  </a:lnTo>
                  <a:lnTo>
                    <a:pt x="8594484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8856" y="5015699"/>
              <a:ext cx="8594725" cy="784225"/>
            </a:xfrm>
            <a:custGeom>
              <a:avLst/>
              <a:gdLst/>
              <a:ahLst/>
              <a:cxnLst/>
              <a:rect l="l" t="t" r="r" b="b"/>
              <a:pathLst>
                <a:path w="8594725" h="784225">
                  <a:moveTo>
                    <a:pt x="737743" y="0"/>
                  </a:moveTo>
                  <a:lnTo>
                    <a:pt x="0" y="0"/>
                  </a:lnTo>
                  <a:lnTo>
                    <a:pt x="0" y="783717"/>
                  </a:lnTo>
                  <a:lnTo>
                    <a:pt x="737743" y="783717"/>
                  </a:lnTo>
                  <a:lnTo>
                    <a:pt x="737743" y="0"/>
                  </a:lnTo>
                  <a:close/>
                </a:path>
                <a:path w="8594725" h="784225">
                  <a:moveTo>
                    <a:pt x="8594484" y="0"/>
                  </a:moveTo>
                  <a:lnTo>
                    <a:pt x="4298620" y="0"/>
                  </a:lnTo>
                  <a:lnTo>
                    <a:pt x="737793" y="0"/>
                  </a:lnTo>
                  <a:lnTo>
                    <a:pt x="737793" y="783717"/>
                  </a:lnTo>
                  <a:lnTo>
                    <a:pt x="4298581" y="783717"/>
                  </a:lnTo>
                  <a:lnTo>
                    <a:pt x="8594484" y="783717"/>
                  </a:lnTo>
                  <a:lnTo>
                    <a:pt x="8594484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8856" y="5799404"/>
              <a:ext cx="8594725" cy="808355"/>
            </a:xfrm>
            <a:custGeom>
              <a:avLst/>
              <a:gdLst/>
              <a:ahLst/>
              <a:cxnLst/>
              <a:rect l="l" t="t" r="r" b="b"/>
              <a:pathLst>
                <a:path w="8594725" h="808354">
                  <a:moveTo>
                    <a:pt x="737743" y="0"/>
                  </a:moveTo>
                  <a:lnTo>
                    <a:pt x="0" y="0"/>
                  </a:lnTo>
                  <a:lnTo>
                    <a:pt x="0" y="808228"/>
                  </a:lnTo>
                  <a:lnTo>
                    <a:pt x="737743" y="808228"/>
                  </a:lnTo>
                  <a:lnTo>
                    <a:pt x="737743" y="0"/>
                  </a:lnTo>
                  <a:close/>
                </a:path>
                <a:path w="8594725" h="808354">
                  <a:moveTo>
                    <a:pt x="8594484" y="0"/>
                  </a:moveTo>
                  <a:lnTo>
                    <a:pt x="4298620" y="0"/>
                  </a:lnTo>
                  <a:lnTo>
                    <a:pt x="737793" y="0"/>
                  </a:lnTo>
                  <a:lnTo>
                    <a:pt x="737793" y="808228"/>
                  </a:lnTo>
                  <a:lnTo>
                    <a:pt x="4298581" y="808228"/>
                  </a:lnTo>
                  <a:lnTo>
                    <a:pt x="8594484" y="808228"/>
                  </a:lnTo>
                  <a:lnTo>
                    <a:pt x="8594484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0064" y="1728978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#1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8750" y="1728978"/>
            <a:ext cx="2803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term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must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less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than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75%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911225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useful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life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asset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53025" y="1728774"/>
            <a:ext cx="40405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Since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January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1,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2019,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new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IFRS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rules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make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it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more </a:t>
            </a:r>
            <a:r>
              <a:rPr sz="1200" b="1" dirty="0">
                <a:latin typeface="Arial"/>
                <a:cs typeface="Arial"/>
              </a:rPr>
              <a:t>difficult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treat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leases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"off-</a:t>
            </a:r>
            <a:r>
              <a:rPr sz="1200" b="1" dirty="0">
                <a:latin typeface="Arial"/>
                <a:cs typeface="Arial"/>
              </a:rPr>
              <a:t>balance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sheet"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large </a:t>
            </a:r>
            <a:r>
              <a:rPr sz="1200" b="1" dirty="0">
                <a:latin typeface="Arial"/>
                <a:cs typeface="Arial"/>
              </a:rPr>
              <a:t>companies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that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must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comply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IFRS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(international </a:t>
            </a:r>
            <a:r>
              <a:rPr sz="1200" b="1" dirty="0">
                <a:latin typeface="Arial"/>
                <a:cs typeface="Arial"/>
              </a:rPr>
              <a:t>accounting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standards).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064" y="3092577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#2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7713" y="3092577"/>
            <a:ext cx="2955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present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value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lease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payments </a:t>
            </a:r>
            <a:r>
              <a:rPr sz="1200" b="1" dirty="0">
                <a:latin typeface="Arial"/>
                <a:cs typeface="Arial"/>
              </a:rPr>
              <a:t>cannot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exceed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90%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fair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market </a:t>
            </a:r>
            <a:r>
              <a:rPr sz="1200" b="1" dirty="0">
                <a:latin typeface="Arial"/>
                <a:cs typeface="Arial"/>
              </a:rPr>
              <a:t>value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asset.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7115" y="3092577"/>
            <a:ext cx="3362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Must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lease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contract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12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months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less.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064" y="3826891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#3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28369" y="3826891"/>
            <a:ext cx="2049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No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bargain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purchase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62626" y="3826891"/>
            <a:ext cx="3625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Our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current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lease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allows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for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return,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but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case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of </a:t>
            </a:r>
            <a:r>
              <a:rPr sz="1200" b="1" dirty="0">
                <a:latin typeface="Arial"/>
                <a:cs typeface="Arial"/>
              </a:rPr>
              <a:t>gains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losses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upon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resale,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difference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will</a:t>
            </a:r>
            <a:r>
              <a:rPr sz="1200" b="1" spc="-25" dirty="0">
                <a:latin typeface="Arial"/>
                <a:cs typeface="Arial"/>
              </a:rPr>
              <a:t> be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responsibility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client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will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refunded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them.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0064" y="5045202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#4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02842" y="5045202"/>
            <a:ext cx="304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No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automatic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transfer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ownership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122555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end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term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47386" y="5045202"/>
            <a:ext cx="401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Most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our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clients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not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apply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New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IFRS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rules,</a:t>
            </a:r>
            <a:r>
              <a:rPr sz="1200" b="1" spc="-25" dirty="0">
                <a:latin typeface="Arial"/>
                <a:cs typeface="Arial"/>
              </a:rPr>
              <a:t> so </a:t>
            </a:r>
            <a:r>
              <a:rPr sz="1200" b="1" dirty="0">
                <a:latin typeface="Arial"/>
                <a:cs typeface="Arial"/>
              </a:rPr>
              <a:t>this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does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not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apply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them.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0064" y="5829096"/>
            <a:ext cx="194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#5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65217" y="5829096"/>
            <a:ext cx="40563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No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tax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advantage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treat</a:t>
            </a:r>
            <a:r>
              <a:rPr sz="1200" b="1" spc="-20" dirty="0">
                <a:latin typeface="Arial"/>
                <a:cs typeface="Arial"/>
              </a:rPr>
              <a:t> on-</a:t>
            </a:r>
            <a:r>
              <a:rPr sz="1200" b="1" dirty="0">
                <a:latin typeface="Arial"/>
                <a:cs typeface="Arial"/>
              </a:rPr>
              <a:t>balance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off-</a:t>
            </a:r>
            <a:r>
              <a:rPr sz="1200" b="1" dirty="0">
                <a:latin typeface="Arial"/>
                <a:cs typeface="Arial"/>
              </a:rPr>
              <a:t>balance,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the </a:t>
            </a:r>
            <a:r>
              <a:rPr sz="1200" b="1" dirty="0">
                <a:latin typeface="Arial"/>
                <a:cs typeface="Arial"/>
              </a:rPr>
              <a:t>real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advantage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only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presentation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financial statements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3505" y="824642"/>
            <a:ext cx="5260340" cy="78359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18565">
              <a:lnSpc>
                <a:spcPct val="100000"/>
              </a:lnSpc>
              <a:spcBef>
                <a:spcPts val="1005"/>
              </a:spcBef>
            </a:pPr>
            <a:r>
              <a:rPr sz="1550" dirty="0">
                <a:latin typeface="Arial"/>
                <a:cs typeface="Arial"/>
              </a:rPr>
              <a:t>4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criteria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qualify</a:t>
            </a:r>
            <a:r>
              <a:rPr sz="1550" spc="-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-10" dirty="0">
                <a:latin typeface="Arial"/>
                <a:cs typeface="Arial"/>
              </a:rPr>
              <a:t> off-</a:t>
            </a:r>
            <a:r>
              <a:rPr sz="1550" dirty="0">
                <a:latin typeface="Arial"/>
                <a:cs typeface="Arial"/>
              </a:rPr>
              <a:t>balance</a:t>
            </a:r>
            <a:r>
              <a:rPr sz="1550" spc="-1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sheet</a:t>
            </a:r>
            <a:r>
              <a:rPr sz="1550" spc="-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lease</a:t>
            </a: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ACCOUNTING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TREATMENT</a:t>
            </a:r>
            <a:r>
              <a:rPr sz="1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TAX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TREATMENT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7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D5C7ED3E-295B-F3C8-E9E5-3BF23A186B9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634085" y="1067181"/>
            <a:ext cx="10623550" cy="5271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2164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PRODUCT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–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INSTALLMENT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CONTRACT</a:t>
            </a:r>
            <a:endParaRPr sz="2000">
              <a:latin typeface="Arial"/>
              <a:cs typeface="Arial"/>
            </a:endParaRPr>
          </a:p>
          <a:p>
            <a:pPr marL="12700" marR="131445">
              <a:lnSpc>
                <a:spcPct val="100000"/>
              </a:lnSpc>
              <a:spcBef>
                <a:spcPts val="2170"/>
              </a:spcBef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installment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aimed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facilitating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acquisition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through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dealer.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customer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dealer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authorized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HCC.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invoice.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Therefore,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three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parties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sign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customer,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HCC,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dealer).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2844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From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legal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point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view,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type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traditional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dealer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retains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ownership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rights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until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made.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HCC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intervenes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dealer's </a:t>
            </a:r>
            <a:r>
              <a:rPr sz="1800" spc="-10" dirty="0">
                <a:latin typeface="Arial"/>
                <a:cs typeface="Arial"/>
              </a:rPr>
              <a:t>receivable.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10223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Taxes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customer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sometimes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financed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reimbursable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3rd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4th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month.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4242"/>
                </a:solidFill>
                <a:latin typeface="Arial"/>
                <a:cs typeface="Arial"/>
              </a:rPr>
              <a:t>Accounting</a:t>
            </a:r>
            <a:r>
              <a:rPr sz="1800" b="1" spc="-40" dirty="0">
                <a:solidFill>
                  <a:srgbClr val="FF42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4242"/>
                </a:solidFill>
                <a:latin typeface="Arial"/>
                <a:cs typeface="Arial"/>
              </a:rPr>
              <a:t>and</a:t>
            </a:r>
            <a:r>
              <a:rPr sz="1800" b="1" spc="-35" dirty="0">
                <a:solidFill>
                  <a:srgbClr val="FF424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4242"/>
                </a:solidFill>
                <a:latin typeface="Arial"/>
                <a:cs typeface="Arial"/>
              </a:rPr>
              <a:t>tax</a:t>
            </a:r>
            <a:r>
              <a:rPr sz="1800" b="1" spc="-35" dirty="0">
                <a:solidFill>
                  <a:srgbClr val="FF424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4242"/>
                </a:solidFill>
                <a:latin typeface="Arial"/>
                <a:cs typeface="Arial"/>
              </a:rPr>
              <a:t>treatment:</a:t>
            </a:r>
            <a:endParaRPr sz="1800">
              <a:latin typeface="Arial"/>
              <a:cs typeface="Arial"/>
            </a:endParaRPr>
          </a:p>
          <a:p>
            <a:pPr marL="12700" marR="32956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Appears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liability 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customer's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balance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sheet.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customer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depreciates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(depreciation)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expense.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006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differences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between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accounting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treatment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products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8033D77F-AF6E-4312-4238-7394E37D0C7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546912" y="1094498"/>
            <a:ext cx="10813415" cy="4232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3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Differences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</a:t>
            </a:r>
            <a:r>
              <a:rPr sz="2200" b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leases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25"/>
              </a:spcBef>
            </a:pPr>
            <a:endParaRPr sz="2200">
              <a:latin typeface="Arial"/>
              <a:cs typeface="Arial"/>
            </a:endParaRPr>
          </a:p>
          <a:p>
            <a:pPr marL="278765" marR="5080" indent="-266700">
              <a:lnSpc>
                <a:spcPts val="197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Whether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client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purchases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equipment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or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takes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lease,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will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affect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their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financial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statements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tax 	</a:t>
            </a:r>
            <a:r>
              <a:rPr sz="1700" dirty="0">
                <a:latin typeface="Arial"/>
                <a:cs typeface="Arial"/>
              </a:rPr>
              <a:t>return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all</a:t>
            </a:r>
            <a:r>
              <a:rPr sz="1700" spc="-10" dirty="0">
                <a:latin typeface="Arial"/>
                <a:cs typeface="Arial"/>
              </a:rPr>
              <a:t> cases!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Segoe UI Symbol"/>
              <a:buChar char="➢"/>
            </a:pPr>
            <a:endParaRPr sz="1700">
              <a:latin typeface="Arial"/>
              <a:cs typeface="Arial"/>
            </a:endParaRPr>
          </a:p>
          <a:p>
            <a:pPr marL="278765" marR="18415" indent="-266700">
              <a:lnSpc>
                <a:spcPts val="197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Purchase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or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lease,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effects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will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different.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However,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message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remember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same: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financing 	</a:t>
            </a:r>
            <a:r>
              <a:rPr sz="1700" dirty="0">
                <a:latin typeface="Arial"/>
                <a:cs typeface="Arial"/>
              </a:rPr>
              <a:t>of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equipment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have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significant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impact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company's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net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income.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Font typeface="Segoe UI Symbol"/>
              <a:buChar char="➢"/>
            </a:pPr>
            <a:endParaRPr sz="1700">
              <a:latin typeface="Arial"/>
              <a:cs typeface="Arial"/>
            </a:endParaRPr>
          </a:p>
          <a:p>
            <a:pPr marL="289560" marR="440055" indent="-277495">
              <a:lnSpc>
                <a:spcPct val="9600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750" dirty="0">
                <a:latin typeface="Arial"/>
                <a:cs typeface="Arial"/>
              </a:rPr>
              <a:t>The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decision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purchase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(CAPEX)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lease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equipment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involves</a:t>
            </a:r>
            <a:r>
              <a:rPr sz="1750" spc="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several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factors: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financing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options 	</a:t>
            </a:r>
            <a:r>
              <a:rPr sz="1750" dirty="0">
                <a:latin typeface="Arial"/>
                <a:cs typeface="Arial"/>
              </a:rPr>
              <a:t>available,</a:t>
            </a:r>
            <a:r>
              <a:rPr sz="1750" spc="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lowest</a:t>
            </a:r>
            <a:r>
              <a:rPr sz="1750" spc="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overall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cost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when</a:t>
            </a:r>
            <a:r>
              <a:rPr sz="1750" spc="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considering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discount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rates,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option</a:t>
            </a:r>
            <a:r>
              <a:rPr sz="1750" spc="40" dirty="0">
                <a:latin typeface="Arial"/>
                <a:cs typeface="Arial"/>
              </a:rPr>
              <a:t> </a:t>
            </a:r>
            <a:r>
              <a:rPr sz="1750" spc="-20" dirty="0">
                <a:latin typeface="Arial"/>
                <a:cs typeface="Arial"/>
              </a:rPr>
              <a:t>most 	</a:t>
            </a:r>
            <a:r>
              <a:rPr sz="1750" dirty="0">
                <a:latin typeface="Arial"/>
                <a:cs typeface="Arial"/>
              </a:rPr>
              <a:t>appropriate</a:t>
            </a:r>
            <a:r>
              <a:rPr sz="1750" spc="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client's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cash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flow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</a:t>
            </a:r>
            <a:r>
              <a:rPr sz="1750" spc="3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situation.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Font typeface="Segoe UI Symbol"/>
              <a:buChar char="➢"/>
            </a:pPr>
            <a:endParaRPr sz="1750">
              <a:latin typeface="Arial"/>
              <a:cs typeface="Arial"/>
            </a:endParaRPr>
          </a:p>
          <a:p>
            <a:pPr marL="278765" marR="883919" indent="-266700">
              <a:lnSpc>
                <a:spcPts val="197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It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is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therefore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important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understand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impact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that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purchasing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leasing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could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have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financial 	</a:t>
            </a:r>
            <a:r>
              <a:rPr sz="1700" dirty="0">
                <a:latin typeface="Arial"/>
                <a:cs typeface="Arial"/>
              </a:rPr>
              <a:t>statements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and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thus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advise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client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towards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decision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regarding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the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financing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product.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00" y="946783"/>
            <a:ext cx="9317990" cy="29020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00"/>
              </a:spcBef>
            </a:pPr>
            <a:endParaRPr sz="1900" dirty="0">
              <a:latin typeface="Arial"/>
              <a:cs typeface="Arial"/>
            </a:endParaRPr>
          </a:p>
          <a:p>
            <a:pPr marL="2432050" algn="ctr">
              <a:lnSpc>
                <a:spcPct val="100000"/>
              </a:lnSpc>
            </a:pPr>
            <a:r>
              <a:rPr sz="18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Differences</a:t>
            </a:r>
            <a:r>
              <a:rPr sz="185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loans</a:t>
            </a:r>
            <a:r>
              <a:rPr sz="185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</a:t>
            </a:r>
            <a:r>
              <a:rPr sz="185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5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leases</a:t>
            </a:r>
            <a:endParaRPr sz="1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1850" dirty="0">
              <a:latin typeface="Arial"/>
              <a:cs typeface="Arial"/>
            </a:endParaRPr>
          </a:p>
          <a:p>
            <a:pPr marL="3439160" marR="137795" indent="-972819">
              <a:lnSpc>
                <a:spcPts val="216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Here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now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numerical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example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scenarios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better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understand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impacts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financial statements.</a:t>
            </a:r>
            <a:endParaRPr sz="2000" dirty="0">
              <a:latin typeface="Arial"/>
              <a:cs typeface="Arial"/>
            </a:endParaRPr>
          </a:p>
          <a:p>
            <a:pPr marL="2367915" algn="ctr">
              <a:lnSpc>
                <a:spcPts val="2280"/>
              </a:lnSpc>
              <a:spcBef>
                <a:spcPts val="935"/>
              </a:spcBef>
            </a:pPr>
            <a:r>
              <a:rPr sz="2000" b="1" dirty="0">
                <a:latin typeface="Arial"/>
                <a:cs typeface="Arial"/>
              </a:rPr>
              <a:t>BIGDAN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VACHON EXCAVATION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(1962) INC.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buys </a:t>
            </a:r>
            <a:r>
              <a:rPr sz="2000" b="1" spc="-25" dirty="0">
                <a:latin typeface="Arial"/>
                <a:cs typeface="Arial"/>
              </a:rPr>
              <a:t>an</a:t>
            </a:r>
            <a:endParaRPr sz="2000" dirty="0">
              <a:latin typeface="Arial"/>
              <a:cs typeface="Arial"/>
            </a:endParaRPr>
          </a:p>
          <a:p>
            <a:pPr marL="2380615" marR="5080" algn="ctr">
              <a:lnSpc>
                <a:spcPts val="2160"/>
              </a:lnSpc>
              <a:spcBef>
                <a:spcPts val="155"/>
              </a:spcBef>
            </a:pPr>
            <a:r>
              <a:rPr sz="2000" b="1" dirty="0">
                <a:latin typeface="Arial"/>
                <a:cs typeface="Arial"/>
              </a:rPr>
              <a:t>excavator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$300,000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term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60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months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 </a:t>
            </a:r>
            <a:r>
              <a:rPr sz="2000" b="1" spc="-10" dirty="0">
                <a:latin typeface="Arial"/>
                <a:cs typeface="Arial"/>
              </a:rPr>
              <a:t>wants </a:t>
            </a:r>
            <a:r>
              <a:rPr sz="2000" b="1" dirty="0">
                <a:latin typeface="Arial"/>
                <a:cs typeface="Arial"/>
              </a:rPr>
              <a:t>information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possible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financing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options: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B8D7E9F-E357-F794-0240-9459C786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213804"/>
            <a:ext cx="8382000" cy="542664"/>
          </a:xfrm>
        </p:spPr>
        <p:txBody>
          <a:bodyPr/>
          <a:lstStyle/>
          <a:p>
            <a:br>
              <a:rPr lang="en-CA" sz="3200" b="1" dirty="0">
                <a:latin typeface="Arial"/>
                <a:cs typeface="Arial"/>
              </a:rPr>
            </a:br>
            <a:r>
              <a:rPr lang="en-CA" sz="2000" b="1" dirty="0">
                <a:latin typeface="Arial"/>
                <a:cs typeface="Arial"/>
              </a:rPr>
              <a:t>The</a:t>
            </a:r>
            <a:r>
              <a:rPr lang="en-CA" sz="2000" b="1" spc="-15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differences</a:t>
            </a:r>
            <a:r>
              <a:rPr lang="en-CA" sz="2000" b="1" spc="-10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between</a:t>
            </a:r>
            <a:r>
              <a:rPr lang="en-CA" sz="2000" b="1" spc="-10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the</a:t>
            </a:r>
            <a:r>
              <a:rPr lang="en-CA" sz="2000" b="1" spc="-15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accounting</a:t>
            </a:r>
            <a:r>
              <a:rPr lang="en-CA" sz="2000" b="1" spc="-10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and</a:t>
            </a:r>
            <a:r>
              <a:rPr lang="en-CA" sz="2000" b="1" spc="-10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tax</a:t>
            </a:r>
            <a:r>
              <a:rPr lang="en-CA" sz="2000" b="1" spc="-10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treatment</a:t>
            </a:r>
            <a:r>
              <a:rPr lang="en-CA" sz="2000" b="1" spc="-15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of</a:t>
            </a:r>
            <a:r>
              <a:rPr lang="en-CA" sz="2000" b="1" spc="-10" dirty="0">
                <a:latin typeface="Arial"/>
                <a:cs typeface="Arial"/>
              </a:rPr>
              <a:t> </a:t>
            </a:r>
            <a:r>
              <a:rPr lang="en-CA" sz="2000" b="1" dirty="0">
                <a:latin typeface="Arial"/>
                <a:cs typeface="Arial"/>
              </a:rPr>
              <a:t>different</a:t>
            </a:r>
            <a:r>
              <a:rPr lang="en-CA" sz="2000" b="1" spc="-10" dirty="0">
                <a:latin typeface="Arial"/>
                <a:cs typeface="Arial"/>
              </a:rPr>
              <a:t> products</a:t>
            </a:r>
            <a:br>
              <a:rPr lang="en-CA" sz="3200" dirty="0">
                <a:latin typeface="Arial"/>
                <a:cs typeface="Arial"/>
              </a:rPr>
            </a:br>
            <a:endParaRPr lang="en-CA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25650" y="4106926"/>
          <a:ext cx="8128634" cy="2374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Option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1: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Financing</a:t>
                      </a:r>
                      <a:r>
                        <a:rPr sz="1600" i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600" i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600" i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purchase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95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Option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2: </a:t>
                      </a:r>
                      <a:r>
                        <a:rPr sz="18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Operating</a:t>
                      </a:r>
                      <a:r>
                        <a:rPr sz="18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lease agreement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Option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3: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2075" marR="842644">
                        <a:lnSpc>
                          <a:spcPct val="100000"/>
                        </a:lnSpc>
                      </a:pPr>
                      <a:r>
                        <a:rPr sz="18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Lease</a:t>
                      </a:r>
                      <a:r>
                        <a:rPr sz="1800" i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acquisition contract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4A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Term: 5 </a:t>
                      </a:r>
                      <a:r>
                        <a:rPr sz="1750" spc="-10" dirty="0">
                          <a:latin typeface="Arial"/>
                          <a:cs typeface="Arial"/>
                        </a:rPr>
                        <a:t>years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Term: 5 </a:t>
                      </a:r>
                      <a:r>
                        <a:rPr sz="1750" spc="-10" dirty="0">
                          <a:latin typeface="Arial"/>
                          <a:cs typeface="Arial"/>
                        </a:rPr>
                        <a:t>years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750" dirty="0">
                          <a:latin typeface="Arial"/>
                          <a:cs typeface="Arial"/>
                        </a:rPr>
                        <a:t>Term: 5 </a:t>
                      </a:r>
                      <a:r>
                        <a:rPr sz="1750" spc="-10" dirty="0">
                          <a:latin typeface="Arial"/>
                          <a:cs typeface="Arial"/>
                        </a:rPr>
                        <a:t>years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91440">
                        <a:lnSpc>
                          <a:spcPts val="208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Interest rate: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7.50%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8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Interest rate: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7.50%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8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Interest rate: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7.50%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Monthly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payment: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Monthly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payment: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6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Monthly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payment: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ts val="2060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$6011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60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4308$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60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6011$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964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Purchase</a:t>
                      </a:r>
                      <a:r>
                        <a:rPr sz="1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option:</a:t>
                      </a:r>
                      <a:r>
                        <a:rPr sz="1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10" dirty="0">
                          <a:latin typeface="Arial"/>
                          <a:cs typeface="Arial"/>
                        </a:rPr>
                        <a:t>85,000$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950"/>
                        </a:lnSpc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Purchase</a:t>
                      </a:r>
                      <a:r>
                        <a:rPr sz="17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option:</a:t>
                      </a:r>
                      <a:r>
                        <a:rPr sz="17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25" dirty="0">
                          <a:latin typeface="Arial"/>
                          <a:cs typeface="Arial"/>
                        </a:rPr>
                        <a:t>1$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7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68BA9CC1-50FE-F49F-8FB8-8D505950C4E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546912" y="1094498"/>
            <a:ext cx="10852150" cy="4780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0325" algn="ctr">
              <a:lnSpc>
                <a:spcPct val="100000"/>
              </a:lnSpc>
              <a:spcBef>
                <a:spcPts val="13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Differences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</a:t>
            </a:r>
            <a:r>
              <a:rPr sz="2200" b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leases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Option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1: Financing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purchase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431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Accounting: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buys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excavator,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control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appear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on </a:t>
            </a:r>
            <a:r>
              <a:rPr sz="1800" dirty="0">
                <a:latin typeface="Arial"/>
                <a:cs typeface="Arial"/>
              </a:rPr>
              <a:t>their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company's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balance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sheet.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excavator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occur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useful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life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annual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(reduction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value)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Five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years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would </a:t>
            </a:r>
            <a:r>
              <a:rPr sz="1800" dirty="0">
                <a:latin typeface="Arial"/>
                <a:cs typeface="Arial"/>
              </a:rPr>
              <a:t>represent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rate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20%.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funds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borrowed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as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liability.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Throughout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year,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principal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portion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liability,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portion,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expense,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operating</a:t>
            </a:r>
            <a:r>
              <a:rPr sz="1800" spc="-10" dirty="0">
                <a:latin typeface="Arial"/>
                <a:cs typeface="Arial"/>
              </a:rPr>
              <a:t> income.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Taxes: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accounting,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associated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(DPA)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will </a:t>
            </a:r>
            <a:r>
              <a:rPr sz="1800" dirty="0">
                <a:latin typeface="Arial"/>
                <a:cs typeface="Arial"/>
              </a:rPr>
              <a:t>apply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calculated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estimated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useful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life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applicable </a:t>
            </a:r>
            <a:r>
              <a:rPr sz="1800" dirty="0">
                <a:latin typeface="Arial"/>
                <a:cs typeface="Arial"/>
              </a:rPr>
              <a:t>deduction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rate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type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rate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would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30%.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accounting,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repayments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deductible.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However,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paid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period.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7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E49BE70-B767-782A-B1B5-1A3396F5F94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546912" y="1094498"/>
            <a:ext cx="10877550" cy="50552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925" algn="ctr">
              <a:lnSpc>
                <a:spcPct val="100000"/>
              </a:lnSpc>
              <a:spcBef>
                <a:spcPts val="13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Differences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</a:t>
            </a:r>
            <a:r>
              <a:rPr sz="2200" b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leases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587240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Option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2: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Operating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agreement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311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Accounting: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financing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through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generally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results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recovery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realization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profit.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results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reasonably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high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monthly </a:t>
            </a:r>
            <a:r>
              <a:rPr sz="1800" dirty="0">
                <a:latin typeface="Arial"/>
                <a:cs typeface="Arial"/>
              </a:rPr>
              <a:t>financial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commitment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considered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under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control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leased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appear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balance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sheet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liability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recorded.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0" dirty="0">
                <a:latin typeface="Arial"/>
                <a:cs typeface="Arial"/>
              </a:rPr>
              <a:t> account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ownership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financial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statements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neither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expenses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portion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However,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show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amount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lease </a:t>
            </a:r>
            <a:r>
              <a:rPr sz="1800" dirty="0">
                <a:latin typeface="Arial"/>
                <a:cs typeface="Arial"/>
              </a:rPr>
              <a:t>payments,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calculation.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Taxes: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CCA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Unlike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purchase </a:t>
            </a:r>
            <a:r>
              <a:rPr sz="1800" dirty="0">
                <a:latin typeface="Arial"/>
                <a:cs typeface="Arial"/>
              </a:rPr>
              <a:t>option,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under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income,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total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amount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deducted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However,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depends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whether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exercises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their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option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or </a:t>
            </a:r>
            <a:r>
              <a:rPr sz="1800" spc="-10" dirty="0">
                <a:latin typeface="Arial"/>
                <a:cs typeface="Arial"/>
              </a:rPr>
              <a:t>refinancing.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7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differences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between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the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accounting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and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tax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treatment</a:t>
            </a:r>
            <a:r>
              <a:rPr sz="1900" b="1" spc="-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of</a:t>
            </a:r>
            <a:r>
              <a:rPr sz="1900" b="1" spc="-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different</a:t>
            </a:r>
            <a:r>
              <a:rPr sz="1900" b="1" spc="-10" dirty="0">
                <a:latin typeface="Arial"/>
                <a:cs typeface="Arial"/>
              </a:rPr>
              <a:t> products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1430ED8-9C1A-9567-3F3D-3F744D0F8E8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546912" y="1094498"/>
            <a:ext cx="10749915" cy="4780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2560" algn="ctr">
              <a:lnSpc>
                <a:spcPct val="100000"/>
              </a:lnSpc>
              <a:spcBef>
                <a:spcPts val="130"/>
              </a:spcBef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Differences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loans</a:t>
            </a:r>
            <a:r>
              <a:rPr sz="2200" b="1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</a:t>
            </a:r>
            <a:r>
              <a:rPr sz="2200" b="1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65"/>
              </a:spcBef>
              <a:tabLst>
                <a:tab pos="4511040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Option</a:t>
            </a:r>
            <a:r>
              <a:rPr sz="18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3:</a:t>
            </a:r>
            <a:r>
              <a:rPr sz="18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Lease-to-own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contract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Accounting: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Regarding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lease-to-own,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deemed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assumed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benefits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obligations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related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ownership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excavator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during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assessment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based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total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automatic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non- </a:t>
            </a:r>
            <a:r>
              <a:rPr sz="1800" dirty="0">
                <a:latin typeface="Arial"/>
                <a:cs typeface="Arial"/>
              </a:rPr>
              <a:t>transfer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ownership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Consequently,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excavator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liability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repaid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over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lease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recorded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balance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sheet.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control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presumed,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its </a:t>
            </a:r>
            <a:r>
              <a:rPr sz="1800" dirty="0">
                <a:latin typeface="Arial"/>
                <a:cs typeface="Arial"/>
              </a:rPr>
              <a:t>depreciation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lease-to-</a:t>
            </a:r>
            <a:r>
              <a:rPr sz="1800" dirty="0">
                <a:latin typeface="Arial"/>
                <a:cs typeface="Arial"/>
              </a:rPr>
              <a:t>own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purchase.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Unlike </a:t>
            </a:r>
            <a:r>
              <a:rPr sz="1800" dirty="0">
                <a:latin typeface="Arial"/>
                <a:cs typeface="Arial"/>
              </a:rPr>
              <a:t>what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happens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lease-to-</a:t>
            </a:r>
            <a:r>
              <a:rPr sz="1800" dirty="0">
                <a:latin typeface="Arial"/>
                <a:cs typeface="Arial"/>
              </a:rPr>
              <a:t>own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treated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as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repayments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interest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portion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charged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expenses.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800">
              <a:latin typeface="Arial"/>
              <a:cs typeface="Arial"/>
            </a:endParaRPr>
          </a:p>
          <a:p>
            <a:pPr marL="12700" marR="55244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Taxes: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Even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though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excavator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appears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balance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sheet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accounting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CCA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be </a:t>
            </a:r>
            <a:r>
              <a:rPr sz="1800" dirty="0">
                <a:latin typeface="Arial"/>
                <a:cs typeface="Arial"/>
              </a:rPr>
              <a:t>calculated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However,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full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amount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lease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deductible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purposes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(interest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principal).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SUMMARY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(5-</a:t>
            </a:r>
            <a:r>
              <a:rPr sz="2400" b="1" dirty="0">
                <a:latin typeface="Arial"/>
                <a:cs typeface="Arial"/>
              </a:rPr>
              <a:t>year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term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completed):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Sous-titre 17">
            <a:extLst>
              <a:ext uri="{FF2B5EF4-FFF2-40B4-BE49-F238E27FC236}">
                <a16:creationId xmlns:a16="http://schemas.microsoft.com/office/drawing/2014/main" id="{2C71F432-E363-1E6E-EBAD-6C5184F83C6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3" name="object 3"/>
          <p:cNvGrpSpPr/>
          <p:nvPr/>
        </p:nvGrpSpPr>
        <p:grpSpPr>
          <a:xfrm>
            <a:off x="2032000" y="1156728"/>
            <a:ext cx="8128000" cy="306070"/>
            <a:chOff x="2032000" y="1156728"/>
            <a:chExt cx="8128000" cy="306070"/>
          </a:xfrm>
        </p:grpSpPr>
        <p:sp>
          <p:nvSpPr>
            <p:cNvPr id="4" name="object 4"/>
            <p:cNvSpPr/>
            <p:nvPr/>
          </p:nvSpPr>
          <p:spPr>
            <a:xfrm>
              <a:off x="2032000" y="1157986"/>
              <a:ext cx="8128000" cy="299085"/>
            </a:xfrm>
            <a:custGeom>
              <a:avLst/>
              <a:gdLst/>
              <a:ahLst/>
              <a:cxnLst/>
              <a:rect l="l" t="t" r="r" b="b"/>
              <a:pathLst>
                <a:path w="8128000" h="299084">
                  <a:moveTo>
                    <a:pt x="8128000" y="0"/>
                  </a:moveTo>
                  <a:lnTo>
                    <a:pt x="0" y="0"/>
                  </a:lnTo>
                  <a:lnTo>
                    <a:pt x="0" y="298576"/>
                  </a:lnTo>
                  <a:lnTo>
                    <a:pt x="8128000" y="298576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6440" y="1156728"/>
              <a:ext cx="590550" cy="30554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032000" y="3544836"/>
            <a:ext cx="8128000" cy="306070"/>
            <a:chOff x="2032000" y="3544836"/>
            <a:chExt cx="8128000" cy="306070"/>
          </a:xfrm>
        </p:grpSpPr>
        <p:sp>
          <p:nvSpPr>
            <p:cNvPr id="7" name="object 7"/>
            <p:cNvSpPr/>
            <p:nvPr/>
          </p:nvSpPr>
          <p:spPr>
            <a:xfrm>
              <a:off x="2032000" y="3546475"/>
              <a:ext cx="8128000" cy="299085"/>
            </a:xfrm>
            <a:custGeom>
              <a:avLst/>
              <a:gdLst/>
              <a:ahLst/>
              <a:cxnLst/>
              <a:rect l="l" t="t" r="r" b="b"/>
              <a:pathLst>
                <a:path w="8128000" h="299085">
                  <a:moveTo>
                    <a:pt x="8128000" y="0"/>
                  </a:moveTo>
                  <a:lnTo>
                    <a:pt x="0" y="0"/>
                  </a:lnTo>
                  <a:lnTo>
                    <a:pt x="0" y="298576"/>
                  </a:lnTo>
                  <a:lnTo>
                    <a:pt x="8128000" y="298576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5127" y="3544836"/>
              <a:ext cx="1771650" cy="30554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032000" y="5151120"/>
            <a:ext cx="8128000" cy="304165"/>
            <a:chOff x="2032000" y="5151120"/>
            <a:chExt cx="8128000" cy="304165"/>
          </a:xfrm>
        </p:grpSpPr>
        <p:sp>
          <p:nvSpPr>
            <p:cNvPr id="10" name="object 10"/>
            <p:cNvSpPr/>
            <p:nvPr/>
          </p:nvSpPr>
          <p:spPr>
            <a:xfrm>
              <a:off x="2032000" y="5152263"/>
              <a:ext cx="8128000" cy="299085"/>
            </a:xfrm>
            <a:custGeom>
              <a:avLst/>
              <a:gdLst/>
              <a:ahLst/>
              <a:cxnLst/>
              <a:rect l="l" t="t" r="r" b="b"/>
              <a:pathLst>
                <a:path w="8128000" h="299085">
                  <a:moveTo>
                    <a:pt x="8128000" y="0"/>
                  </a:moveTo>
                  <a:lnTo>
                    <a:pt x="0" y="0"/>
                  </a:lnTo>
                  <a:lnTo>
                    <a:pt x="0" y="298577"/>
                  </a:lnTo>
                  <a:lnTo>
                    <a:pt x="8128000" y="298577"/>
                  </a:lnTo>
                  <a:lnTo>
                    <a:pt x="8128000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8700" y="5151120"/>
              <a:ext cx="2526029" cy="304038"/>
            </a:xfrm>
            <a:prstGeom prst="rect">
              <a:avLst/>
            </a:prstGeom>
          </p:spPr>
        </p:pic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025650" y="853058"/>
          <a:ext cx="8128000" cy="578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6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Purchase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Operating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lease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Lease-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acquisition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 gridSpan="4">
                  <a:txBody>
                    <a:bodyPr/>
                    <a:lstStyle/>
                    <a:p>
                      <a:pPr marL="3861435" marR="3853179">
                        <a:lnSpc>
                          <a:spcPts val="590"/>
                        </a:lnSpc>
                        <a:spcBef>
                          <a:spcPts val="430"/>
                        </a:spcBef>
                        <a:tabLst>
                          <a:tab pos="4267200" algn="l"/>
                        </a:tabLst>
                      </a:pPr>
                      <a:r>
                        <a:rPr sz="500" b="1" spc="-10" dirty="0">
                          <a:latin typeface="Arial"/>
                          <a:cs typeface="Arial"/>
                        </a:rPr>
                        <a:t>BALANCE</a:t>
                      </a:r>
                      <a:r>
                        <a:rPr sz="500" b="1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00" b="1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SHEET</a:t>
                      </a:r>
                      <a:r>
                        <a:rPr sz="5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ASSET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Equipment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$300,000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300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000$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Accumulated</a:t>
                      </a:r>
                      <a:r>
                        <a:rPr sz="1000" b="1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latin typeface="Arial"/>
                          <a:cs typeface="Arial"/>
                        </a:rPr>
                        <a:t>depreciation</a:t>
                      </a:r>
                      <a:r>
                        <a:rPr sz="1000" b="1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5" dirty="0">
                          <a:latin typeface="Arial"/>
                          <a:cs typeface="Arial"/>
                        </a:rPr>
                        <a:t>(1)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(189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408$)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(189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408$)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650" b="1" spc="-10" dirty="0">
                          <a:latin typeface="Arial"/>
                          <a:cs typeface="Arial"/>
                        </a:rPr>
                        <a:t>LIABILITIES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20" dirty="0">
                          <a:latin typeface="Arial"/>
                          <a:cs typeface="Arial"/>
                        </a:rPr>
                        <a:t>Debt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(300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000$)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(300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000$)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Capital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repayment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300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000$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300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000$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Increase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 assets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110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592$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110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592$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95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STATEMENT</a:t>
                      </a:r>
                      <a:r>
                        <a:rPr sz="950" b="1" u="sng" spc="114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OF</a:t>
                      </a:r>
                      <a:r>
                        <a:rPr sz="950" b="1" u="sng" spc="114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5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RESULTS</a:t>
                      </a:r>
                      <a:endParaRPr sz="95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Interest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expenses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60</a:t>
                      </a:r>
                      <a:r>
                        <a:rPr sz="105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683$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60,683$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Depreciation </a:t>
                      </a:r>
                      <a:r>
                        <a:rPr sz="1050" b="1" spc="-25" dirty="0">
                          <a:latin typeface="Arial"/>
                          <a:cs typeface="Arial"/>
                        </a:rPr>
                        <a:t>(1)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189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408$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189,408$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Lease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payment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258,490$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91440" marR="866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Added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operating expenses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250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091$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258,490$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250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091$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450">
                <a:tc gridSpan="4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DEDUCTIONS FOR TAX </a:t>
                      </a:r>
                      <a:r>
                        <a:rPr sz="105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PURPOSES</a:t>
                      </a:r>
                      <a:r>
                        <a:rPr sz="105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Depreciation deduction </a:t>
                      </a:r>
                      <a:r>
                        <a:rPr sz="1050" b="1" spc="-25" dirty="0">
                          <a:latin typeface="Arial"/>
                          <a:cs typeface="Arial"/>
                        </a:rPr>
                        <a:t>(1)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238,775$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Interest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charges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spc="-10" dirty="0">
                          <a:latin typeface="Arial"/>
                          <a:cs typeface="Arial"/>
                        </a:rPr>
                        <a:t>60,693$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Lease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rent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spc="-50" dirty="0">
                          <a:latin typeface="Arial"/>
                          <a:cs typeface="Arial"/>
                        </a:rPr>
                        <a:t>-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258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490$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360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683$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Total </a:t>
                      </a:r>
                      <a:r>
                        <a:rPr sz="1050" b="1" spc="-10" dirty="0">
                          <a:latin typeface="Arial"/>
                          <a:cs typeface="Arial"/>
                        </a:rPr>
                        <a:t>deductions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299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458$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258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490$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50" b="1" dirty="0">
                          <a:latin typeface="Arial"/>
                          <a:cs typeface="Arial"/>
                        </a:rPr>
                        <a:t>360</a:t>
                      </a:r>
                      <a:r>
                        <a:rPr sz="1050" b="1" spc="-20" dirty="0">
                          <a:latin typeface="Arial"/>
                          <a:cs typeface="Arial"/>
                        </a:rPr>
                        <a:t> 683$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87211" y="1342612"/>
            <a:ext cx="428993" cy="3571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95900" y="3730720"/>
            <a:ext cx="1610105" cy="357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19471" y="5335492"/>
            <a:ext cx="2364485" cy="3571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479265" y="4231385"/>
            <a:ext cx="126301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4445" algn="ctr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Operating</a:t>
            </a:r>
            <a:r>
              <a:rPr sz="1000" b="1" spc="-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expenses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tax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deductions </a:t>
            </a:r>
            <a:r>
              <a:rPr sz="1000" b="1" dirty="0">
                <a:latin typeface="Arial"/>
                <a:cs typeface="Arial"/>
              </a:rPr>
              <a:t>are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based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on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the </a:t>
            </a:r>
            <a:r>
              <a:rPr sz="1000" b="1" dirty="0">
                <a:latin typeface="Arial"/>
                <a:cs typeface="Arial"/>
              </a:rPr>
              <a:t>duration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of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lease </a:t>
            </a:r>
            <a:r>
              <a:rPr sz="1000" b="1" dirty="0">
                <a:latin typeface="Arial"/>
                <a:cs typeface="Arial"/>
              </a:rPr>
              <a:t>and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have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not</a:t>
            </a:r>
            <a:r>
              <a:rPr sz="1000" b="1" spc="-20" dirty="0">
                <a:latin typeface="Arial"/>
                <a:cs typeface="Arial"/>
              </a:rPr>
              <a:t> been </a:t>
            </a:r>
            <a:r>
              <a:rPr sz="1000" b="1" dirty="0">
                <a:latin typeface="Arial"/>
                <a:cs typeface="Arial"/>
              </a:rPr>
              <a:t>taken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into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account.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"/>
              <a:cs typeface="Arial"/>
            </a:endParaRPr>
          </a:p>
          <a:p>
            <a:pPr marL="69850" marR="20955" indent="-38735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(1)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The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depreciation </a:t>
            </a:r>
            <a:r>
              <a:rPr sz="1000" b="1" dirty="0">
                <a:latin typeface="Arial"/>
                <a:cs typeface="Arial"/>
              </a:rPr>
              <a:t>is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20%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per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year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for</a:t>
            </a:r>
            <a:endParaRPr sz="1000">
              <a:latin typeface="Arial"/>
              <a:cs typeface="Arial"/>
            </a:endParaRPr>
          </a:p>
          <a:p>
            <a:pPr marL="24130" marR="13970" algn="ctr">
              <a:lnSpc>
                <a:spcPct val="100000"/>
              </a:lnSpc>
            </a:pPr>
            <a:r>
              <a:rPr sz="1000" b="1" spc="-10" dirty="0">
                <a:latin typeface="Arial"/>
                <a:cs typeface="Arial"/>
              </a:rPr>
              <a:t>accounting </a:t>
            </a:r>
            <a:r>
              <a:rPr sz="1000" b="1" dirty="0">
                <a:latin typeface="Arial"/>
                <a:cs typeface="Arial"/>
              </a:rPr>
              <a:t>purposes,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while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the </a:t>
            </a:r>
            <a:r>
              <a:rPr sz="1000" b="1" spc="-10" dirty="0">
                <a:latin typeface="Arial"/>
                <a:cs typeface="Arial"/>
              </a:rPr>
              <a:t>deductions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allowed </a:t>
            </a:r>
            <a:r>
              <a:rPr sz="1000" b="1" dirty="0">
                <a:latin typeface="Arial"/>
                <a:cs typeface="Arial"/>
              </a:rPr>
              <a:t>for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tax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purposes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25" dirty="0">
                <a:latin typeface="Arial"/>
                <a:cs typeface="Arial"/>
              </a:rPr>
              <a:t>are </a:t>
            </a:r>
            <a:r>
              <a:rPr sz="1000" b="1" spc="-20" dirty="0">
                <a:latin typeface="Arial"/>
                <a:cs typeface="Arial"/>
              </a:rPr>
              <a:t>30%.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888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differences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between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accounting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tax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treatment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different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products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8E492FCC-378F-84DD-D388-5CE8B95186B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object 3"/>
          <p:cNvSpPr txBox="1"/>
          <p:nvPr/>
        </p:nvSpPr>
        <p:spPr>
          <a:xfrm>
            <a:off x="3141091" y="1092453"/>
            <a:ext cx="5293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Comparative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financial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products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1890522"/>
          <a:ext cx="10514962" cy="4371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Factors</a:t>
                      </a:r>
                      <a:r>
                        <a:rPr sz="14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50" b="1" spc="-20" dirty="0">
                          <a:latin typeface="Arial"/>
                          <a:cs typeface="Arial"/>
                        </a:rPr>
                        <a:t>Loan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5441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Lease-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acquisition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Location-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exploitation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Property</a:t>
                      </a:r>
                      <a:r>
                        <a:rPr sz="14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0965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Immediate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635" marR="57150" indent="-576580">
                        <a:lnSpc>
                          <a:spcPts val="1480"/>
                        </a:lnSpc>
                        <a:spcBef>
                          <a:spcPts val="375"/>
                        </a:spcBef>
                      </a:pPr>
                      <a:r>
                        <a:rPr sz="1300" dirty="0">
                          <a:latin typeface="Arial"/>
                          <a:cs typeface="Arial"/>
                        </a:rPr>
                        <a:t>Lease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option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purchase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25" dirty="0">
                          <a:latin typeface="Arial"/>
                          <a:cs typeface="Arial"/>
                        </a:rPr>
                        <a:t>the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46430" marR="63500" indent="-575310">
                        <a:lnSpc>
                          <a:spcPts val="1480"/>
                        </a:lnSpc>
                        <a:spcBef>
                          <a:spcPts val="375"/>
                        </a:spcBef>
                      </a:pPr>
                      <a:r>
                        <a:rPr sz="1300" dirty="0">
                          <a:latin typeface="Arial"/>
                          <a:cs typeface="Arial"/>
                        </a:rPr>
                        <a:t>Lease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option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purchase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13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lease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248920" algn="l"/>
                        </a:tabLst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Capital </a:t>
                      </a: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accumulation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81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Faster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635">
                        <a:lnSpc>
                          <a:spcPts val="565"/>
                        </a:lnSpc>
                      </a:pPr>
                      <a:r>
                        <a:rPr sz="1300" spc="-10" dirty="0">
                          <a:latin typeface="Arial"/>
                          <a:cs typeface="Arial"/>
                        </a:rPr>
                        <a:t>lease</a:t>
                      </a:r>
                      <a:endParaRPr sz="1300">
                        <a:latin typeface="Arial"/>
                        <a:cs typeface="Arial"/>
                      </a:endParaRPr>
                    </a:p>
                    <a:p>
                      <a:pPr marR="128905" algn="ctr">
                        <a:lnSpc>
                          <a:spcPts val="1335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Slower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None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381000" algn="l"/>
                        </a:tabLst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Tax</a:t>
                      </a: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depreciation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Client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Client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HCC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Payment</a:t>
                      </a:r>
                      <a:r>
                        <a:rPr sz="14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160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Higher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879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Lower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397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lowest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25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Purchase</a:t>
                      </a:r>
                      <a:r>
                        <a:rPr sz="1250" b="1" u="sng" spc="-7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option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N/A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Bargain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JVM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  <a:tabLst>
                          <a:tab pos="285750" algn="l"/>
                        </a:tabLst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Personal</a:t>
                      </a:r>
                      <a:r>
                        <a:rPr sz="1400" b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property</a:t>
                      </a: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taxes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27329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Payment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client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varies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3177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by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state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Payment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by the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client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and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74993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varies by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state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48665" marR="135255" indent="-607060">
                        <a:lnSpc>
                          <a:spcPts val="1470"/>
                        </a:lnSpc>
                        <a:spcBef>
                          <a:spcPts val="380"/>
                        </a:spcBef>
                      </a:pPr>
                      <a:r>
                        <a:rPr sz="1300" dirty="0">
                          <a:latin typeface="Arial"/>
                          <a:cs typeface="Arial"/>
                        </a:rPr>
                        <a:t>HCC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pays</a:t>
                      </a:r>
                      <a:r>
                        <a:rPr sz="13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customer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receives</a:t>
                      </a:r>
                      <a:r>
                        <a:rPr sz="13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3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latin typeface="Arial"/>
                          <a:cs typeface="Arial"/>
                        </a:rPr>
                        <a:t>invoice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8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610870" algn="l"/>
                        </a:tabLst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	Additional </a:t>
                      </a: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information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46100" marR="58801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-Client's property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depreciation.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77165" marR="218440" algn="ctr">
                        <a:lnSpc>
                          <a:spcPts val="1680"/>
                        </a:lnSpc>
                        <a:spcBef>
                          <a:spcPts val="5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Immediate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capital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down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payment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or an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exchange.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95275" marR="336550" indent="1377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-A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purchase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option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bargain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reduces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6830" marR="29845" indent="-501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payment.-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1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can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absorb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depreciation.-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Capital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accumulation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slow.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25425" marR="267335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-Features</a:t>
                      </a:r>
                      <a:r>
                        <a:rPr sz="14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loan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with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lower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payments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14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lease.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35305" marR="5746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Optional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ownership.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95580" marR="237490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customer</a:t>
                      </a:r>
                      <a:r>
                        <a:rPr sz="14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treats</a:t>
                      </a:r>
                      <a:r>
                        <a:rPr sz="14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unit as a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lease.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643890" marR="634365" indent="-50165" algn="ctr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No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capital accumulation.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003291" y="2120264"/>
            <a:ext cx="347980" cy="18415"/>
          </a:xfrm>
          <a:custGeom>
            <a:avLst/>
            <a:gdLst/>
            <a:ahLst/>
            <a:cxnLst/>
            <a:rect l="l" t="t" r="r" b="b"/>
            <a:pathLst>
              <a:path w="347979" h="18414">
                <a:moveTo>
                  <a:pt x="347472" y="0"/>
                </a:moveTo>
                <a:lnTo>
                  <a:pt x="0" y="0"/>
                </a:lnTo>
                <a:lnTo>
                  <a:pt x="0" y="18287"/>
                </a:lnTo>
                <a:lnTo>
                  <a:pt x="347472" y="18287"/>
                </a:lnTo>
                <a:lnTo>
                  <a:pt x="347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17435" y="2120264"/>
            <a:ext cx="1732914" cy="18415"/>
          </a:xfrm>
          <a:custGeom>
            <a:avLst/>
            <a:gdLst/>
            <a:ahLst/>
            <a:cxnLst/>
            <a:rect l="l" t="t" r="r" b="b"/>
            <a:pathLst>
              <a:path w="1732915" h="18414">
                <a:moveTo>
                  <a:pt x="1732788" y="0"/>
                </a:moveTo>
                <a:lnTo>
                  <a:pt x="0" y="0"/>
                </a:lnTo>
                <a:lnTo>
                  <a:pt x="0" y="18288"/>
                </a:lnTo>
                <a:lnTo>
                  <a:pt x="1732788" y="18288"/>
                </a:lnTo>
                <a:lnTo>
                  <a:pt x="17327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63633" y="2120264"/>
            <a:ext cx="1792605" cy="18415"/>
          </a:xfrm>
          <a:custGeom>
            <a:avLst/>
            <a:gdLst/>
            <a:ahLst/>
            <a:cxnLst/>
            <a:rect l="l" t="t" r="r" b="b"/>
            <a:pathLst>
              <a:path w="1792604" h="18414">
                <a:moveTo>
                  <a:pt x="1792224" y="0"/>
                </a:moveTo>
                <a:lnTo>
                  <a:pt x="0" y="0"/>
                </a:lnTo>
                <a:lnTo>
                  <a:pt x="0" y="18288"/>
                </a:lnTo>
                <a:lnTo>
                  <a:pt x="1792224" y="18288"/>
                </a:lnTo>
                <a:lnTo>
                  <a:pt x="17922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741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Myths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Sous-titre 16">
            <a:extLst>
              <a:ext uri="{FF2B5EF4-FFF2-40B4-BE49-F238E27FC236}">
                <a16:creationId xmlns:a16="http://schemas.microsoft.com/office/drawing/2014/main" id="{6215691C-66EA-8695-6DD6-FA286A9A80D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3" name="object 3"/>
          <p:cNvGrpSpPr/>
          <p:nvPr/>
        </p:nvGrpSpPr>
        <p:grpSpPr>
          <a:xfrm>
            <a:off x="1174126" y="1455432"/>
            <a:ext cx="1626235" cy="511809"/>
            <a:chOff x="1174126" y="1455432"/>
            <a:chExt cx="1626235" cy="51180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126" y="1637021"/>
              <a:ext cx="90908" cy="907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495" y="1455432"/>
              <a:ext cx="1361693" cy="51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5603" y="1455432"/>
              <a:ext cx="432054" cy="5112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2095" y="1455432"/>
              <a:ext cx="432054" cy="511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18587" y="1455432"/>
              <a:ext cx="381762" cy="51128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174126" y="3101352"/>
            <a:ext cx="1626235" cy="511809"/>
            <a:chOff x="1174126" y="3101352"/>
            <a:chExt cx="1626235" cy="511809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126" y="3282941"/>
              <a:ext cx="90908" cy="907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495" y="3101352"/>
              <a:ext cx="1361693" cy="5112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5603" y="3101352"/>
              <a:ext cx="432054" cy="51128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2095" y="3101352"/>
              <a:ext cx="432054" cy="511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18587" y="3101352"/>
              <a:ext cx="381762" cy="51128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45844" y="963929"/>
            <a:ext cx="9901555" cy="521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053080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BEWARE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MYTHS</a:t>
            </a:r>
            <a:r>
              <a:rPr sz="18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!!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▪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YTH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#1: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Yo</a:t>
            </a:r>
            <a:r>
              <a:rPr sz="1800" u="none" dirty="0">
                <a:latin typeface="Arial"/>
                <a:cs typeface="Arial"/>
              </a:rPr>
              <a:t>ur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monthly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rents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are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seen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expense.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▪"/>
            </a:pP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payments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lease-to-</a:t>
            </a:r>
            <a:r>
              <a:rPr sz="1800" dirty="0">
                <a:latin typeface="Arial"/>
                <a:cs typeface="Arial"/>
              </a:rPr>
              <a:t>own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contract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treated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like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loan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repayments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accounting </a:t>
            </a:r>
            <a:r>
              <a:rPr sz="1800" dirty="0">
                <a:latin typeface="Arial"/>
                <a:cs typeface="Arial"/>
              </a:rPr>
              <a:t>level.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However,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difference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 level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terms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depreciation.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Make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20" dirty="0">
                <a:latin typeface="Arial"/>
                <a:cs typeface="Arial"/>
              </a:rPr>
              <a:t>tell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truth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your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client!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▪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YTH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#2: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sz="1800" u="none" dirty="0">
                <a:latin typeface="Arial"/>
                <a:cs typeface="Arial"/>
              </a:rPr>
              <a:t>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operating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lease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more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advantageous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for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tax</a:t>
            </a:r>
            <a:r>
              <a:rPr sz="1800" u="none" spc="-10" dirty="0">
                <a:latin typeface="Arial"/>
                <a:cs typeface="Arial"/>
              </a:rPr>
              <a:t> purposes.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464566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False: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 saw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above,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 deductions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 </a:t>
            </a:r>
            <a:r>
              <a:rPr sz="1800" spc="-20" dirty="0">
                <a:latin typeface="Arial"/>
                <a:cs typeface="Arial"/>
              </a:rPr>
              <a:t>much </a:t>
            </a:r>
            <a:r>
              <a:rPr sz="1800" dirty="0">
                <a:latin typeface="Arial"/>
                <a:cs typeface="Arial"/>
              </a:rPr>
              <a:t>lower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 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case 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lease-to-</a:t>
            </a:r>
            <a:r>
              <a:rPr sz="1800" dirty="0">
                <a:latin typeface="Arial"/>
                <a:cs typeface="Arial"/>
              </a:rPr>
              <a:t>own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a </a:t>
            </a:r>
            <a:r>
              <a:rPr sz="1800" spc="-10" dirty="0">
                <a:latin typeface="Arial"/>
                <a:cs typeface="Arial"/>
              </a:rPr>
              <a:t>loan.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"/>
              <a:cs typeface="Arial"/>
            </a:endParaRPr>
          </a:p>
          <a:p>
            <a:pPr marL="12700" marR="581406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Advantages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operating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lease: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1-</a:t>
            </a:r>
            <a:r>
              <a:rPr sz="1800" spc="-10" dirty="0">
                <a:latin typeface="Arial"/>
                <a:cs typeface="Arial"/>
              </a:rPr>
              <a:t>Faster </a:t>
            </a:r>
            <a:r>
              <a:rPr sz="1800" dirty="0">
                <a:latin typeface="Arial"/>
                <a:cs typeface="Arial"/>
              </a:rPr>
              <a:t>equipment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change</a:t>
            </a:r>
            <a:r>
              <a:rPr sz="1800" spc="-10" dirty="0">
                <a:latin typeface="Arial"/>
                <a:cs typeface="Arial"/>
              </a:rPr>
              <a:t> 2-Off-</a:t>
            </a:r>
            <a:r>
              <a:rPr sz="1800" dirty="0">
                <a:latin typeface="Arial"/>
                <a:cs typeface="Arial"/>
              </a:rPr>
              <a:t>balance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sheet qualification</a:t>
            </a:r>
            <a:endParaRPr sz="1800">
              <a:latin typeface="Arial"/>
              <a:cs typeface="Arial"/>
            </a:endParaRPr>
          </a:p>
          <a:p>
            <a:pPr marL="12700" marR="6349365">
              <a:lnSpc>
                <a:spcPts val="2160"/>
              </a:lnSpc>
              <a:spcBef>
                <a:spcPts val="70"/>
              </a:spcBef>
            </a:pPr>
            <a:r>
              <a:rPr sz="1800" spc="-10" dirty="0">
                <a:latin typeface="Arial"/>
                <a:cs typeface="Arial"/>
              </a:rPr>
              <a:t>3-</a:t>
            </a:r>
            <a:r>
              <a:rPr sz="1800" dirty="0">
                <a:latin typeface="Arial"/>
                <a:cs typeface="Arial"/>
              </a:rPr>
              <a:t>Compliance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certain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financial </a:t>
            </a:r>
            <a:r>
              <a:rPr sz="1800" dirty="0">
                <a:latin typeface="Arial"/>
                <a:cs typeface="Arial"/>
              </a:rPr>
              <a:t>ratios 4-Smaller </a:t>
            </a:r>
            <a:r>
              <a:rPr sz="1800" spc="-20" dirty="0">
                <a:latin typeface="Arial"/>
                <a:cs typeface="Arial"/>
              </a:rPr>
              <a:t>rent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875"/>
              </a:lnSpc>
            </a:pPr>
            <a:r>
              <a:rPr sz="1600" spc="-10" dirty="0">
                <a:latin typeface="Arial"/>
                <a:cs typeface="Arial"/>
              </a:rPr>
              <a:t>5-</a:t>
            </a:r>
            <a:r>
              <a:rPr sz="1600" dirty="0">
                <a:latin typeface="Arial"/>
                <a:cs typeface="Arial"/>
              </a:rPr>
              <a:t>Absence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residual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risk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lease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2142744"/>
            <a:ext cx="5748528" cy="32324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789164" y="3400056"/>
            <a:ext cx="3202940" cy="786130"/>
            <a:chOff x="7789164" y="3400056"/>
            <a:chExt cx="3202940" cy="7861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9540" y="3532444"/>
              <a:ext cx="976766" cy="1871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0704" y="3400056"/>
              <a:ext cx="723138" cy="51128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62288" y="3400056"/>
              <a:ext cx="1703070" cy="5112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59796" y="3400056"/>
              <a:ext cx="432053" cy="511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9164" y="3674376"/>
              <a:ext cx="3041142" cy="51128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758810" y="3456279"/>
            <a:ext cx="30873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marR="5080" indent="-163195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There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are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only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2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times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life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– </a:t>
            </a:r>
            <a:r>
              <a:rPr sz="1800" i="1" dirty="0">
                <a:latin typeface="Arial"/>
                <a:cs typeface="Arial"/>
              </a:rPr>
              <a:t>NOW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OR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IT’S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TOO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LATE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080" indent="-7442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Questions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about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product</a:t>
            </a:r>
            <a:r>
              <a:rPr sz="1800" b="1" spc="-10" dirty="0">
                <a:latin typeface="Arial"/>
                <a:cs typeface="Arial"/>
              </a:rPr>
              <a:t> concepts </a:t>
            </a:r>
            <a:r>
              <a:rPr sz="1800" b="1" dirty="0">
                <a:latin typeface="Arial"/>
                <a:cs typeface="Arial"/>
              </a:rPr>
              <a:t>we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just </a:t>
            </a:r>
            <a:r>
              <a:rPr sz="1800" b="1" spc="-10" dirty="0">
                <a:latin typeface="Arial"/>
                <a:cs typeface="Arial"/>
              </a:rPr>
              <a:t>covered?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Sous-titre 11">
            <a:extLst>
              <a:ext uri="{FF2B5EF4-FFF2-40B4-BE49-F238E27FC236}">
                <a16:creationId xmlns:a16="http://schemas.microsoft.com/office/drawing/2014/main" id="{000EB1D8-5437-85D7-03DC-FD4B4A37E9C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10600" y="6611111"/>
            <a:ext cx="3413760" cy="247015"/>
          </a:xfrm>
          <a:custGeom>
            <a:avLst/>
            <a:gdLst/>
            <a:ahLst/>
            <a:cxnLst/>
            <a:rect l="l" t="t" r="r" b="b"/>
            <a:pathLst>
              <a:path w="3413759" h="247015">
                <a:moveTo>
                  <a:pt x="3413633" y="0"/>
                </a:moveTo>
                <a:lnTo>
                  <a:pt x="0" y="0"/>
                </a:lnTo>
                <a:lnTo>
                  <a:pt x="0" y="246888"/>
                </a:lnTo>
                <a:lnTo>
                  <a:pt x="3413633" y="246888"/>
                </a:lnTo>
                <a:lnTo>
                  <a:pt x="34136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6444" y="1857755"/>
            <a:ext cx="6725411" cy="33619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4571" y="1857247"/>
            <a:ext cx="3676015" cy="322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210" indent="-143510">
              <a:lnSpc>
                <a:spcPct val="100000"/>
              </a:lnSpc>
              <a:spcBef>
                <a:spcPts val="100"/>
              </a:spcBef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GST-HST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QST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56210" marR="258445" indent="-143510">
              <a:lnSpc>
                <a:spcPts val="1939"/>
              </a:lnSpc>
              <a:buChar char="•"/>
              <a:tabLst>
                <a:tab pos="241300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obligations 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businesses </a:t>
            </a:r>
            <a:r>
              <a:rPr sz="1800" spc="-35" dirty="0">
                <a:latin typeface="Arial"/>
                <a:cs typeface="Arial"/>
              </a:rPr>
              <a:t>in 	</a:t>
            </a:r>
            <a:r>
              <a:rPr sz="1800" dirty="0">
                <a:latin typeface="Arial"/>
                <a:cs typeface="Arial"/>
              </a:rPr>
              <a:t>terms of tax </a:t>
            </a:r>
            <a:r>
              <a:rPr sz="1800" spc="-10" dirty="0">
                <a:latin typeface="Arial"/>
                <a:cs typeface="Arial"/>
              </a:rPr>
              <a:t>collection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56210" marR="25400" indent="-143510">
              <a:lnSpc>
                <a:spcPts val="195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"/>
                <a:cs typeface="Arial"/>
              </a:rPr>
              <a:t>Calculation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credits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inputs 	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refunds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(ITC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RTC)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156210" marR="5080" indent="-143510">
              <a:lnSpc>
                <a:spcPts val="1939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Arial"/>
                <a:cs typeface="Arial"/>
              </a:rPr>
              <a:t>Production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declaration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25" dirty="0">
                <a:latin typeface="Arial"/>
                <a:cs typeface="Arial"/>
              </a:rPr>
              <a:t> GST 	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QST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832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Tax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EBD966A8-3611-7F63-456F-A7D5C49A33A0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AE1F91F1-2FFD-6849-6E90-0F47A34BC0C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object 4"/>
          <p:cNvSpPr txBox="1"/>
          <p:nvPr/>
        </p:nvSpPr>
        <p:spPr>
          <a:xfrm>
            <a:off x="761546" y="1167884"/>
            <a:ext cx="9662795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(GST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</a:t>
            </a:r>
            <a:r>
              <a:rPr sz="1800" spc="-10" dirty="0">
                <a:latin typeface="Arial"/>
                <a:cs typeface="Arial"/>
              </a:rPr>
              <a:t>HST):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Arial"/>
              <a:cs typeface="Arial"/>
            </a:endParaRPr>
          </a:p>
          <a:p>
            <a:pPr marL="155575" marR="5080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Services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 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 (taxe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sur les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produits et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 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French) 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multi- 	</a:t>
            </a:r>
            <a:r>
              <a:rPr sz="1800" dirty="0">
                <a:latin typeface="Arial"/>
                <a:cs typeface="Arial"/>
              </a:rPr>
              <a:t>level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introduced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Canada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1991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Minister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Brian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Mulroney.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	</a:t>
            </a:r>
            <a:r>
              <a:rPr sz="1800" dirty="0">
                <a:latin typeface="Arial"/>
                <a:cs typeface="Arial"/>
              </a:rPr>
              <a:t>introduction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extremely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controversial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determining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factors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in 	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largest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electoral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defeat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federal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power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entire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history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Canada.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5575" marR="233679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charge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5%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exception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certain 	</a:t>
            </a:r>
            <a:r>
              <a:rPr sz="1800" dirty="0">
                <a:latin typeface="Arial"/>
                <a:cs typeface="Arial"/>
              </a:rPr>
              <a:t>essential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food,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residential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rent,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medical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certain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other</a:t>
            </a:r>
            <a:r>
              <a:rPr sz="1800" spc="-10" dirty="0">
                <a:latin typeface="Arial"/>
                <a:cs typeface="Arial"/>
              </a:rPr>
              <a:t> services.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5575" marR="554355" indent="-143510" algn="just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Harmonized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(HST)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combines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(GST)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	</a:t>
            </a:r>
            <a:r>
              <a:rPr sz="1800" dirty="0">
                <a:latin typeface="Arial"/>
                <a:cs typeface="Arial"/>
              </a:rPr>
              <a:t>Provincial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(PST)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participating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provinces.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	</a:t>
            </a:r>
            <a:r>
              <a:rPr sz="1800" dirty="0">
                <a:latin typeface="Arial"/>
                <a:cs typeface="Arial"/>
              </a:rPr>
              <a:t>follows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rules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following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provinces: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612775" marR="619125" lvl="1" indent="-14351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Prince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Edward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Island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Brunswick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Nova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Scotia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Ontario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Newfoundland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	</a:t>
            </a:r>
            <a:r>
              <a:rPr sz="1800" spc="-10" dirty="0">
                <a:latin typeface="Arial"/>
                <a:cs typeface="Arial"/>
              </a:rPr>
              <a:t>Labrador.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27" name="Sous-titre 26">
            <a:extLst>
              <a:ext uri="{FF2B5EF4-FFF2-40B4-BE49-F238E27FC236}">
                <a16:creationId xmlns:a16="http://schemas.microsoft.com/office/drawing/2014/main" id="{61673C99-B838-CA71-0954-9E2D5FAF920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5" name="object 25"/>
          <p:cNvSpPr txBox="1"/>
          <p:nvPr/>
        </p:nvSpPr>
        <p:spPr>
          <a:xfrm>
            <a:off x="622748" y="1330487"/>
            <a:ext cx="9486265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two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categories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Canada:</a:t>
            </a:r>
            <a:r>
              <a:rPr sz="1800" spc="-10" dirty="0">
                <a:latin typeface="Arial"/>
                <a:cs typeface="Arial"/>
              </a:rPr>
              <a:t> Zero- </a:t>
            </a:r>
            <a:r>
              <a:rPr sz="1800" dirty="0">
                <a:latin typeface="Arial"/>
                <a:cs typeface="Arial"/>
              </a:rPr>
              <a:t>rated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exempt</a:t>
            </a:r>
            <a:r>
              <a:rPr sz="1800" spc="-10" dirty="0">
                <a:latin typeface="Arial"/>
                <a:cs typeface="Arial"/>
              </a:rPr>
              <a:t> sales.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spc="-10" dirty="0">
                <a:latin typeface="Arial"/>
                <a:cs typeface="Arial"/>
              </a:rPr>
              <a:t>Z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ero-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rated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sales: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Certain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products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and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services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are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subject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to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GST/HST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rate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spc="-25" dirty="0">
                <a:latin typeface="Arial"/>
                <a:cs typeface="Arial"/>
              </a:rPr>
              <a:t>of</a:t>
            </a:r>
            <a:endParaRPr sz="1800" dirty="0">
              <a:latin typeface="Arial"/>
              <a:cs typeface="Arial"/>
            </a:endParaRPr>
          </a:p>
          <a:p>
            <a:pPr marL="299085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0%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(zero-rated).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means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GST/HST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 charged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 </a:t>
            </a:r>
            <a:r>
              <a:rPr sz="1800" spc="-10" dirty="0">
                <a:latin typeface="Arial"/>
                <a:cs typeface="Arial"/>
              </a:rPr>
              <a:t>these </a:t>
            </a:r>
            <a:r>
              <a:rPr sz="1800" dirty="0">
                <a:latin typeface="Arial"/>
                <a:cs typeface="Arial"/>
              </a:rPr>
              <a:t>products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seller/service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provider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recover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would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have </a:t>
            </a:r>
            <a:r>
              <a:rPr sz="1800" dirty="0">
                <a:latin typeface="Arial"/>
                <a:cs typeface="Arial"/>
              </a:rPr>
              <a:t>paid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their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inputs.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Basic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food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products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such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milk,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bread,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10" dirty="0">
                <a:latin typeface="Arial"/>
                <a:cs typeface="Arial"/>
              </a:rPr>
              <a:t> vegetables;</a:t>
            </a: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Agricultural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products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such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grains,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raw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wool;</a:t>
            </a: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Most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farm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animals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most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fish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products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such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fish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intended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human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consumption;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Prescription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medications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prescription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preparation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fees;</a:t>
            </a: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Medical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devices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such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as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hearing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aids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10" dirty="0">
                <a:latin typeface="Arial"/>
                <a:cs typeface="Arial"/>
              </a:rPr>
              <a:t> dentures;</a:t>
            </a: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spc="-10" dirty="0">
                <a:latin typeface="Arial"/>
                <a:cs typeface="Arial"/>
              </a:rPr>
              <a:t>Exports;</a:t>
            </a: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Several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transportation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services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when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point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origin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or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destination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is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outside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Canada;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203200" indent="-190500">
              <a:lnSpc>
                <a:spcPct val="100000"/>
              </a:lnSpc>
              <a:buChar char="•"/>
              <a:tabLst>
                <a:tab pos="203200" algn="l"/>
              </a:tabLst>
            </a:pPr>
            <a:r>
              <a:rPr sz="1800" i="1" dirty="0">
                <a:latin typeface="Arial"/>
                <a:cs typeface="Arial"/>
              </a:rPr>
              <a:t>All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supplies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products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and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services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reserved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use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of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Governor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General.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27" name="Sous-titre 26">
            <a:extLst>
              <a:ext uri="{FF2B5EF4-FFF2-40B4-BE49-F238E27FC236}">
                <a16:creationId xmlns:a16="http://schemas.microsoft.com/office/drawing/2014/main" id="{608E3DA3-8985-2902-04E7-BDC33247117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5" name="object 25"/>
          <p:cNvSpPr txBox="1"/>
          <p:nvPr/>
        </p:nvSpPr>
        <p:spPr>
          <a:xfrm>
            <a:off x="630557" y="1136132"/>
            <a:ext cx="9723755" cy="523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9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two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categories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Canada: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exempt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</a:t>
            </a:r>
            <a:r>
              <a:rPr sz="1800" spc="-10" dirty="0">
                <a:latin typeface="Arial"/>
                <a:cs typeface="Arial"/>
              </a:rPr>
              <a:t>zero-</a:t>
            </a:r>
            <a:r>
              <a:rPr sz="1800" dirty="0">
                <a:latin typeface="Arial"/>
                <a:cs typeface="Arial"/>
              </a:rPr>
              <a:t>rated </a:t>
            </a:r>
            <a:r>
              <a:rPr sz="1800" spc="-10" dirty="0">
                <a:latin typeface="Arial"/>
                <a:cs typeface="Arial"/>
              </a:rPr>
              <a:t>sales.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55575" marR="394970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E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xempt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sales: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Certain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</a:t>
            </a:r>
            <a:r>
              <a:rPr sz="1800" u="none" dirty="0">
                <a:latin typeface="Arial"/>
                <a:cs typeface="Arial"/>
              </a:rPr>
              <a:t>ucts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and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services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are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not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subject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to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GST/HST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(exempt). </a:t>
            </a:r>
            <a:r>
              <a:rPr sz="1800" u="none" spc="-20" dirty="0">
                <a:latin typeface="Arial"/>
                <a:cs typeface="Arial"/>
              </a:rPr>
              <a:t>This 	</a:t>
            </a:r>
            <a:r>
              <a:rPr sz="1800" u="none" dirty="0">
                <a:latin typeface="Arial"/>
                <a:cs typeface="Arial"/>
              </a:rPr>
              <a:t>means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that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no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GST/HST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charged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on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sale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or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supply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of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these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products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and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services, 	</a:t>
            </a:r>
            <a:r>
              <a:rPr sz="1800" u="none" dirty="0">
                <a:latin typeface="Arial"/>
                <a:cs typeface="Arial"/>
              </a:rPr>
              <a:t>and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seller/service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provider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cannot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recover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tax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they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pay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on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their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inputs.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Residential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properties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new;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Rent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paid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long-term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housing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(one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month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more)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condominium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housing</a:t>
            </a:r>
            <a:r>
              <a:rPr sz="1800" spc="-10" dirty="0">
                <a:latin typeface="Arial"/>
                <a:cs typeface="Arial"/>
              </a:rPr>
              <a:t> fees;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Certain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vacant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agricultural</a:t>
            </a:r>
            <a:r>
              <a:rPr sz="1800" spc="-10" dirty="0">
                <a:latin typeface="Arial"/>
                <a:cs typeface="Arial"/>
              </a:rPr>
              <a:t> land;</a:t>
            </a:r>
            <a:endParaRPr sz="1800" dirty="0">
              <a:latin typeface="Arial"/>
              <a:cs typeface="Arial"/>
            </a:endParaRPr>
          </a:p>
          <a:p>
            <a:pPr marL="155575" marR="5080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Most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health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medical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dental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provided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medical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reasons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by 	</a:t>
            </a:r>
            <a:r>
              <a:rPr sz="1800" dirty="0">
                <a:latin typeface="Arial"/>
                <a:cs typeface="Arial"/>
              </a:rPr>
              <a:t>licensed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physicians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dentists;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Child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services</a:t>
            </a:r>
            <a:endParaRPr sz="1800" dirty="0">
              <a:latin typeface="Arial"/>
              <a:cs typeface="Arial"/>
            </a:endParaRPr>
          </a:p>
          <a:p>
            <a:pPr marL="155575" marR="221615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Tolls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bridges,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roads,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ferries (the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toll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ferries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zero-</a:t>
            </a:r>
            <a:r>
              <a:rPr sz="1800" dirty="0">
                <a:latin typeface="Arial"/>
                <a:cs typeface="Arial"/>
              </a:rPr>
              <a:t>rated if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ferry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coming </a:t>
            </a:r>
            <a:r>
              <a:rPr sz="1800" spc="-20" dirty="0">
                <a:latin typeface="Arial"/>
                <a:cs typeface="Arial"/>
              </a:rPr>
              <a:t>from 	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location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outside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Canada);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Legal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aid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services;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Most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educational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courses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provided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professional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institution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46" y="83800"/>
            <a:ext cx="8382000" cy="542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E39D26F3-45DA-CE64-3F8B-9B54811D93A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object 4"/>
          <p:cNvSpPr txBox="1"/>
          <p:nvPr/>
        </p:nvSpPr>
        <p:spPr>
          <a:xfrm>
            <a:off x="682966" y="1604927"/>
            <a:ext cx="970343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Quebec Sales Tax </a:t>
            </a:r>
            <a:r>
              <a:rPr sz="1800" spc="-10" dirty="0">
                <a:latin typeface="Arial"/>
                <a:cs typeface="Arial"/>
              </a:rPr>
              <a:t>(QST):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55575" marR="5080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Quebec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(abbreviated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products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services 	</a:t>
            </a:r>
            <a:r>
              <a:rPr sz="1800" dirty="0">
                <a:latin typeface="Arial"/>
                <a:cs typeface="Arial"/>
              </a:rPr>
              <a:t>collected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Government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Quebec.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introduced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Liberal</a:t>
            </a:r>
            <a:r>
              <a:rPr sz="1800" spc="-10" dirty="0">
                <a:latin typeface="Arial"/>
                <a:cs typeface="Arial"/>
              </a:rPr>
              <a:t> government 	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Robert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Bourassa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July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1992,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established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amidst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controversy.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Minister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	</a:t>
            </a:r>
            <a:r>
              <a:rPr sz="1800" dirty="0">
                <a:latin typeface="Arial"/>
                <a:cs typeface="Arial"/>
              </a:rPr>
              <a:t>Revenue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time,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Yves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Séguin,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resigned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protest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against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adoption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tax.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5575" marR="46990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It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charge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9.975%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excluding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collected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Quebec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during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supply 	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most 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</a:t>
            </a:r>
            <a:r>
              <a:rPr sz="1800" spc="-10" dirty="0">
                <a:latin typeface="Arial"/>
                <a:cs typeface="Arial"/>
              </a:rPr>
              <a:t>services.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026227B1-6E16-C54D-DF64-E3190C8396F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object 6"/>
          <p:cNvSpPr txBox="1"/>
          <p:nvPr/>
        </p:nvSpPr>
        <p:spPr>
          <a:xfrm>
            <a:off x="1133942" y="1240410"/>
            <a:ext cx="8954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143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obligations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businesses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terms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tax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collection?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DACA450-3B96-F4E5-404B-A2372BE76803}"/>
              </a:ext>
            </a:extLst>
          </p:cNvPr>
          <p:cNvSpPr txBox="1"/>
          <p:nvPr/>
        </p:nvSpPr>
        <p:spPr>
          <a:xfrm>
            <a:off x="2521009" y="2444096"/>
            <a:ext cx="70844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CA" sz="2400" dirty="0" err="1"/>
              <a:t>Register</a:t>
            </a:r>
            <a:r>
              <a:rPr lang="fr-CA" sz="2400" dirty="0"/>
              <a:t> </a:t>
            </a:r>
            <a:r>
              <a:rPr lang="fr-CA" sz="2400" dirty="0" err="1"/>
              <a:t>your</a:t>
            </a:r>
            <a:r>
              <a:rPr lang="fr-CA" sz="2400" dirty="0"/>
              <a:t> business for GST and QST </a:t>
            </a:r>
          </a:p>
          <a:p>
            <a:pPr marL="342900" indent="-342900">
              <a:buFont typeface="+mj-lt"/>
              <a:buAutoNum type="arabicPeriod"/>
            </a:pPr>
            <a:endParaRPr lang="en-CA" sz="2400" dirty="0"/>
          </a:p>
          <a:p>
            <a:pPr marL="342900" indent="-342900">
              <a:buFont typeface="+mj-lt"/>
              <a:buAutoNum type="arabicPeriod"/>
            </a:pPr>
            <a:r>
              <a:rPr lang="en-CA" sz="2400" dirty="0"/>
              <a:t>Collect taxes from your customers</a:t>
            </a:r>
          </a:p>
          <a:p>
            <a:pPr marL="342900" indent="-342900">
              <a:buFont typeface="+mj-lt"/>
              <a:buAutoNum type="arabicPeriod"/>
            </a:pPr>
            <a:endParaRPr lang="en-CA" sz="2400" dirty="0"/>
          </a:p>
          <a:p>
            <a:pPr marL="342900" indent="-342900">
              <a:buFont typeface="+mj-lt"/>
              <a:buAutoNum type="arabicPeriod"/>
            </a:pPr>
            <a:r>
              <a:rPr lang="en-CA" sz="2400" dirty="0"/>
              <a:t>Calculate your input tax credits and input tax refunds</a:t>
            </a:r>
          </a:p>
          <a:p>
            <a:pPr marL="342900" indent="-342900">
              <a:buFont typeface="+mj-lt"/>
              <a:buAutoNum type="arabicPeriod"/>
            </a:pPr>
            <a:endParaRPr lang="en-CA" sz="2400" dirty="0"/>
          </a:p>
          <a:p>
            <a:pPr marL="342900" indent="-342900">
              <a:buFont typeface="+mj-lt"/>
              <a:buAutoNum type="arabicPeriod"/>
            </a:pPr>
            <a:r>
              <a:rPr lang="en-CA" sz="2400" dirty="0"/>
              <a:t>File your GST and QST returns for each reporting period. </a:t>
            </a:r>
            <a:endParaRPr lang="fr-CA" sz="2400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A47BA574-5029-DC18-B591-774D881FE5CA}"/>
              </a:ext>
            </a:extLst>
          </p:cNvPr>
          <p:cNvCxnSpPr/>
          <p:nvPr/>
        </p:nvCxnSpPr>
        <p:spPr>
          <a:xfrm>
            <a:off x="1760434" y="2717563"/>
            <a:ext cx="0" cy="262355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D2C84832-6BE0-C46A-B954-AE94DBBD1597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object 8"/>
          <p:cNvSpPr txBox="1"/>
          <p:nvPr/>
        </p:nvSpPr>
        <p:spPr>
          <a:xfrm>
            <a:off x="1050496" y="928300"/>
            <a:ext cx="9729470" cy="5482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0">
              <a:lnSpc>
                <a:spcPct val="100000"/>
              </a:lnSpc>
              <a:spcBef>
                <a:spcPts val="100"/>
              </a:spcBef>
              <a:tabLst>
                <a:tab pos="876363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1-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WHO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MUST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REGISTER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GST/HST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QST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FILES?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800" dirty="0">
              <a:latin typeface="Arial"/>
              <a:cs typeface="Arial"/>
            </a:endParaRPr>
          </a:p>
          <a:p>
            <a:pPr marL="139065" marR="26034" indent="-12700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Generally,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business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register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carries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out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commercial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activities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	</a:t>
            </a:r>
            <a:r>
              <a:rPr sz="1600" dirty="0">
                <a:latin typeface="Arial"/>
                <a:cs typeface="Arial"/>
              </a:rPr>
              <a:t>Quebec.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specifically,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register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GST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QST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collect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these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taxes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one 	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following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situations: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600" dirty="0">
              <a:latin typeface="Arial"/>
              <a:cs typeface="Arial"/>
            </a:endParaRPr>
          </a:p>
          <a:p>
            <a:pPr marL="259079" marR="5080" indent="-247015">
              <a:lnSpc>
                <a:spcPct val="9620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550" dirty="0">
                <a:latin typeface="Arial"/>
                <a:cs typeface="Arial"/>
              </a:rPr>
              <a:t>The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total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taxable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supplies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(including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sales,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rentals,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exchanges,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transfers,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bartering,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etc.)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made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worldwide</a:t>
            </a:r>
            <a:r>
              <a:rPr sz="1550" spc="500" dirty="0">
                <a:latin typeface="Arial"/>
                <a:cs typeface="Arial"/>
              </a:rPr>
              <a:t> 	</a:t>
            </a:r>
            <a:r>
              <a:rPr sz="1550" dirty="0">
                <a:latin typeface="Arial"/>
                <a:cs typeface="Arial"/>
              </a:rPr>
              <a:t>as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well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as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those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partners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exceed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$30,000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during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given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calendar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quarter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or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entire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preceding 	</a:t>
            </a:r>
            <a:r>
              <a:rPr sz="1550" dirty="0">
                <a:latin typeface="Arial"/>
                <a:cs typeface="Arial"/>
              </a:rPr>
              <a:t>four</a:t>
            </a:r>
            <a:r>
              <a:rPr sz="1550" spc="4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calendar</a:t>
            </a:r>
            <a:r>
              <a:rPr sz="1550" spc="5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quarters;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Segoe UI Symbol"/>
              <a:buChar char="➢"/>
            </a:pPr>
            <a:endParaRPr sz="1550" dirty="0">
              <a:latin typeface="Arial"/>
              <a:cs typeface="Arial"/>
            </a:endParaRPr>
          </a:p>
          <a:p>
            <a:pPr marL="223520" indent="-210820">
              <a:lnSpc>
                <a:spcPct val="100000"/>
              </a:lnSpc>
              <a:buFont typeface="Segoe UI Symbol"/>
              <a:buChar char="➢"/>
              <a:tabLst>
                <a:tab pos="223520" algn="l"/>
              </a:tabLst>
            </a:pPr>
            <a:r>
              <a:rPr sz="1350" dirty="0">
                <a:latin typeface="Arial"/>
                <a:cs typeface="Arial"/>
              </a:rPr>
              <a:t>Someone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operates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a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taxi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or</a:t>
            </a:r>
            <a:r>
              <a:rPr sz="1350" spc="-35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limousine</a:t>
            </a:r>
            <a:r>
              <a:rPr sz="1350" spc="-40" dirty="0">
                <a:latin typeface="Arial"/>
                <a:cs typeface="Arial"/>
              </a:rPr>
              <a:t> </a:t>
            </a:r>
            <a:r>
              <a:rPr sz="1350" spc="-10" dirty="0">
                <a:latin typeface="Arial"/>
                <a:cs typeface="Arial"/>
              </a:rPr>
              <a:t>business;</a:t>
            </a:r>
            <a:endParaRPr sz="13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Segoe UI Symbol"/>
              <a:buChar char="➢"/>
            </a:pPr>
            <a:endParaRPr sz="1350" dirty="0">
              <a:latin typeface="Arial"/>
              <a:cs typeface="Arial"/>
            </a:endParaRPr>
          </a:p>
          <a:p>
            <a:pPr marL="259079" marR="66040" indent="-247015">
              <a:lnSpc>
                <a:spcPct val="96200"/>
              </a:lnSpc>
              <a:buFont typeface="Segoe UI Symbol"/>
              <a:buChar char="➢"/>
              <a:tabLst>
                <a:tab pos="299085" algn="l"/>
              </a:tabLst>
            </a:pPr>
            <a:r>
              <a:rPr sz="1550" dirty="0">
                <a:latin typeface="Arial"/>
                <a:cs typeface="Arial"/>
              </a:rPr>
              <a:t>The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customer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does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not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reside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Quebec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(or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Canada,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application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GST),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and</a:t>
            </a:r>
            <a:r>
              <a:rPr sz="1550" spc="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you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collect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entry 	</a:t>
            </a:r>
            <a:r>
              <a:rPr sz="1550" dirty="0">
                <a:latin typeface="Arial"/>
                <a:cs typeface="Arial"/>
              </a:rPr>
              <a:t>fees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directly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from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public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activities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or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events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taking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place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Quebec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(or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Canada,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for</a:t>
            </a:r>
            <a:r>
              <a:rPr sz="1550" spc="3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application 	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the</a:t>
            </a:r>
            <a:r>
              <a:rPr sz="1550" spc="2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GST).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 dirty="0">
              <a:latin typeface="Arial"/>
              <a:cs typeface="Arial"/>
            </a:endParaRPr>
          </a:p>
          <a:p>
            <a:pPr marL="139065" marR="455295" indent="-12700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600" dirty="0">
                <a:latin typeface="Arial"/>
                <a:cs typeface="Arial"/>
              </a:rPr>
              <a:t>EXCLUSIONS: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Individuals,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personal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trusts,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partnerships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where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partners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individuals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cannot 	</a:t>
            </a:r>
            <a:r>
              <a:rPr sz="1600" dirty="0">
                <a:latin typeface="Arial"/>
                <a:cs typeface="Arial"/>
              </a:rPr>
              <a:t>register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GST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QST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following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situations: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600" dirty="0">
              <a:latin typeface="Arial"/>
              <a:cs typeface="Arial"/>
            </a:endParaRPr>
          </a:p>
          <a:p>
            <a:pPr marL="231140" indent="-2184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31140" algn="l"/>
              </a:tabLst>
            </a:pPr>
            <a:r>
              <a:rPr sz="1550" dirty="0">
                <a:latin typeface="Arial"/>
                <a:cs typeface="Arial"/>
              </a:rPr>
              <a:t>They</a:t>
            </a:r>
            <a:r>
              <a:rPr sz="1550" spc="-3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operate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a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business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with</a:t>
            </a:r>
            <a:r>
              <a:rPr sz="1550" spc="-20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no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reasonable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expectation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-1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profit;</a:t>
            </a:r>
            <a:endParaRPr sz="1550" dirty="0">
              <a:latin typeface="Arial"/>
              <a:cs typeface="Arial"/>
            </a:endParaRPr>
          </a:p>
          <a:p>
            <a:pPr marL="238125" indent="-225425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238125" algn="l"/>
              </a:tabLst>
            </a:pPr>
            <a:r>
              <a:rPr sz="1600" dirty="0">
                <a:latin typeface="Arial"/>
                <a:cs typeface="Arial"/>
              </a:rPr>
              <a:t>They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offer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products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services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exempt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taxes.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20" name="Sous-titre 19">
            <a:extLst>
              <a:ext uri="{FF2B5EF4-FFF2-40B4-BE49-F238E27FC236}">
                <a16:creationId xmlns:a16="http://schemas.microsoft.com/office/drawing/2014/main" id="{F360B56A-E4AD-562C-5278-5615087425E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8" name="object 18"/>
          <p:cNvSpPr txBox="1"/>
          <p:nvPr/>
        </p:nvSpPr>
        <p:spPr>
          <a:xfrm>
            <a:off x="1627187" y="1229430"/>
            <a:ext cx="8937625" cy="46901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9385" algn="ctr">
              <a:lnSpc>
                <a:spcPct val="100000"/>
              </a:lnSpc>
              <a:spcBef>
                <a:spcPts val="130"/>
              </a:spcBef>
            </a:pPr>
            <a:r>
              <a:rPr sz="17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2-</a:t>
            </a:r>
            <a:r>
              <a:rPr sz="175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750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COLLECTION</a:t>
            </a:r>
            <a:r>
              <a:rPr sz="175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750" u="sng" spc="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5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TAXES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750" dirty="0">
              <a:latin typeface="Arial"/>
              <a:cs typeface="Arial"/>
            </a:endParaRPr>
          </a:p>
          <a:p>
            <a:pPr marL="155575" marR="129539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As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registrant,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business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required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collect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makes 	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(excluding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exempt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supplies).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business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10" dirty="0">
                <a:latin typeface="Arial"/>
                <a:cs typeface="Arial"/>
              </a:rPr>
              <a:t> obligation 	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makes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(excluding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exempt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supplies)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participating 	provinces.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5575" marR="5080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In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addition,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supplier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 good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 must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charge,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collect,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</a:t>
            </a:r>
            <a:r>
              <a:rPr sz="1800" spc="-10" dirty="0">
                <a:latin typeface="Arial"/>
                <a:cs typeface="Arial"/>
              </a:rPr>
              <a:t>remit 	</a:t>
            </a:r>
            <a:r>
              <a:rPr sz="1800" dirty="0">
                <a:latin typeface="Arial"/>
                <a:cs typeface="Arial"/>
              </a:rPr>
              <a:t>any tax </a:t>
            </a:r>
            <a:r>
              <a:rPr sz="1800" spc="-10" dirty="0">
                <a:latin typeface="Arial"/>
                <a:cs typeface="Arial"/>
              </a:rPr>
              <a:t>collected.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63830" algn="ctr">
              <a:lnSpc>
                <a:spcPct val="100000"/>
              </a:lnSpc>
              <a:tabLst>
                <a:tab pos="553529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When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should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taxes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collected?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day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sum 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money is </a:t>
            </a:r>
            <a:r>
              <a:rPr sz="1800" spc="-20" dirty="0">
                <a:latin typeface="Arial"/>
                <a:cs typeface="Arial"/>
              </a:rPr>
              <a:t>paid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On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day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 sum 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money is </a:t>
            </a:r>
            <a:r>
              <a:rPr sz="1800" spc="-20" dirty="0">
                <a:latin typeface="Arial"/>
                <a:cs typeface="Arial"/>
              </a:rPr>
              <a:t>due.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79629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HCC,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lessor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later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date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tenant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is </a:t>
            </a:r>
            <a:r>
              <a:rPr sz="1800" dirty="0">
                <a:latin typeface="Arial"/>
                <a:cs typeface="Arial"/>
              </a:rPr>
              <a:t>required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rent,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according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written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contract.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1" name="Sous-titre 10">
            <a:extLst>
              <a:ext uri="{FF2B5EF4-FFF2-40B4-BE49-F238E27FC236}">
                <a16:creationId xmlns:a16="http://schemas.microsoft.com/office/drawing/2014/main" id="{162DA5C4-CA88-E283-42BB-0BB3660E4DF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object 9"/>
          <p:cNvSpPr txBox="1"/>
          <p:nvPr/>
        </p:nvSpPr>
        <p:spPr>
          <a:xfrm>
            <a:off x="1381823" y="1337181"/>
            <a:ext cx="9011285" cy="3589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7630" algn="ctr">
              <a:lnSpc>
                <a:spcPct val="100000"/>
              </a:lnSpc>
              <a:spcBef>
                <a:spcPts val="114"/>
              </a:spcBef>
            </a:pPr>
            <a:r>
              <a:rPr sz="1450" dirty="0">
                <a:latin typeface="Arial"/>
                <a:cs typeface="Arial"/>
              </a:rPr>
              <a:t>3-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ITC</a:t>
            </a:r>
            <a:r>
              <a:rPr sz="1450" spc="10" dirty="0">
                <a:latin typeface="Arial"/>
                <a:cs typeface="Arial"/>
              </a:rPr>
              <a:t> </a:t>
            </a:r>
            <a:r>
              <a:rPr sz="1450" dirty="0">
                <a:latin typeface="Arial"/>
                <a:cs typeface="Arial"/>
              </a:rPr>
              <a:t>and</a:t>
            </a:r>
            <a:r>
              <a:rPr sz="1450" spc="5" dirty="0">
                <a:latin typeface="Arial"/>
                <a:cs typeface="Arial"/>
              </a:rPr>
              <a:t> </a:t>
            </a:r>
            <a:r>
              <a:rPr sz="1450" spc="-25" dirty="0">
                <a:latin typeface="Arial"/>
                <a:cs typeface="Arial"/>
              </a:rPr>
              <a:t>RTC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450" dirty="0">
              <a:latin typeface="Arial"/>
              <a:cs typeface="Arial"/>
            </a:endParaRPr>
          </a:p>
          <a:p>
            <a:pPr marL="155575" marR="79375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By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registered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businesses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generally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recover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that 	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paid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paid)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apply. 	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refunded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credit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(ITC),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	</a:t>
            </a:r>
            <a:r>
              <a:rPr sz="1800" dirty="0">
                <a:latin typeface="Arial"/>
                <a:cs typeface="Arial"/>
              </a:rPr>
              <a:t>form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refund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 </a:t>
            </a:r>
            <a:r>
              <a:rPr sz="1800" spc="-10" dirty="0">
                <a:latin typeface="Arial"/>
                <a:cs typeface="Arial"/>
              </a:rPr>
              <a:t>(RTC).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5575" marR="282575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Inputs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refer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consumed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course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business 	</a:t>
            </a:r>
            <a:r>
              <a:rPr sz="1800" dirty="0">
                <a:latin typeface="Arial"/>
                <a:cs typeface="Arial"/>
              </a:rPr>
              <a:t>activities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company.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5575" marR="5080" indent="-14351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entitled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ITCs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RTCs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acquired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course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of 	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business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activities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company,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registered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during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reporting 	</a:t>
            </a:r>
            <a:r>
              <a:rPr sz="1800" dirty="0">
                <a:latin typeface="Arial"/>
                <a:cs typeface="Arial"/>
              </a:rPr>
              <a:t>period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must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these</a:t>
            </a:r>
            <a:r>
              <a:rPr sz="1800" spc="-10" dirty="0">
                <a:latin typeface="Arial"/>
                <a:cs typeface="Arial"/>
              </a:rPr>
              <a:t> taxes.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3" name="Sous-titre 12">
            <a:extLst>
              <a:ext uri="{FF2B5EF4-FFF2-40B4-BE49-F238E27FC236}">
                <a16:creationId xmlns:a16="http://schemas.microsoft.com/office/drawing/2014/main" id="{6A2495D2-AC6D-FF61-A131-C3629894041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object 11"/>
          <p:cNvSpPr txBox="1"/>
          <p:nvPr/>
        </p:nvSpPr>
        <p:spPr>
          <a:xfrm>
            <a:off x="1389505" y="1359535"/>
            <a:ext cx="9102725" cy="41389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15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3- CTI and </a:t>
            </a:r>
            <a:r>
              <a:rPr sz="155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555688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eligible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expenses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CTI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RTI?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Eligible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expenses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qualify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input</a:t>
            </a:r>
            <a:r>
              <a:rPr sz="1800" b="1" spc="1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tax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credit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(CTI)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refund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1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1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input </a:t>
            </a:r>
            <a:r>
              <a:rPr sz="1800" b="1" dirty="0">
                <a:latin typeface="Arial"/>
                <a:cs typeface="Arial"/>
              </a:rPr>
              <a:t>tax</a:t>
            </a:r>
            <a:r>
              <a:rPr sz="1800" b="1" spc="1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(RTI)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are,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1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general,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those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incurred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1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acquire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taxable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goods</a:t>
            </a:r>
            <a:r>
              <a:rPr sz="1800" b="1" spc="1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services</a:t>
            </a:r>
            <a:r>
              <a:rPr sz="1800" b="1" spc="17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that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consumed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course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business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activities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company.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Office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furniture;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Computer </a:t>
            </a:r>
            <a:r>
              <a:rPr sz="1800" spc="-10" dirty="0">
                <a:latin typeface="Arial"/>
                <a:cs typeface="Arial"/>
              </a:rPr>
              <a:t>systems;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Accountant </a:t>
            </a:r>
            <a:r>
              <a:rPr sz="1800" spc="-10" dirty="0">
                <a:latin typeface="Arial"/>
                <a:cs typeface="Arial"/>
              </a:rPr>
              <a:t>fees;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Machine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repair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costs;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Promotional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items;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spc="-10" dirty="0">
                <a:latin typeface="Arial"/>
                <a:cs typeface="Arial"/>
              </a:rPr>
              <a:t>Tools.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3" name="Sous-titre 12">
            <a:extLst>
              <a:ext uri="{FF2B5EF4-FFF2-40B4-BE49-F238E27FC236}">
                <a16:creationId xmlns:a16="http://schemas.microsoft.com/office/drawing/2014/main" id="{A9CB18CA-2D51-C59A-890E-6E85FDA8529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11" name="object 11"/>
          <p:cNvSpPr txBox="1"/>
          <p:nvPr/>
        </p:nvSpPr>
        <p:spPr>
          <a:xfrm>
            <a:off x="1518554" y="1175642"/>
            <a:ext cx="8895715" cy="496189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02565" algn="ctr">
              <a:lnSpc>
                <a:spcPct val="100000"/>
              </a:lnSpc>
              <a:spcBef>
                <a:spcPts val="115"/>
              </a:spcBef>
            </a:pPr>
            <a:r>
              <a:rPr lang="en-CA" sz="15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</a:t>
            </a:r>
            <a:r>
              <a:rPr sz="15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 CTI and </a:t>
            </a:r>
            <a:r>
              <a:rPr sz="155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50" dirty="0">
              <a:latin typeface="Arial"/>
              <a:cs typeface="Arial"/>
            </a:endParaRPr>
          </a:p>
          <a:p>
            <a:pPr marL="207010" algn="ctr">
              <a:lnSpc>
                <a:spcPct val="100000"/>
              </a:lnSpc>
              <a:tabLst>
                <a:tab pos="458343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exclusions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CTI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RTI?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Exempt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give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right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claim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credits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(CTI)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input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refunds (RTI).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107314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following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items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also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qualify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CTI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RTI,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apply </a:t>
            </a:r>
            <a:r>
              <a:rPr sz="1800" spc="-25" dirty="0">
                <a:latin typeface="Arial"/>
                <a:cs typeface="Arial"/>
              </a:rPr>
              <a:t>to </a:t>
            </a:r>
            <a:r>
              <a:rPr sz="1800" spc="-10" dirty="0">
                <a:latin typeface="Arial"/>
                <a:cs typeface="Arial"/>
              </a:rPr>
              <a:t>them: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5"/>
              </a:spcBef>
              <a:buChar char="•"/>
              <a:tabLst>
                <a:tab pos="156210" algn="l"/>
              </a:tabLst>
            </a:pPr>
            <a:r>
              <a:rPr sz="1800" spc="-10" dirty="0">
                <a:latin typeface="Arial"/>
                <a:cs typeface="Arial"/>
              </a:rPr>
              <a:t>Salaries;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Interest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dividends;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Insurance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premiums;</a:t>
            </a: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Municipal,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provincial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(other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QST),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federal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(other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than</a:t>
            </a:r>
            <a:r>
              <a:rPr sz="1800" spc="-10" dirty="0">
                <a:latin typeface="Arial"/>
                <a:cs typeface="Arial"/>
              </a:rPr>
              <a:t> GST);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buChar char="•"/>
              <a:tabLst>
                <a:tab pos="156210" algn="l"/>
              </a:tabLst>
            </a:pPr>
            <a:r>
              <a:rPr sz="1800" dirty="0">
                <a:latin typeface="Arial"/>
                <a:cs typeface="Arial"/>
              </a:rPr>
              <a:t>Most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fees, fines,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 </a:t>
            </a:r>
            <a:r>
              <a:rPr sz="1800" spc="-10" dirty="0">
                <a:latin typeface="Arial"/>
                <a:cs typeface="Arial"/>
              </a:rPr>
              <a:t>contributions.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22161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Similarly,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cannot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request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CTI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RTI for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goods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acquired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10" dirty="0">
                <a:latin typeface="Arial"/>
                <a:cs typeface="Arial"/>
              </a:rPr>
              <a:t>personal purposes.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6" name="Sous-titre 15">
            <a:extLst>
              <a:ext uri="{FF2B5EF4-FFF2-40B4-BE49-F238E27FC236}">
                <a16:creationId xmlns:a16="http://schemas.microsoft.com/office/drawing/2014/main" id="{C8F28AED-4D94-DDFB-6828-0D7D2C1FA4F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object 14"/>
          <p:cNvSpPr txBox="1"/>
          <p:nvPr/>
        </p:nvSpPr>
        <p:spPr>
          <a:xfrm>
            <a:off x="1554162" y="1290827"/>
            <a:ext cx="9083675" cy="45662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15"/>
              </a:spcBef>
            </a:pPr>
            <a:r>
              <a:rPr sz="15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3- CTI and </a:t>
            </a:r>
            <a:r>
              <a:rPr sz="155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50" dirty="0">
              <a:latin typeface="Arial"/>
              <a:cs typeface="Arial"/>
            </a:endParaRPr>
          </a:p>
          <a:p>
            <a:pPr marL="17145" algn="ctr">
              <a:lnSpc>
                <a:spcPct val="100000"/>
              </a:lnSpc>
              <a:tabLst>
                <a:tab pos="384937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How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calculate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CTI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RTI?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128905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First,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calculate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total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taxable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purchases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(excluding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tax-</a:t>
            </a:r>
            <a:r>
              <a:rPr sz="1600" dirty="0">
                <a:latin typeface="Arial"/>
                <a:cs typeface="Arial"/>
              </a:rPr>
              <a:t>exempt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purchases)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which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you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entitled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RTI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under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QST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system.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Multiply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result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obtained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9.975/109.975.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will </a:t>
            </a:r>
            <a:r>
              <a:rPr sz="1600" dirty="0">
                <a:latin typeface="Arial"/>
                <a:cs typeface="Arial"/>
              </a:rPr>
              <a:t>obtain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amount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RTI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relevant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period.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Next,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calculate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total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taxable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purchases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(excluding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tax-</a:t>
            </a:r>
            <a:r>
              <a:rPr sz="1600" dirty="0">
                <a:latin typeface="Arial"/>
                <a:cs typeface="Arial"/>
              </a:rPr>
              <a:t>exempt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purchases)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which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you </a:t>
            </a:r>
            <a:r>
              <a:rPr sz="1600" dirty="0">
                <a:latin typeface="Arial"/>
                <a:cs typeface="Arial"/>
              </a:rPr>
              <a:t>are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entitled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CTI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under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GST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system.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Subtract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amount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RTI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it.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Multiply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result </a:t>
            </a:r>
            <a:r>
              <a:rPr sz="1600" dirty="0">
                <a:latin typeface="Arial"/>
                <a:cs typeface="Arial"/>
              </a:rPr>
              <a:t>obtained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5/105.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will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obtain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amount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CTI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relevant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period.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"/>
              <a:cs typeface="Arial"/>
            </a:endParaRPr>
          </a:p>
          <a:p>
            <a:pPr marL="12700" marR="60388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HCC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subject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restrictions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large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enterprises!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simplified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method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certain </a:t>
            </a:r>
            <a:r>
              <a:rPr sz="1600" dirty="0">
                <a:latin typeface="Arial"/>
                <a:cs typeface="Arial"/>
              </a:rPr>
              <a:t>expenses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others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calculation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much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complex.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"/>
              <a:cs typeface="Arial"/>
            </a:endParaRPr>
          </a:p>
          <a:p>
            <a:pPr marL="12700" marR="37846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HCC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have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same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rules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since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have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income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LOANS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HCC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with </a:t>
            </a:r>
            <a:r>
              <a:rPr sz="1600" dirty="0">
                <a:latin typeface="Arial"/>
                <a:cs typeface="Arial"/>
              </a:rPr>
              <a:t>EBR,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Floorplan,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ABL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CLE.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concept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CTI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RTI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therefore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same.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7" name="Sous-titre 16">
            <a:extLst>
              <a:ext uri="{FF2B5EF4-FFF2-40B4-BE49-F238E27FC236}">
                <a16:creationId xmlns:a16="http://schemas.microsoft.com/office/drawing/2014/main" id="{D4C6CE2F-4939-7AAE-6E5B-123F5808868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object 14"/>
          <p:cNvSpPr txBox="1"/>
          <p:nvPr/>
        </p:nvSpPr>
        <p:spPr>
          <a:xfrm>
            <a:off x="2759392" y="1136132"/>
            <a:ext cx="6673215" cy="8458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155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3- CTI and </a:t>
            </a:r>
            <a:r>
              <a:rPr sz="155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6647180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How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CTI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RTI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calculated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using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simplified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method?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2AE3A27-1D85-4AAE-6E8B-432A74AAF07B}"/>
              </a:ext>
            </a:extLst>
          </p:cNvPr>
          <p:cNvSpPr txBox="1"/>
          <p:nvPr/>
        </p:nvSpPr>
        <p:spPr>
          <a:xfrm>
            <a:off x="240826" y="2117102"/>
            <a:ext cx="11783107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en-CA" sz="14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 business incurs the following expenses during a fiscal year. All expenses are taxable, except wages and interest.</a:t>
            </a:r>
            <a:endParaRPr lang="en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900"/>
              </a:spcAft>
              <a:buNone/>
            </a:pPr>
            <a:r>
              <a:rPr lang="en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spcAft>
                <a:spcPts val="900"/>
              </a:spcAft>
              <a:buNone/>
            </a:pPr>
            <a:endParaRPr lang="en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900"/>
              </a:spcAft>
              <a:buNone/>
            </a:pPr>
            <a:r>
              <a:rPr lang="en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spcAft>
                <a:spcPts val="900"/>
              </a:spcAft>
              <a:buNone/>
            </a:pPr>
            <a:r>
              <a:rPr lang="en-CA" sz="14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ITR and ITC are calculated as follows:</a:t>
            </a:r>
            <a:endParaRPr lang="en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900"/>
              </a:spcAft>
              <a:buNone/>
            </a:pPr>
            <a:r>
              <a:rPr lang="en-CA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 </a:t>
            </a:r>
          </a:p>
          <a:p>
            <a:pPr>
              <a:spcAft>
                <a:spcPts val="900"/>
              </a:spcAft>
              <a:buNone/>
            </a:pPr>
            <a:r>
              <a:rPr lang="en-CA" sz="14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• ITR = $920.21 × 9.975 / 109.975 = $83.47</a:t>
            </a:r>
            <a:endParaRPr lang="en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>
              <a:spcAft>
                <a:spcPts val="900"/>
              </a:spcAft>
              <a:buNone/>
            </a:pPr>
            <a:r>
              <a:rPr lang="en-CA" sz="14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• ITC = ($920.21 − $83.47) × 5 / 105 = $39.84</a:t>
            </a:r>
            <a:endParaRPr lang="en-CA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76BABA2-8C3B-5C69-40BE-F422C3ABFA98}"/>
              </a:ext>
            </a:extLst>
          </p:cNvPr>
          <p:cNvSpPr txBox="1"/>
          <p:nvPr/>
        </p:nvSpPr>
        <p:spPr>
          <a:xfrm>
            <a:off x="292101" y="2397615"/>
            <a:ext cx="178452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fr-CA" sz="1400" dirty="0" err="1"/>
              <a:t>Wages</a:t>
            </a:r>
            <a:r>
              <a:rPr lang="fr-CA" sz="1400" dirty="0"/>
              <a:t> = $200</a:t>
            </a:r>
          </a:p>
          <a:p>
            <a:pPr>
              <a:spcAft>
                <a:spcPts val="900"/>
              </a:spcAft>
              <a:buNone/>
            </a:pPr>
            <a:r>
              <a:rPr lang="fr-CA" sz="1400" dirty="0"/>
              <a:t>Inventory = $345.08</a:t>
            </a:r>
          </a:p>
          <a:p>
            <a:pPr>
              <a:spcAft>
                <a:spcPts val="900"/>
              </a:spcAft>
              <a:buNone/>
            </a:pPr>
            <a:r>
              <a:rPr lang="fr-CA" sz="1400" dirty="0"/>
              <a:t>Rent= $230.05</a:t>
            </a:r>
            <a:endParaRPr lang="en-CA" sz="14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8CA74D6-5446-8BE3-BA9F-72B9D6083171}"/>
              </a:ext>
            </a:extLst>
          </p:cNvPr>
          <p:cNvSpPr txBox="1"/>
          <p:nvPr/>
        </p:nvSpPr>
        <p:spPr>
          <a:xfrm>
            <a:off x="2478282" y="2376770"/>
            <a:ext cx="229881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fr-CA" sz="1400" dirty="0"/>
              <a:t>Office Supplies = $115.03</a:t>
            </a:r>
          </a:p>
          <a:p>
            <a:pPr>
              <a:spcAft>
                <a:spcPts val="900"/>
              </a:spcAft>
              <a:buNone/>
            </a:pPr>
            <a:r>
              <a:rPr lang="fr-CA" sz="1400" dirty="0" err="1"/>
              <a:t>Interest</a:t>
            </a:r>
            <a:r>
              <a:rPr lang="fr-CA" sz="1400" dirty="0"/>
              <a:t> = $50.00</a:t>
            </a:r>
          </a:p>
          <a:p>
            <a:pPr>
              <a:spcAft>
                <a:spcPts val="900"/>
              </a:spcAft>
              <a:buNone/>
            </a:pPr>
            <a:r>
              <a:rPr lang="fr-CA" sz="1400" dirty="0"/>
              <a:t>Office </a:t>
            </a:r>
            <a:r>
              <a:rPr lang="fr-CA" sz="1400" dirty="0" err="1"/>
              <a:t>Furniture</a:t>
            </a:r>
            <a:r>
              <a:rPr lang="fr-CA" sz="1400" dirty="0"/>
              <a:t>= $230.05</a:t>
            </a:r>
            <a:endParaRPr lang="en-CA" sz="14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D674043-EED1-CE02-A737-4B9528E630B3}"/>
              </a:ext>
            </a:extLst>
          </p:cNvPr>
          <p:cNvSpPr txBox="1"/>
          <p:nvPr/>
        </p:nvSpPr>
        <p:spPr>
          <a:xfrm>
            <a:off x="5178753" y="2402533"/>
            <a:ext cx="2298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fr-CA" sz="1400" dirty="0"/>
              <a:t>Total </a:t>
            </a:r>
            <a:r>
              <a:rPr lang="fr-CA" sz="1400" dirty="0" err="1"/>
              <a:t>expenses</a:t>
            </a:r>
            <a:r>
              <a:rPr lang="fr-CA" sz="1400" dirty="0"/>
              <a:t> = $1 170.21 </a:t>
            </a:r>
            <a:endParaRPr lang="en-CA" sz="1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6D2093A-64B7-797D-4B2C-E98B316BAD0D}"/>
              </a:ext>
            </a:extLst>
          </p:cNvPr>
          <p:cNvSpPr txBox="1"/>
          <p:nvPr/>
        </p:nvSpPr>
        <p:spPr>
          <a:xfrm>
            <a:off x="5178753" y="2732992"/>
            <a:ext cx="3540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fr-CA" sz="1400" dirty="0" err="1"/>
              <a:t>Wages</a:t>
            </a:r>
            <a:r>
              <a:rPr lang="fr-CA" sz="1400" dirty="0"/>
              <a:t> and </a:t>
            </a:r>
            <a:r>
              <a:rPr lang="fr-CA" sz="1400" dirty="0" err="1"/>
              <a:t>interest</a:t>
            </a:r>
            <a:r>
              <a:rPr lang="fr-CA" sz="1400" dirty="0"/>
              <a:t> = $250.00 ($200+$50)</a:t>
            </a:r>
            <a:endParaRPr lang="en-CA" sz="14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5605E44-4A8C-67AC-C6EB-AAA9B2F81391}"/>
              </a:ext>
            </a:extLst>
          </p:cNvPr>
          <p:cNvSpPr txBox="1"/>
          <p:nvPr/>
        </p:nvSpPr>
        <p:spPr>
          <a:xfrm>
            <a:off x="8626980" y="2429367"/>
            <a:ext cx="3540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fr-CA" sz="1400" dirty="0"/>
              <a:t>Total Taxable </a:t>
            </a:r>
            <a:r>
              <a:rPr lang="fr-CA" sz="1400" dirty="0" err="1"/>
              <a:t>Expenses</a:t>
            </a:r>
            <a:r>
              <a:rPr lang="fr-CA" sz="1400" dirty="0"/>
              <a:t> = $920.21</a:t>
            </a:r>
            <a:endParaRPr lang="en-CA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E129D93B-819C-4FAC-84D9-6B0533FDEDD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object 8"/>
          <p:cNvSpPr txBox="1"/>
          <p:nvPr/>
        </p:nvSpPr>
        <p:spPr>
          <a:xfrm>
            <a:off x="1561782" y="928300"/>
            <a:ext cx="9068435" cy="564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4-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Production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GST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QST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declaration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(Calculation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net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tax)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50" dirty="0">
                <a:latin typeface="Arial"/>
                <a:cs typeface="Arial"/>
              </a:rPr>
              <a:t>You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are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ready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fill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out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your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GST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QST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declaration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after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calculating:</a:t>
            </a:r>
            <a:endParaRPr sz="1750" dirty="0">
              <a:latin typeface="Arial"/>
              <a:cs typeface="Arial"/>
            </a:endParaRPr>
          </a:p>
          <a:p>
            <a:pPr marL="151765" marR="213360" indent="-13970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GST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QST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have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collected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well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those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are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owed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you,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25" dirty="0">
                <a:latin typeface="Arial"/>
                <a:cs typeface="Arial"/>
              </a:rPr>
              <a:t> is, 	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taxes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have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charged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but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have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not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been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paid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during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reporting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period 	</a:t>
            </a:r>
            <a:r>
              <a:rPr sz="1750" dirty="0">
                <a:latin typeface="Arial"/>
                <a:cs typeface="Arial"/>
              </a:rPr>
              <a:t>regarding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your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taxable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supplies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(excluding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your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exempt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supplies);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750" dirty="0">
              <a:latin typeface="Arial"/>
              <a:cs typeface="Arial"/>
            </a:endParaRPr>
          </a:p>
          <a:p>
            <a:pPr marL="151765" marR="151765" indent="-13970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750" dirty="0">
                <a:latin typeface="Arial"/>
                <a:cs typeface="Arial"/>
              </a:rPr>
              <a:t>The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input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credits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(ITC)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input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refunds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(ITR)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are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entitled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for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GST 	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QST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have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paid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were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required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pay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regarding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your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purchases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spc="-20" dirty="0">
                <a:latin typeface="Arial"/>
                <a:cs typeface="Arial"/>
              </a:rPr>
              <a:t>made 	</a:t>
            </a:r>
            <a:r>
              <a:rPr sz="1750" dirty="0">
                <a:latin typeface="Arial"/>
                <a:cs typeface="Arial"/>
              </a:rPr>
              <a:t>during</a:t>
            </a:r>
            <a:r>
              <a:rPr sz="1750" spc="-5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</a:t>
            </a:r>
            <a:r>
              <a:rPr sz="1750" spc="-5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given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reporting</a:t>
            </a:r>
            <a:r>
              <a:rPr sz="1750" spc="-5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period.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Arial"/>
              <a:buChar char="•"/>
            </a:pPr>
            <a:endParaRPr sz="17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50" dirty="0">
                <a:latin typeface="Arial"/>
                <a:cs typeface="Arial"/>
              </a:rPr>
              <a:t>The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following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two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situations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may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occur:</a:t>
            </a:r>
            <a:endParaRPr sz="1750" dirty="0">
              <a:latin typeface="Arial"/>
              <a:cs typeface="Arial"/>
            </a:endParaRPr>
          </a:p>
          <a:p>
            <a:pPr marL="151765" marR="153035" indent="-139700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total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of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your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ITCs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ITRs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greater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than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total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of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GST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QST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20" dirty="0">
                <a:latin typeface="Arial"/>
                <a:cs typeface="Arial"/>
              </a:rPr>
              <a:t>have 	</a:t>
            </a:r>
            <a:r>
              <a:rPr sz="1750" dirty="0">
                <a:latin typeface="Arial"/>
                <a:cs typeface="Arial"/>
              </a:rPr>
              <a:t>collected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were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required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collect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on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goods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services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provided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during 	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same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reporting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period.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this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case,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are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entitled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refund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equal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the 	</a:t>
            </a:r>
            <a:r>
              <a:rPr sz="1750" spc="-10" dirty="0">
                <a:latin typeface="Arial"/>
                <a:cs typeface="Arial"/>
              </a:rPr>
              <a:t>difference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between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these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two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amounts.</a:t>
            </a:r>
            <a:endParaRPr sz="1750" dirty="0">
              <a:latin typeface="Arial"/>
              <a:cs typeface="Arial"/>
            </a:endParaRPr>
          </a:p>
          <a:p>
            <a:pPr marL="151765" marR="5080" indent="-139700">
              <a:lnSpc>
                <a:spcPts val="2100"/>
              </a:lnSpc>
              <a:spcBef>
                <a:spcPts val="65"/>
              </a:spcBef>
              <a:buChar char="•"/>
              <a:tabLst>
                <a:tab pos="299085" algn="l"/>
              </a:tabLst>
            </a:pP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total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of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GST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QST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have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collected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were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required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collect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on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the 	</a:t>
            </a:r>
            <a:r>
              <a:rPr sz="1750" dirty="0">
                <a:latin typeface="Arial"/>
                <a:cs typeface="Arial"/>
              </a:rPr>
              <a:t>goods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services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provided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during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reporting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period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greater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than</a:t>
            </a:r>
            <a:r>
              <a:rPr sz="1750" spc="-5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total</a:t>
            </a:r>
            <a:r>
              <a:rPr sz="1750" spc="-45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of 	</a:t>
            </a:r>
            <a:r>
              <a:rPr sz="1750" dirty="0">
                <a:latin typeface="Arial"/>
                <a:cs typeface="Arial"/>
              </a:rPr>
              <a:t>your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ITCs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ITRs.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this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case,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you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must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remit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amount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equal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difference 	</a:t>
            </a:r>
            <a:r>
              <a:rPr sz="1750" dirty="0">
                <a:latin typeface="Arial"/>
                <a:cs typeface="Arial"/>
              </a:rPr>
              <a:t>between</a:t>
            </a:r>
            <a:r>
              <a:rPr sz="1750" spc="-6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these</a:t>
            </a:r>
            <a:r>
              <a:rPr sz="1750" spc="-5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two</a:t>
            </a:r>
            <a:r>
              <a:rPr sz="1750" spc="-5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amounts.</a:t>
            </a:r>
            <a:endParaRPr sz="17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6890">
              <a:lnSpc>
                <a:spcPct val="100000"/>
              </a:lnSpc>
              <a:spcBef>
                <a:spcPts val="95"/>
              </a:spcBef>
            </a:pPr>
            <a:r>
              <a:rPr dirty="0"/>
              <a:t>Tax</a:t>
            </a:r>
            <a:r>
              <a:rPr spc="-5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10" name="Sous-titre 9">
            <a:extLst>
              <a:ext uri="{FF2B5EF4-FFF2-40B4-BE49-F238E27FC236}">
                <a16:creationId xmlns:a16="http://schemas.microsoft.com/office/drawing/2014/main" id="{3DF48747-C79C-A9B5-0C38-BF8725EFF17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object 8"/>
          <p:cNvSpPr txBox="1"/>
          <p:nvPr/>
        </p:nvSpPr>
        <p:spPr>
          <a:xfrm>
            <a:off x="1544192" y="1417446"/>
            <a:ext cx="8957945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0105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4-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Production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GST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QST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declaration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(Calculation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net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tax)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50" dirty="0">
                <a:latin typeface="Arial"/>
                <a:cs typeface="Arial"/>
              </a:rPr>
              <a:t>What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does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this</a:t>
            </a:r>
            <a:r>
              <a:rPr sz="1750" spc="-1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imply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for</a:t>
            </a:r>
            <a:r>
              <a:rPr sz="1750" spc="-15" dirty="0">
                <a:latin typeface="Arial"/>
                <a:cs typeface="Arial"/>
              </a:rPr>
              <a:t> </a:t>
            </a:r>
            <a:r>
              <a:rPr sz="1750" spc="-20" dirty="0">
                <a:latin typeface="Arial"/>
                <a:cs typeface="Arial"/>
              </a:rPr>
              <a:t>HCC: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750" dirty="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sz="1750" dirty="0">
                <a:latin typeface="Arial"/>
                <a:cs typeface="Arial"/>
              </a:rPr>
              <a:t>IMPORTANT: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HCC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responsible</a:t>
            </a:r>
            <a:r>
              <a:rPr sz="1750" spc="-1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for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compliance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of</a:t>
            </a:r>
            <a:r>
              <a:rPr sz="1750" spc="-1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invoices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from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our</a:t>
            </a:r>
            <a:r>
              <a:rPr sz="1750" spc="-1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suppliers.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750" dirty="0">
              <a:latin typeface="Arial"/>
              <a:cs typeface="Arial"/>
            </a:endParaRPr>
          </a:p>
          <a:p>
            <a:pPr marL="151765" marR="78105" indent="-13970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750" dirty="0">
                <a:latin typeface="Arial"/>
                <a:cs typeface="Arial"/>
              </a:rPr>
              <a:t>For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each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invoice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that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has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been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paid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our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suppliers,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we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must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extract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taxes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paid.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For 	</a:t>
            </a:r>
            <a:r>
              <a:rPr sz="1750" dirty="0">
                <a:latin typeface="Arial"/>
                <a:cs typeface="Arial"/>
              </a:rPr>
              <a:t>this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reason,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need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have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correct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amounts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during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exchange,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deposit</a:t>
            </a:r>
            <a:r>
              <a:rPr sz="1750" spc="-4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given</a:t>
            </a:r>
            <a:r>
              <a:rPr sz="1750" spc="-35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to 	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6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supplier,</a:t>
            </a:r>
            <a:r>
              <a:rPr sz="1750" spc="-6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payment</a:t>
            </a:r>
            <a:r>
              <a:rPr sz="1750" spc="-6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direction</a:t>
            </a:r>
            <a:r>
              <a:rPr sz="1750" spc="-5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for</a:t>
            </a:r>
            <a:r>
              <a:rPr sz="1750" spc="-6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buyout,</a:t>
            </a:r>
            <a:r>
              <a:rPr sz="1750" spc="-60" dirty="0">
                <a:latin typeface="Arial"/>
                <a:cs typeface="Arial"/>
              </a:rPr>
              <a:t> </a:t>
            </a:r>
            <a:r>
              <a:rPr sz="1750" spc="-20" dirty="0">
                <a:latin typeface="Arial"/>
                <a:cs typeface="Arial"/>
              </a:rPr>
              <a:t>etc.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1750" dirty="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buChar char="•"/>
              <a:tabLst>
                <a:tab pos="152400" algn="l"/>
              </a:tabLst>
            </a:pPr>
            <a:r>
              <a:rPr sz="1750" spc="-10" dirty="0">
                <a:latin typeface="Arial"/>
                <a:cs typeface="Arial"/>
              </a:rPr>
              <a:t>Difference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for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HCC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between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supplier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deposit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vs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HCC-CLE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deposit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1st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20" dirty="0">
                <a:latin typeface="Arial"/>
                <a:cs typeface="Arial"/>
              </a:rPr>
              <a:t>rent</a:t>
            </a:r>
            <a:endParaRPr sz="1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750" dirty="0">
              <a:latin typeface="Arial"/>
              <a:cs typeface="Arial"/>
            </a:endParaRPr>
          </a:p>
          <a:p>
            <a:pPr marL="608965" marR="102235" lvl="1" indent="-13970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750" dirty="0">
                <a:latin typeface="Arial"/>
                <a:cs typeface="Arial"/>
              </a:rPr>
              <a:t>In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case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of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supplier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deposit,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supplier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who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issues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invoice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3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client 	</a:t>
            </a:r>
            <a:r>
              <a:rPr sz="1750" dirty="0">
                <a:latin typeface="Arial"/>
                <a:cs typeface="Arial"/>
              </a:rPr>
              <a:t>and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client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who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must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remit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sales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</a:t>
            </a:r>
            <a:r>
              <a:rPr sz="1750" spc="-2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20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government.</a:t>
            </a:r>
            <a:endParaRPr sz="1750" dirty="0">
              <a:latin typeface="Arial"/>
              <a:cs typeface="Arial"/>
            </a:endParaRPr>
          </a:p>
          <a:p>
            <a:pPr marL="608965" marR="5080" lvl="1" indent="-139700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1750" dirty="0">
                <a:latin typeface="Arial"/>
                <a:cs typeface="Arial"/>
              </a:rPr>
              <a:t>In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case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of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HCC-CLE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deposit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or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1st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rent,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it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us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who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issues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an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invoice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spc="-25" dirty="0">
                <a:latin typeface="Arial"/>
                <a:cs typeface="Arial"/>
              </a:rPr>
              <a:t>the 	</a:t>
            </a:r>
            <a:r>
              <a:rPr sz="1750" dirty="0">
                <a:latin typeface="Arial"/>
                <a:cs typeface="Arial"/>
              </a:rPr>
              <a:t>client,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so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HCC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must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remit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sales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tax</a:t>
            </a:r>
            <a:r>
              <a:rPr sz="1750" spc="-10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to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dirty="0">
                <a:latin typeface="Arial"/>
                <a:cs typeface="Arial"/>
              </a:rPr>
              <a:t>the</a:t>
            </a:r>
            <a:r>
              <a:rPr sz="1750" spc="-5" dirty="0">
                <a:latin typeface="Arial"/>
                <a:cs typeface="Arial"/>
              </a:rPr>
              <a:t> </a:t>
            </a:r>
            <a:r>
              <a:rPr sz="1750" spc="-10" dirty="0">
                <a:latin typeface="Arial"/>
                <a:cs typeface="Arial"/>
              </a:rPr>
              <a:t>government.</a:t>
            </a:r>
            <a:endParaRPr sz="17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49241" y="1324686"/>
            <a:ext cx="9902190" cy="35928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WARNING</a:t>
            </a:r>
            <a:r>
              <a:rPr sz="1800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ABOUT</a:t>
            </a:r>
            <a:r>
              <a:rPr sz="1800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MYTHS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!!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Arial"/>
              <a:cs typeface="Arial"/>
            </a:endParaRPr>
          </a:p>
          <a:p>
            <a:pPr marL="299085" marR="47625" indent="-28702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#1: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Mr.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</a:t>
            </a:r>
            <a:r>
              <a:rPr sz="1800" u="none" dirty="0">
                <a:latin typeface="Arial"/>
                <a:cs typeface="Arial"/>
              </a:rPr>
              <a:t>lient,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leasing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is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an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advantage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because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you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will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recover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your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taxes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later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when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spc="-25" dirty="0">
                <a:latin typeface="Arial"/>
                <a:cs typeface="Arial"/>
              </a:rPr>
              <a:t>you </a:t>
            </a:r>
            <a:r>
              <a:rPr sz="1800" u="none" dirty="0">
                <a:latin typeface="Arial"/>
                <a:cs typeface="Arial"/>
              </a:rPr>
              <a:t>produce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your</a:t>
            </a:r>
            <a:r>
              <a:rPr sz="1800" u="none" spc="-1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report!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 marR="411226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We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selling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point,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unfortunately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not </a:t>
            </a:r>
            <a:r>
              <a:rPr sz="1800" dirty="0">
                <a:latin typeface="Arial"/>
                <a:cs typeface="Arial"/>
              </a:rPr>
              <a:t>only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declaration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law.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MY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#2: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Your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taxes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are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spread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over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60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months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in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the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case</a:t>
            </a:r>
            <a:r>
              <a:rPr sz="1800" u="none" spc="-10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of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dirty="0">
                <a:latin typeface="Arial"/>
                <a:cs typeface="Arial"/>
              </a:rPr>
              <a:t>a</a:t>
            </a:r>
            <a:r>
              <a:rPr sz="1800" u="none" spc="-5" dirty="0">
                <a:latin typeface="Arial"/>
                <a:cs typeface="Arial"/>
              </a:rPr>
              <a:t> </a:t>
            </a:r>
            <a:r>
              <a:rPr sz="1800" u="none" spc="-10" dirty="0">
                <a:latin typeface="Arial"/>
                <a:cs typeface="Arial"/>
              </a:rPr>
              <a:t>lease!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False: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Since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"taxable"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service,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have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choice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but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charge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2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client's </a:t>
            </a:r>
            <a:r>
              <a:rPr sz="1800" dirty="0">
                <a:latin typeface="Arial"/>
                <a:cs typeface="Arial"/>
              </a:rPr>
              <a:t>rents.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supplier's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invoice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paid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by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HCC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then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recovered.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dirty="0">
                <a:latin typeface="Arial"/>
                <a:cs typeface="Arial"/>
              </a:rPr>
              <a:t>sales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client's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rents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not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correspond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1/60th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taxes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supplier's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invoice.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1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Myths</a:t>
            </a:r>
          </a:p>
        </p:txBody>
      </p:sp>
      <p:sp>
        <p:nvSpPr>
          <p:cNvPr id="17" name="Sous-titre 16">
            <a:extLst>
              <a:ext uri="{FF2B5EF4-FFF2-40B4-BE49-F238E27FC236}">
                <a16:creationId xmlns:a16="http://schemas.microsoft.com/office/drawing/2014/main" id="{71FC21F8-EFB6-2D73-697A-6B2106EBAD0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7576" y="5351779"/>
            <a:ext cx="37973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Arial"/>
                <a:cs typeface="Arial"/>
              </a:rPr>
              <a:t>Thank </a:t>
            </a:r>
            <a:r>
              <a:rPr sz="6000" spc="-20" dirty="0">
                <a:latin typeface="Arial"/>
                <a:cs typeface="Arial"/>
              </a:rPr>
              <a:t>you!</a:t>
            </a:r>
            <a:endParaRPr sz="6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8188" y="1095755"/>
            <a:ext cx="6135623" cy="3713988"/>
          </a:xfrm>
          <a:prstGeom prst="rect">
            <a:avLst/>
          </a:prstGeom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36FB18EC-DDB9-1E46-039F-E290CE0CD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C29B8AF3-4911-94C7-BAEA-340686AF309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HCCNA">
      <a:dk1>
        <a:srgbClr val="000000"/>
      </a:dk1>
      <a:lt1>
        <a:sysClr val="window" lastClr="FFFFFF"/>
      </a:lt1>
      <a:dk2>
        <a:srgbClr val="234A5D"/>
      </a:dk2>
      <a:lt2>
        <a:srgbClr val="7E93A7"/>
      </a:lt2>
      <a:accent1>
        <a:srgbClr val="E60000"/>
      </a:accent1>
      <a:accent2>
        <a:srgbClr val="A03223"/>
      </a:accent2>
      <a:accent3>
        <a:srgbClr val="FFBABA"/>
      </a:accent3>
      <a:accent4>
        <a:srgbClr val="BDCCD7"/>
      </a:accent4>
      <a:accent5>
        <a:srgbClr val="CECECE"/>
      </a:accent5>
      <a:accent6>
        <a:srgbClr val="712319"/>
      </a:accent6>
      <a:hlink>
        <a:srgbClr val="E60000"/>
      </a:hlink>
      <a:folHlink>
        <a:srgbClr val="B0C7D1"/>
      </a:folHlink>
    </a:clrScheme>
    <a:fontScheme name="MHCCNA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2" id="{9FCBC8B7-3A6A-4FE8-9A8E-4A759B9941C9}" vid="{2A3DE66E-0041-4112-9327-C894BD9EC68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e6d4f-8cf7-464e-bfdf-5162297045af">
      <Terms xmlns="http://schemas.microsoft.com/office/infopath/2007/PartnerControls"/>
    </lcf76f155ced4ddcb4097134ff3c332f>
    <TaxCatchAll xmlns="47f04214-008e-4087-8e87-37a4b48276b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CE0836E75D74CB66835CC3F92D61B" ma:contentTypeVersion="15" ma:contentTypeDescription="Crée un document." ma:contentTypeScope="" ma:versionID="3ab975318c1587af2dd5ba40d5259d56">
  <xsd:schema xmlns:xsd="http://www.w3.org/2001/XMLSchema" xmlns:xs="http://www.w3.org/2001/XMLSchema" xmlns:p="http://schemas.microsoft.com/office/2006/metadata/properties" xmlns:ns2="453e6d4f-8cf7-464e-bfdf-5162297045af" xmlns:ns3="47f04214-008e-4087-8e87-37a4b48276b8" targetNamespace="http://schemas.microsoft.com/office/2006/metadata/properties" ma:root="true" ma:fieldsID="2f7636cc8e42b1f4678975e9a38aaefa" ns2:_="" ns3:_="">
    <xsd:import namespace="453e6d4f-8cf7-464e-bfdf-5162297045af"/>
    <xsd:import namespace="47f04214-008e-4087-8e87-37a4b48276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e6d4f-8cf7-464e-bfdf-516229704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4214-008e-4087-8e87-37a4b48276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c154dc8-9501-43e4-b867-1c97e2268bf6}" ma:internalName="TaxCatchAll" ma:showField="CatchAllData" ma:web="47f04214-008e-4087-8e87-37a4b48276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E48BBD-FBF4-4FC8-B74A-21E16412CDB0}">
  <ds:schemaRefs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purl.org/dc/terms/"/>
    <ds:schemaRef ds:uri="453e6d4f-8cf7-464e-bfdf-5162297045a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2FFA2B1-CBD3-4C2F-BB0B-B3B54280AE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8B247B-CC83-41A8-8705-E311CE641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e6d4f-8cf7-464e-bfdf-5162297045af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MHCCCanada-template-gabarit_2026 (4)</Template>
  <TotalTime>79</TotalTime>
  <Words>5864</Words>
  <Application>Microsoft Office PowerPoint</Application>
  <PresentationFormat>Grand écran</PresentationFormat>
  <Paragraphs>570</Paragraphs>
  <Slides>40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9" baseType="lpstr">
      <vt:lpstr>MS PGothic</vt:lpstr>
      <vt:lpstr>Aptos</vt:lpstr>
      <vt:lpstr>Arial</vt:lpstr>
      <vt:lpstr>ArialMT</vt:lpstr>
      <vt:lpstr>Calibri</vt:lpstr>
      <vt:lpstr>Calibri Light</vt:lpstr>
      <vt:lpstr>Segoe UI Symbol</vt:lpstr>
      <vt:lpstr>Times New Roman</vt:lpstr>
      <vt:lpstr>Thème Office</vt:lpstr>
      <vt:lpstr>How to master accounting and tax concepts to gain commercial advantage</vt:lpstr>
      <vt:lpstr>Agenda</vt:lpstr>
      <vt:lpstr>Definitions</vt:lpstr>
      <vt:lpstr>Historical Reminder</vt:lpstr>
      <vt:lpstr>The different accounting systems known over time</vt:lpstr>
      <vt:lpstr>Presentation plan</vt:lpstr>
      <vt:lpstr>INCORPORATION: Some advantages and disadvantages</vt:lpstr>
      <vt:lpstr>Incorporation VS Registration</vt:lpstr>
      <vt:lpstr>Myths</vt:lpstr>
      <vt:lpstr>What to answer if a client asks whether they should incorporate?</vt:lpstr>
      <vt:lpstr>The differences between the accounting and tax treatment of different products</vt:lpstr>
      <vt:lpstr>The differences between the accounting and tax treatment of different products</vt:lpstr>
      <vt:lpstr>The differences between the accounting and tax treatment of different products</vt:lpstr>
      <vt:lpstr>The differences between the accounting and tax treatment of different products</vt:lpstr>
      <vt:lpstr>The differences between accounting and tax treatment of different products</vt:lpstr>
      <vt:lpstr> The differences between the accounting and tax treatment of different products </vt:lpstr>
      <vt:lpstr>The differences between the accounting and tax treatment of different products</vt:lpstr>
      <vt:lpstr>The differences between the accounting and tax treatment of different products</vt:lpstr>
      <vt:lpstr>The differences between the accounting and tax treatment of different products</vt:lpstr>
      <vt:lpstr>SUMMARY (5-year term completed):</vt:lpstr>
      <vt:lpstr>The differences between accounting and tax treatment of different products</vt:lpstr>
      <vt:lpstr>Myths</vt:lpstr>
      <vt:lpstr>Questions about the product concepts we just covered?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Tax management</vt:lpstr>
      <vt:lpstr>Myths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Laetitia Emmanuel</dc:creator>
  <cp:lastModifiedBy>Laetitia Emmanuel</cp:lastModifiedBy>
  <cp:revision>3</cp:revision>
  <dcterms:created xsi:type="dcterms:W3CDTF">2026-02-17T12:35:13Z</dcterms:created>
  <dcterms:modified xsi:type="dcterms:W3CDTF">2026-02-17T13:54:31Z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0x010100381CE0836E75D74CB66835CC3F92D61B</vt:lpwstr>
  </property>
  <property fmtid="{D5CDD505-2E9C-101B-9397-08002B2CF9AE}" pid="3" name="MediaServiceImageTags">
    <vt:lpwstr/>
  </property>
</Properties>
</file>