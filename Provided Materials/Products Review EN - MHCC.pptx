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338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1" r:id="rId15"/>
    <p:sldId id="390" r:id="rId16"/>
    <p:sldId id="392" r:id="rId17"/>
    <p:sldId id="39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F55E933-91F6-45B2-B079-B8170C2802FE}">
          <p14:sldIdLst>
            <p14:sldId id="338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1"/>
            <p14:sldId id="390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70136F-4AC7-4563-A0A5-BA7FEB9DCDE5}" v="37" dt="2026-02-17T21:32:30.491"/>
    <p1510:client id="{F6F39B74-47FD-4300-A85E-A265C6CD025C}" v="20" dt="2026-02-17T13:52:46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8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CA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</a:t>
            </a:r>
            <a:r>
              <a:rPr lang="en-US" sz="1000">
                <a:cs typeface="Calibri Light" panose="020F0302020204030204" pitchFamily="34" charset="0"/>
              </a:rPr>
              <a:t>Canada 2026. </a:t>
            </a:r>
            <a:r>
              <a:rPr lang="en-US" sz="1000" dirty="0">
                <a:cs typeface="Calibri Light" panose="020F0302020204030204" pitchFamily="34" charset="0"/>
              </a:rPr>
              <a:t>Tous droits </a:t>
            </a:r>
            <a:r>
              <a:rPr lang="en-US" sz="1000" dirty="0" err="1">
                <a:cs typeface="Calibri Light" panose="020F0302020204030204" pitchFamily="34" charset="0"/>
              </a:rPr>
              <a:t>réservés</a:t>
            </a:r>
            <a:r>
              <a:rPr lang="en-US" sz="1000" dirty="0">
                <a:cs typeface="Calibri Light" panose="020F0302020204030204" pitchFamily="34" charset="0"/>
              </a:rPr>
              <a:t>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03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25" dirty="0"/>
              <a:t> </a:t>
            </a:r>
            <a:r>
              <a:rPr dirty="0"/>
              <a:t>Capital</a:t>
            </a:r>
            <a:r>
              <a:rPr spc="-20" dirty="0"/>
              <a:t> </a:t>
            </a:r>
            <a:r>
              <a:rPr dirty="0"/>
              <a:t>Canada</a:t>
            </a:r>
            <a:r>
              <a:rPr spc="-4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4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420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562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6890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269" y="233248"/>
            <a:ext cx="27920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50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  <p:sldLayoutId id="2147483692" r:id="rId22"/>
    <p:sldLayoutId id="2147483693" r:id="rId23"/>
    <p:sldLayoutId id="2147483694" r:id="rId24"/>
    <p:sldLayoutId id="2147483695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DF4E-B6F0-F0A5-BE44-5E8C6BED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DED8D-B592-2384-9D30-364B245EB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220" y="2560025"/>
            <a:ext cx="7964911" cy="2137541"/>
          </a:xfrm>
        </p:spPr>
        <p:txBody>
          <a:bodyPr/>
          <a:lstStyle/>
          <a:p>
            <a:r>
              <a:rPr lang="en-CA" sz="4400" dirty="0"/>
              <a:t>Products Review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86BBEB-FA1B-EC5A-3AEF-428703F25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523" y="5331133"/>
            <a:ext cx="4940559" cy="143921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CA" dirty="0">
                <a:latin typeface="Arial"/>
                <a:cs typeface="Arial"/>
              </a:rPr>
              <a:t>Presented</a:t>
            </a:r>
            <a:r>
              <a:rPr lang="en-CA" spc="3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by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90425F-87D1-5658-06E9-31048B890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803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07EF1-2013-526E-24A0-19CA9609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66" y="242134"/>
            <a:ext cx="6875318" cy="653794"/>
          </a:xfrm>
        </p:spPr>
        <p:txBody>
          <a:bodyPr/>
          <a:lstStyle/>
          <a:p>
            <a:r>
              <a:rPr lang="en-CA" dirty="0"/>
              <a:t>Products – Capital Lease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EAA0C0-643D-BFD3-EA02-D0957438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2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AB4B70-9D3F-9243-A522-C63FF286FC9A}"/>
              </a:ext>
            </a:extLst>
          </p:cNvPr>
          <p:cNvSpPr txBox="1"/>
          <p:nvPr/>
        </p:nvSpPr>
        <p:spPr>
          <a:xfrm>
            <a:off x="503382" y="1164565"/>
            <a:ext cx="11185236" cy="525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95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spc="-25" dirty="0">
                <a:latin typeface="Arial"/>
                <a:cs typeface="Arial"/>
              </a:rPr>
              <a:t>Terms </a:t>
            </a:r>
            <a:r>
              <a:rPr lang="en-CA" sz="1600" dirty="0">
                <a:latin typeface="Arial"/>
                <a:cs typeface="Arial"/>
              </a:rPr>
              <a:t>up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72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months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(84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very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strong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clients but we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prefer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shorter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 </a:t>
            </a:r>
            <a:r>
              <a:rPr lang="en-CA" sz="1600" spc="-10" dirty="0">
                <a:latin typeface="Arial"/>
                <a:cs typeface="Arial"/>
              </a:rPr>
              <a:t>residual)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Capitalized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client’s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balance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sheet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Nothing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sign with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dealer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5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Invoice must</a:t>
            </a:r>
            <a:r>
              <a:rPr lang="en-CA" sz="1600" spc="-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made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to: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 or MHCCL</a:t>
            </a:r>
          </a:p>
          <a:p>
            <a:pPr marL="388620" indent="-37592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sign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includes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from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many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suppliers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Purchase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option from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$1.00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maximum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50%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equipment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cost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(subject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approval)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5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No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residual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risk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(please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make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sure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understand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end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 lease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provision)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Skips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/seasonal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IOP</a:t>
            </a:r>
            <a:r>
              <a:rPr lang="en-CA" sz="1600" spc="-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available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(subject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approval)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yet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offered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USD, but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USD invoice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convert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into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CAD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which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creates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 err="1">
                <a:latin typeface="Arial"/>
                <a:cs typeface="Arial"/>
              </a:rPr>
              <a:t>additionnal</a:t>
            </a:r>
            <a:r>
              <a:rPr lang="en-CA" sz="1600" dirty="0">
                <a:latin typeface="Arial"/>
                <a:cs typeface="Arial"/>
              </a:rPr>
              <a:t> revenues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MHCCA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Fiscal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treatment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=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expensed</a:t>
            </a:r>
            <a:endParaRPr lang="en-CA" sz="1600" dirty="0">
              <a:latin typeface="Arial"/>
              <a:cs typeface="Arial"/>
            </a:endParaRPr>
          </a:p>
          <a:p>
            <a:pPr marL="388620" indent="-375920">
              <a:lnSpc>
                <a:spcPct val="100000"/>
              </a:lnSpc>
              <a:spcBef>
                <a:spcPts val="1155"/>
              </a:spcBef>
              <a:buClr>
                <a:srgbClr val="FF0024"/>
              </a:buClr>
              <a:buAutoNum type="arabicPeriod"/>
              <a:tabLst>
                <a:tab pos="388620" algn="l"/>
              </a:tabLst>
            </a:pPr>
            <a:r>
              <a:rPr lang="en-CA" sz="1600" dirty="0">
                <a:latin typeface="Arial"/>
                <a:cs typeface="Arial"/>
              </a:rPr>
              <a:t>Accounting treatment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=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shows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liability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balance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sheet,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expenses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depreciation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income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statement.</a:t>
            </a:r>
            <a:endParaRPr lang="en-CA" sz="1600" dirty="0">
              <a:latin typeface="Arial"/>
              <a:cs typeface="Arial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4077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62E6-DBE5-C403-D8C2-3AFBBF33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74AB4-266C-9B0E-DCDB-C5CC406D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66" y="242134"/>
            <a:ext cx="6875318" cy="653794"/>
          </a:xfrm>
        </p:spPr>
        <p:txBody>
          <a:bodyPr/>
          <a:lstStyle/>
          <a:p>
            <a:r>
              <a:rPr lang="en-CA" dirty="0"/>
              <a:t>Products – </a:t>
            </a:r>
            <a:r>
              <a:rPr lang="en-CA" spc="70" dirty="0"/>
              <a:t>Operating</a:t>
            </a:r>
            <a:r>
              <a:rPr lang="en-CA" spc="10" dirty="0"/>
              <a:t> </a:t>
            </a:r>
            <a:r>
              <a:rPr lang="en-CA" spc="40" dirty="0"/>
              <a:t>Lease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37BFF1-007F-8491-B5B2-62394BEE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3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CF6F626-562A-5A27-3E52-8315B423BD7B}"/>
              </a:ext>
            </a:extLst>
          </p:cNvPr>
          <p:cNvSpPr txBox="1"/>
          <p:nvPr/>
        </p:nvSpPr>
        <p:spPr>
          <a:xfrm>
            <a:off x="503382" y="1117600"/>
            <a:ext cx="1118523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8620" marR="0" lvl="0" indent="-375920" fontAlgn="auto">
              <a:spcBef>
                <a:spcPts val="800"/>
              </a:spcBef>
              <a:spcAft>
                <a:spcPts val="0"/>
              </a:spcAft>
              <a:buClr>
                <a:srgbClr val="FF0024"/>
              </a:buClr>
              <a:buSzTx/>
              <a:buFont typeface="Lucida Handwriting"/>
              <a:buAutoNum type="arabicPeriod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ACCOUNTING TREATMENT: 4 </a:t>
            </a:r>
            <a:r>
              <a:rPr lang="en-CA" sz="1600" dirty="0" err="1">
                <a:latin typeface="Arial"/>
                <a:cs typeface="Arial"/>
              </a:rPr>
              <a:t>criterias</a:t>
            </a:r>
            <a:r>
              <a:rPr lang="en-CA" sz="1600" dirty="0">
                <a:latin typeface="Arial"/>
                <a:cs typeface="Arial"/>
              </a:rPr>
              <a:t> are required to qualify lease off balance sheet</a:t>
            </a:r>
          </a:p>
          <a:p>
            <a:pPr marL="755650" lvl="2" indent="-285750">
              <a:spcBef>
                <a:spcPts val="575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Term must be less than 75% of useful life of the asset</a:t>
            </a:r>
          </a:p>
          <a:p>
            <a:pPr marL="755650" lvl="2" indent="-285750">
              <a:spcBef>
                <a:spcPts val="540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Present value of rentals equal less than 90% of equipment cost</a:t>
            </a:r>
          </a:p>
          <a:p>
            <a:pPr marL="755650" lvl="2" indent="-285750">
              <a:spcBef>
                <a:spcPts val="550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No bargain price purchase option</a:t>
            </a:r>
          </a:p>
          <a:p>
            <a:pPr marL="755650" lvl="2" indent="-285750">
              <a:spcBef>
                <a:spcPts val="550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No automatic transfer of property at the end of the term</a:t>
            </a:r>
          </a:p>
          <a:p>
            <a:pPr marL="388620" marR="0" lvl="1" indent="-375920" fontAlgn="auto">
              <a:spcBef>
                <a:spcPts val="310"/>
              </a:spcBef>
              <a:spcAft>
                <a:spcPts val="0"/>
              </a:spcAft>
              <a:buClr>
                <a:srgbClr val="FF0024"/>
              </a:buClr>
              <a:buSzTx/>
              <a:buFont typeface="Arial"/>
              <a:buAutoNum type="arabicPeriod"/>
              <a:tabLst>
                <a:tab pos="388620" algn="l"/>
              </a:tabLst>
              <a:defRPr/>
            </a:pPr>
            <a:endParaRPr lang="en-CA" sz="1600" dirty="0">
              <a:latin typeface="Arial"/>
              <a:cs typeface="Arial"/>
            </a:endParaRPr>
          </a:p>
          <a:p>
            <a:pPr marL="388620" marR="0" lvl="0" indent="-375920" fontAlgn="auto">
              <a:spcBef>
                <a:spcPts val="0"/>
              </a:spcBef>
              <a:spcAft>
                <a:spcPts val="0"/>
              </a:spcAft>
              <a:buClr>
                <a:srgbClr val="FF0024"/>
              </a:buClr>
              <a:buSzPct val="103571"/>
              <a:buFont typeface="Lucida Handwriting"/>
              <a:buAutoNum type="arabicPeriod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FISCAL TREATMENT Operating Lease vs Capital Lease is the same (rental – expensed)</a:t>
            </a:r>
          </a:p>
          <a:p>
            <a:pPr marL="755650" marR="67310" lvl="2" indent="-285750">
              <a:spcBef>
                <a:spcPts val="480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Since Jan 1, 2019, new IFRS rules make it more difficult to treat leases as « off balance sheet » for larger companies who need to comply with IFRS (International accounting rules). Required to be 12 months or less rental contract.</a:t>
            </a:r>
          </a:p>
          <a:p>
            <a:pPr marL="755650" marR="5080" lvl="2" indent="-285750">
              <a:spcBef>
                <a:spcPts val="395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Our current operating lease contract allows return (provisions 16, 17 and 19 – see next page) but in the event of gain / loss at resale difference will be paid by client / refunded to him</a:t>
            </a:r>
          </a:p>
          <a:p>
            <a:pPr marL="755650" lvl="2" indent="-285750">
              <a:spcBef>
                <a:spcPts val="555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Most of our clients don’t apply new IFRS rules so this doesn’t apply to them</a:t>
            </a:r>
          </a:p>
          <a:p>
            <a:pPr marL="755650" lvl="2" indent="-285750">
              <a:spcBef>
                <a:spcPts val="540"/>
              </a:spcBef>
              <a:buClr>
                <a:srgbClr val="FF0024"/>
              </a:buClr>
              <a:buFont typeface="Arial" panose="020B0604020202020204" pitchFamily="34" charset="0"/>
              <a:buChar char="•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No fiscal benefit to treat on or off balance sheet, real benefit is only presentation of financial statements</a:t>
            </a:r>
          </a:p>
          <a:p>
            <a:pPr marL="388620" marR="0" lvl="1" indent="-375920" fontAlgn="auto">
              <a:spcBef>
                <a:spcPts val="150"/>
              </a:spcBef>
              <a:spcAft>
                <a:spcPts val="0"/>
              </a:spcAft>
              <a:buClr>
                <a:srgbClr val="FF0024"/>
              </a:buClr>
              <a:buSzTx/>
              <a:buFont typeface="Arial"/>
              <a:buAutoNum type="arabicPeriod"/>
              <a:tabLst>
                <a:tab pos="388620" algn="l"/>
              </a:tabLst>
              <a:defRPr/>
            </a:pPr>
            <a:endParaRPr lang="en-CA" sz="1600" dirty="0">
              <a:latin typeface="Arial"/>
              <a:cs typeface="Arial"/>
            </a:endParaRPr>
          </a:p>
          <a:p>
            <a:pPr marL="388620" marR="438784" lvl="0" indent="-375920" fontAlgn="auto">
              <a:spcBef>
                <a:spcPts val="0"/>
              </a:spcBef>
              <a:spcAft>
                <a:spcPts val="0"/>
              </a:spcAft>
              <a:buClr>
                <a:srgbClr val="FF0024"/>
              </a:buClr>
              <a:buSzPct val="103571"/>
              <a:buFont typeface="Lucida Handwriting"/>
              <a:buAutoNum type="arabicPeriod"/>
              <a:tabLst>
                <a:tab pos="388620" algn="l"/>
              </a:tabLst>
              <a:defRPr/>
            </a:pPr>
            <a:r>
              <a:rPr lang="en-CA" sz="1600" dirty="0">
                <a:latin typeface="Arial"/>
                <a:cs typeface="Arial"/>
              </a:rPr>
              <a:t>OUR LEASE MIGHT QUALIFY with some accountants as « off balance sheet » if structure meets </a:t>
            </a:r>
            <a:r>
              <a:rPr lang="en-CA" sz="1600" dirty="0" err="1">
                <a:latin typeface="Arial"/>
                <a:cs typeface="Arial"/>
              </a:rPr>
              <a:t>criterias</a:t>
            </a:r>
            <a:r>
              <a:rPr lang="en-CA" sz="1600" dirty="0">
                <a:latin typeface="Arial"/>
                <a:cs typeface="Arial"/>
              </a:rPr>
              <a:t> but we should not do any representation about this, clients must always validate with their external accountant.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010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95F1-22C9-DC7F-6043-0018C7AF0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88F86-505B-7E0D-C5B6-27D23EA0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66" y="242134"/>
            <a:ext cx="6875318" cy="653794"/>
          </a:xfrm>
        </p:spPr>
        <p:txBody>
          <a:bodyPr/>
          <a:lstStyle/>
          <a:p>
            <a:r>
              <a:rPr lang="en-CA" dirty="0"/>
              <a:t>Products – </a:t>
            </a:r>
            <a:r>
              <a:rPr lang="en-CA" spc="70" dirty="0"/>
              <a:t>Operating</a:t>
            </a:r>
            <a:r>
              <a:rPr lang="en-CA" spc="10" dirty="0"/>
              <a:t> </a:t>
            </a:r>
            <a:r>
              <a:rPr lang="en-CA" spc="40" dirty="0"/>
              <a:t>Lease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299EE-7478-4428-FFB3-50A633FD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4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579DFE-87BF-489D-4D05-F811EB65F3CA}"/>
              </a:ext>
            </a:extLst>
          </p:cNvPr>
          <p:cNvSpPr txBox="1"/>
          <p:nvPr/>
        </p:nvSpPr>
        <p:spPr>
          <a:xfrm>
            <a:off x="503382" y="2115128"/>
            <a:ext cx="11185236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CA" dirty="0">
                <a:latin typeface="Arial"/>
                <a:cs typeface="Arial"/>
              </a:rPr>
              <a:t>We</a:t>
            </a:r>
            <a:r>
              <a:rPr lang="en-CA" spc="-4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can</a:t>
            </a:r>
            <a:r>
              <a:rPr lang="en-CA" spc="-6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currently</a:t>
            </a:r>
            <a:r>
              <a:rPr lang="en-CA" spc="-45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offer</a:t>
            </a:r>
            <a:r>
              <a:rPr lang="en-CA" spc="-5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some</a:t>
            </a:r>
            <a:r>
              <a:rPr lang="en-CA" spc="-55" dirty="0"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TYPES</a:t>
            </a:r>
            <a:r>
              <a:rPr lang="en-CA" sz="1600" spc="1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OF</a:t>
            </a:r>
            <a:r>
              <a:rPr lang="en-CA" sz="1600" spc="-2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spc="-10" dirty="0">
                <a:solidFill>
                  <a:schemeClr val="accent1"/>
                </a:solidFill>
                <a:latin typeface="Arial"/>
                <a:cs typeface="Arial"/>
              </a:rPr>
              <a:t>OPERATING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LEASES</a:t>
            </a:r>
            <a:r>
              <a:rPr lang="en-CA" dirty="0">
                <a:latin typeface="Arial"/>
                <a:cs typeface="Arial"/>
              </a:rPr>
              <a:t>,</a:t>
            </a:r>
            <a:r>
              <a:rPr lang="en-CA" spc="-4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but</a:t>
            </a:r>
            <a:r>
              <a:rPr lang="en-CA" spc="-5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our</a:t>
            </a:r>
            <a:r>
              <a:rPr lang="en-CA" spc="-5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offering</a:t>
            </a:r>
            <a:r>
              <a:rPr lang="en-CA" spc="-4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is</a:t>
            </a:r>
            <a:r>
              <a:rPr lang="en-CA" spc="-30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limited:</a:t>
            </a:r>
            <a:endParaRPr lang="en-CA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5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400" dirty="0">
                <a:latin typeface="Arial"/>
                <a:cs typeface="Arial"/>
              </a:rPr>
              <a:t>If</a:t>
            </a:r>
            <a:r>
              <a:rPr lang="en-CA" sz="1400" spc="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we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have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repurchase</a:t>
            </a:r>
            <a:r>
              <a:rPr lang="en-CA" sz="1400" spc="-5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agreement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on</a:t>
            </a:r>
            <a:r>
              <a:rPr lang="en-CA" sz="1400" spc="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residual</a:t>
            </a:r>
            <a:r>
              <a:rPr lang="en-CA" sz="1400" spc="-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from</a:t>
            </a:r>
            <a:r>
              <a:rPr lang="en-CA" sz="1400" spc="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</a:t>
            </a:r>
            <a:r>
              <a:rPr lang="en-CA" sz="1400" spc="-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solid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Vendor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(subject</a:t>
            </a:r>
            <a:r>
              <a:rPr lang="en-CA" sz="1400" spc="3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to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credit</a:t>
            </a:r>
            <a:r>
              <a:rPr lang="en-CA" sz="1400" spc="-10" dirty="0">
                <a:latin typeface="Arial"/>
                <a:cs typeface="Arial"/>
              </a:rPr>
              <a:t> approval)</a:t>
            </a:r>
            <a:endParaRPr lang="en-CA" sz="14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4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400" dirty="0">
                <a:latin typeface="Arial"/>
                <a:cs typeface="Arial"/>
              </a:rPr>
              <a:t>In the</a:t>
            </a:r>
            <a:r>
              <a:rPr lang="en-CA" sz="1400" spc="15" dirty="0">
                <a:latin typeface="Arial"/>
                <a:cs typeface="Arial"/>
              </a:rPr>
              <a:t> </a:t>
            </a:r>
            <a:r>
              <a:rPr lang="en-CA" sz="1400" dirty="0" err="1">
                <a:latin typeface="Arial"/>
                <a:cs typeface="Arial"/>
              </a:rPr>
              <a:t>Wajax</a:t>
            </a:r>
            <a:r>
              <a:rPr lang="en-CA" sz="1400" spc="-3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program</a:t>
            </a:r>
            <a:r>
              <a:rPr lang="en-CA" sz="1400" spc="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when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leasing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Hitachi</a:t>
            </a:r>
            <a:r>
              <a:rPr lang="en-CA" sz="1400" spc="-3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wheel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loaders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(true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RV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to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MHCCA which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is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shared with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spc="-10" dirty="0" err="1">
                <a:latin typeface="Arial"/>
                <a:cs typeface="Arial"/>
              </a:rPr>
              <a:t>Wajax</a:t>
            </a:r>
            <a:r>
              <a:rPr lang="en-CA" sz="1400" spc="-10" dirty="0">
                <a:latin typeface="Arial"/>
                <a:cs typeface="Arial"/>
              </a:rPr>
              <a:t>)</a:t>
            </a:r>
            <a:endParaRPr lang="en-CA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F0024"/>
              </a:buClr>
              <a:buFont typeface="Arial"/>
              <a:buChar char="•"/>
            </a:pPr>
            <a:endParaRPr lang="en-CA" sz="1400" dirty="0">
              <a:latin typeface="Arial"/>
              <a:cs typeface="Arial"/>
            </a:endParaRPr>
          </a:p>
          <a:p>
            <a:pPr marL="574675" marR="367665" indent="-186055">
              <a:lnSpc>
                <a:spcPts val="1420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400" dirty="0">
                <a:latin typeface="Arial"/>
                <a:cs typeface="Arial"/>
              </a:rPr>
              <a:t>For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good</a:t>
            </a:r>
            <a:r>
              <a:rPr lang="en-CA" sz="1400" spc="-3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customers</a:t>
            </a:r>
            <a:r>
              <a:rPr lang="en-CA" sz="1400" spc="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on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very</a:t>
            </a:r>
            <a:r>
              <a:rPr lang="en-CA" sz="1400" spc="-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good</a:t>
            </a:r>
            <a:r>
              <a:rPr lang="en-CA" sz="1400" spc="-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assets</a:t>
            </a:r>
            <a:r>
              <a:rPr lang="en-CA" sz="1400" spc="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(ex.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Peterbilt,</a:t>
            </a:r>
            <a:r>
              <a:rPr lang="en-CA" sz="1400" spc="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Kenworth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trucks),</a:t>
            </a:r>
            <a:r>
              <a:rPr lang="en-CA" sz="1400" spc="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we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could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consider</a:t>
            </a:r>
            <a:r>
              <a:rPr lang="en-CA" sz="1400" spc="30" dirty="0">
                <a:latin typeface="Arial"/>
                <a:cs typeface="Arial"/>
              </a:rPr>
              <a:t> </a:t>
            </a:r>
            <a:r>
              <a:rPr lang="en-CA" sz="1400" spc="-10" dirty="0">
                <a:latin typeface="Arial"/>
                <a:cs typeface="Arial"/>
              </a:rPr>
              <a:t>doing </a:t>
            </a:r>
            <a:r>
              <a:rPr lang="en-CA" sz="1400" dirty="0">
                <a:latin typeface="Arial"/>
                <a:cs typeface="Arial"/>
              </a:rPr>
              <a:t>operating lease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(FPO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or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FMV),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subject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to structured</a:t>
            </a:r>
            <a:r>
              <a:rPr lang="en-CA" sz="1400" spc="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credit</a:t>
            </a:r>
            <a:r>
              <a:rPr lang="en-CA" sz="1400" spc="-10" dirty="0">
                <a:latin typeface="Arial"/>
                <a:cs typeface="Arial"/>
              </a:rPr>
              <a:t> approval</a:t>
            </a:r>
            <a:endParaRPr lang="en-CA" sz="14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0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400" dirty="0">
                <a:latin typeface="Arial"/>
                <a:cs typeface="Arial"/>
              </a:rPr>
              <a:t>So</a:t>
            </a:r>
            <a:r>
              <a:rPr lang="en-CA" sz="1400" spc="-4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far</a:t>
            </a:r>
            <a:r>
              <a:rPr lang="en-CA" sz="1400" spc="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we</a:t>
            </a:r>
            <a:r>
              <a:rPr lang="en-CA" sz="1400" spc="4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have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quoted</a:t>
            </a:r>
            <a:r>
              <a:rPr lang="en-CA" sz="1400" spc="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few</a:t>
            </a:r>
            <a:r>
              <a:rPr lang="en-CA" sz="1400" spc="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transactions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but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have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not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win</a:t>
            </a:r>
            <a:r>
              <a:rPr lang="en-CA" sz="1400" spc="3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one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spc="-25" dirty="0">
                <a:latin typeface="Arial"/>
                <a:cs typeface="Arial"/>
              </a:rPr>
              <a:t>yet</a:t>
            </a:r>
            <a:endParaRPr lang="en-CA" sz="14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4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400" dirty="0">
                <a:latin typeface="Arial"/>
                <a:cs typeface="Arial"/>
              </a:rPr>
              <a:t>Some</a:t>
            </a:r>
            <a:r>
              <a:rPr lang="en-CA" sz="1400" spc="3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competitors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are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very</a:t>
            </a:r>
            <a:r>
              <a:rPr lang="en-CA" sz="1400" spc="-1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aggressive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on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trucks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RV</a:t>
            </a:r>
            <a:r>
              <a:rPr lang="en-CA" sz="1400" spc="-1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ex.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Wells</a:t>
            </a:r>
            <a:r>
              <a:rPr lang="en-CA" sz="1400" spc="-5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Fargo,</a:t>
            </a:r>
            <a:r>
              <a:rPr lang="en-CA" sz="1400" spc="2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BMO,</a:t>
            </a:r>
            <a:r>
              <a:rPr lang="en-CA" sz="1400" spc="25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Daimler</a:t>
            </a:r>
            <a:r>
              <a:rPr lang="en-CA" sz="1400" spc="-50" dirty="0">
                <a:latin typeface="Arial"/>
                <a:cs typeface="Arial"/>
              </a:rPr>
              <a:t> </a:t>
            </a:r>
            <a:r>
              <a:rPr lang="en-CA" sz="1400" dirty="0">
                <a:latin typeface="Arial"/>
                <a:cs typeface="Arial"/>
              </a:rPr>
              <a:t>Truck</a:t>
            </a:r>
            <a:r>
              <a:rPr lang="en-CA" sz="1400" spc="-5" dirty="0">
                <a:latin typeface="Arial"/>
                <a:cs typeface="Arial"/>
              </a:rPr>
              <a:t> </a:t>
            </a:r>
            <a:r>
              <a:rPr lang="en-CA" sz="1400" spc="-10" dirty="0">
                <a:latin typeface="Arial"/>
                <a:cs typeface="Arial"/>
              </a:rPr>
              <a:t>Financial.</a:t>
            </a:r>
            <a:endParaRPr lang="en-CA" sz="1400" dirty="0">
              <a:latin typeface="Arial"/>
              <a:cs typeface="Arial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279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DC0A-742C-9E31-331C-2271DB69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F5AF7-3393-95F5-94A7-78064375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66" y="242134"/>
            <a:ext cx="6875318" cy="653794"/>
          </a:xfrm>
        </p:spPr>
        <p:txBody>
          <a:bodyPr/>
          <a:lstStyle/>
          <a:p>
            <a:r>
              <a:rPr lang="en-CA" dirty="0"/>
              <a:t>Products – </a:t>
            </a:r>
            <a:r>
              <a:rPr lang="en-CA" spc="70" dirty="0"/>
              <a:t>Operating</a:t>
            </a:r>
            <a:r>
              <a:rPr lang="en-CA" spc="10" dirty="0"/>
              <a:t> </a:t>
            </a:r>
            <a:r>
              <a:rPr lang="en-CA" spc="40" dirty="0"/>
              <a:t>Lease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DA746F-A812-1B10-2BEA-CBF02EE3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5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34BD8C-9928-8427-2861-3842AC0CB962}"/>
              </a:ext>
            </a:extLst>
          </p:cNvPr>
          <p:cNvSpPr txBox="1"/>
          <p:nvPr/>
        </p:nvSpPr>
        <p:spPr>
          <a:xfrm>
            <a:off x="448575" y="895928"/>
            <a:ext cx="1118523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SOME</a:t>
            </a:r>
            <a:r>
              <a:rPr lang="en-CA" sz="1600" spc="-4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TYPES</a:t>
            </a:r>
            <a:r>
              <a:rPr lang="en-CA" sz="1600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OF</a:t>
            </a:r>
            <a:r>
              <a:rPr lang="en-CA" sz="1600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OPERATING</a:t>
            </a:r>
            <a:r>
              <a:rPr lang="en-CA" sz="1600" spc="-4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spc="-10" dirty="0">
                <a:solidFill>
                  <a:schemeClr val="accent1"/>
                </a:solidFill>
                <a:latin typeface="Arial"/>
                <a:cs typeface="Arial"/>
              </a:rPr>
              <a:t>LEASE</a:t>
            </a:r>
            <a:endParaRPr lang="en-CA" sz="160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574675" marR="224154" indent="-186055">
              <a:lnSpc>
                <a:spcPct val="103299"/>
              </a:lnSpc>
              <a:spcBef>
                <a:spcPts val="39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TRAC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10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(Terminal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Rental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Adjustment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Clause):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what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standard</a:t>
            </a:r>
            <a:r>
              <a:rPr lang="en-CA" sz="1600" spc="10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contract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mentions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(next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slide).</a:t>
            </a:r>
            <a:r>
              <a:rPr lang="en-CA" sz="1600" spc="47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RV </a:t>
            </a:r>
            <a:r>
              <a:rPr lang="en-CA" sz="1600" dirty="0">
                <a:latin typeface="Arial"/>
                <a:cs typeface="Arial"/>
              </a:rPr>
              <a:t>risk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fully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customer.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574675" marR="5080" indent="-186055">
              <a:lnSpc>
                <a:spcPct val="102499"/>
              </a:lnSpc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FMV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(Fair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Market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Value):</a:t>
            </a:r>
            <a:r>
              <a:rPr lang="en-CA" sz="1600" spc="10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residual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unknown</a:t>
            </a:r>
            <a:r>
              <a:rPr lang="en-CA" sz="1600" spc="10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lender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wants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have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upside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end</a:t>
            </a:r>
            <a:r>
              <a:rPr lang="en-CA" sz="1600" spc="10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of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case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value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higher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than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RV.</a:t>
            </a:r>
            <a:r>
              <a:rPr lang="en-CA" sz="1600" spc="4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Good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 clients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that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don’t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care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about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RV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care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about </a:t>
            </a:r>
            <a:r>
              <a:rPr lang="en-CA" sz="1600" dirty="0">
                <a:latin typeface="Arial"/>
                <a:cs typeface="Arial"/>
              </a:rPr>
              <a:t>smallest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rental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1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possible,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then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return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asset.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574675" marR="154305" indent="-186055">
              <a:lnSpc>
                <a:spcPct val="102499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Fixed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P.O.: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true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operating</a:t>
            </a:r>
            <a:r>
              <a:rPr lang="en-CA" sz="1600" spc="114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where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lender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mentions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what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RV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is.</a:t>
            </a:r>
            <a:r>
              <a:rPr lang="en-CA" sz="1600" spc="40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9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purchase</a:t>
            </a:r>
            <a:r>
              <a:rPr lang="en-CA" sz="1600" spc="10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for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price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or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walk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away</a:t>
            </a:r>
            <a:r>
              <a:rPr lang="en-CA" sz="1600" spc="10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return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9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end,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following</a:t>
            </a:r>
            <a:r>
              <a:rPr lang="en-CA" sz="1600" spc="120" dirty="0">
                <a:latin typeface="Arial"/>
                <a:cs typeface="Arial"/>
              </a:rPr>
              <a:t> </a:t>
            </a:r>
            <a:r>
              <a:rPr lang="en-CA" sz="1600" dirty="0" err="1">
                <a:latin typeface="Arial"/>
                <a:cs typeface="Arial"/>
              </a:rPr>
              <a:t>retuen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conditions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established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the </a:t>
            </a:r>
            <a:r>
              <a:rPr lang="en-CA" sz="1600" dirty="0">
                <a:latin typeface="Arial"/>
                <a:cs typeface="Arial"/>
              </a:rPr>
              <a:t>beginning</a:t>
            </a:r>
            <a:r>
              <a:rPr lang="en-CA" sz="1600" spc="1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9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lease.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IMPORTANT</a:t>
            </a:r>
            <a:r>
              <a:rPr lang="en-CA" sz="1600" spc="-3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TO</a:t>
            </a:r>
            <a:r>
              <a:rPr lang="en-CA" sz="1600" spc="-5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spc="-20" dirty="0">
                <a:solidFill>
                  <a:schemeClr val="accent1"/>
                </a:solidFill>
                <a:latin typeface="Arial"/>
                <a:cs typeface="Arial"/>
              </a:rPr>
              <a:t>KNOW</a:t>
            </a:r>
            <a:endParaRPr lang="en-CA" sz="160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574675" marR="299085" indent="-186055">
              <a:lnSpc>
                <a:spcPct val="102499"/>
              </a:lnSpc>
              <a:spcBef>
                <a:spcPts val="42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lender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shows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RV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4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lease,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1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lose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money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end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(client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would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return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value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lower </a:t>
            </a:r>
            <a:r>
              <a:rPr lang="en-CA" sz="1600" dirty="0">
                <a:latin typeface="Arial"/>
                <a:cs typeface="Arial"/>
              </a:rPr>
              <a:t>than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RV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purchase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value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higher)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574675" marR="22225" indent="-186055">
              <a:lnSpc>
                <a:spcPct val="102499"/>
              </a:lnSpc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Operating</a:t>
            </a:r>
            <a:r>
              <a:rPr lang="en-CA" sz="1600" spc="1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trucks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9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9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very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risky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(ex.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 err="1">
                <a:latin typeface="Arial"/>
                <a:cs typeface="Arial"/>
              </a:rPr>
              <a:t>MaxxForce</a:t>
            </a:r>
            <a:r>
              <a:rPr lang="en-CA" sz="1600" spc="10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engine</a:t>
            </a:r>
            <a:r>
              <a:rPr lang="en-CA" sz="1600" spc="1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leased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–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GE/BMO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likely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took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$15-30K/truck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hit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resell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value</a:t>
            </a:r>
            <a:r>
              <a:rPr lang="en-CA" sz="1600" spc="10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was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next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nothing.)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True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operating</a:t>
            </a:r>
            <a:r>
              <a:rPr lang="en-CA" sz="1600" spc="1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has</a:t>
            </a:r>
            <a:r>
              <a:rPr lang="en-CA" sz="1600" spc="1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return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conditions</a:t>
            </a:r>
            <a:r>
              <a:rPr lang="en-CA" sz="1600" spc="1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extra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mileage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cost,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like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leasing</a:t>
            </a:r>
            <a:r>
              <a:rPr lang="en-CA" sz="1600" spc="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80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car.</a:t>
            </a:r>
            <a:endParaRPr lang="en-CA" sz="1600" dirty="0">
              <a:latin typeface="Arial"/>
              <a:cs typeface="Arial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639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>
            <a:extLst>
              <a:ext uri="{FF2B5EF4-FFF2-40B4-BE49-F238E27FC236}">
                <a16:creationId xmlns:a16="http://schemas.microsoft.com/office/drawing/2014/main" id="{673C362F-95E6-88CC-9DB7-5AE73B6FBC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587" y="611886"/>
            <a:ext cx="3494532" cy="5634227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5159129E-C16A-2A59-6F08-397F518324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9401" y="819551"/>
            <a:ext cx="5790689" cy="4331569"/>
          </a:xfrm>
          <a:prstGeom prst="rect">
            <a:avLst/>
          </a:prstGeom>
        </p:spPr>
      </p:pic>
      <p:pic>
        <p:nvPicPr>
          <p:cNvPr id="9" name="object 6">
            <a:extLst>
              <a:ext uri="{FF2B5EF4-FFF2-40B4-BE49-F238E27FC236}">
                <a16:creationId xmlns:a16="http://schemas.microsoft.com/office/drawing/2014/main" id="{4A34BFB9-8235-0E4A-E07A-E8F3896E4B5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401" y="5169154"/>
            <a:ext cx="5790689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0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2C1F-0E34-70AD-A71E-D39ADB19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E8FC5-7355-994E-139D-A837DECF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6" y="252294"/>
            <a:ext cx="9031374" cy="653794"/>
          </a:xfrm>
        </p:spPr>
        <p:txBody>
          <a:bodyPr/>
          <a:lstStyle/>
          <a:p>
            <a:r>
              <a:rPr lang="en-CA" sz="3200" dirty="0"/>
              <a:t>Products – Sales and Security Contract / Agreement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90CA68-30FE-1C07-487E-F619C605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7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91751B-FC39-A6DD-D831-54BE4E106385}"/>
              </a:ext>
            </a:extLst>
          </p:cNvPr>
          <p:cNvSpPr txBox="1"/>
          <p:nvPr/>
        </p:nvSpPr>
        <p:spPr>
          <a:xfrm>
            <a:off x="448575" y="1461795"/>
            <a:ext cx="11185236" cy="393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15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where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dealer and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must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sign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agreement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(French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=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CVT)</a:t>
            </a:r>
            <a:endParaRPr lang="en-CA" sz="1600" dirty="0">
              <a:latin typeface="Arial"/>
              <a:cs typeface="Arial"/>
            </a:endParaRPr>
          </a:p>
          <a:p>
            <a:pPr marL="198120" indent="-185420">
              <a:lnSpc>
                <a:spcPct val="100000"/>
              </a:lnSpc>
              <a:spcBef>
                <a:spcPts val="1305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/>
                <a:cs typeface="Arial"/>
              </a:rPr>
              <a:t>One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dealer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per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contract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(if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many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–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needs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done under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Loan)</a:t>
            </a:r>
            <a:endParaRPr lang="en-CA" sz="1600" dirty="0">
              <a:latin typeface="Arial"/>
              <a:cs typeface="Arial"/>
            </a:endParaRPr>
          </a:p>
          <a:p>
            <a:pPr marL="198120" indent="-185420">
              <a:lnSpc>
                <a:spcPct val="100000"/>
              </a:lnSpc>
              <a:spcBef>
                <a:spcPts val="1310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/>
                <a:cs typeface="Arial"/>
              </a:rPr>
              <a:t>GST/PST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 financed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up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3-4 months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(need credit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approval)</a:t>
            </a:r>
            <a:endParaRPr lang="en-CA" sz="1600" dirty="0">
              <a:latin typeface="Arial"/>
              <a:cs typeface="Arial"/>
            </a:endParaRPr>
          </a:p>
          <a:p>
            <a:pPr marL="197485" marR="5080" indent="-185420">
              <a:lnSpc>
                <a:spcPts val="1680"/>
              </a:lnSpc>
              <a:spcBef>
                <a:spcPts val="151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have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balloon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 the last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(unlike lease, if balloon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becomes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the 	</a:t>
            </a:r>
            <a:r>
              <a:rPr lang="en-CA" sz="1600" dirty="0">
                <a:latin typeface="Arial"/>
                <a:cs typeface="Arial"/>
              </a:rPr>
              <a:t>last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ex.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59 months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+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balloon,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while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 would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60 months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+ </a:t>
            </a:r>
            <a:r>
              <a:rPr lang="en-CA" sz="1600" spc="-10" dirty="0">
                <a:latin typeface="Arial"/>
                <a:cs typeface="Arial"/>
              </a:rPr>
              <a:t>residual.)</a:t>
            </a:r>
            <a:endParaRPr lang="en-CA" sz="1600" dirty="0">
              <a:latin typeface="Arial"/>
              <a:cs typeface="Arial"/>
            </a:endParaRPr>
          </a:p>
          <a:p>
            <a:pPr marL="198120" indent="-185420">
              <a:lnSpc>
                <a:spcPct val="100000"/>
              </a:lnSpc>
              <a:spcBef>
                <a:spcPts val="1280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/>
                <a:cs typeface="Arial"/>
              </a:rPr>
              <a:t>Plates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registration /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titles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 name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only</a:t>
            </a:r>
            <a:endParaRPr lang="en-CA" sz="1600" dirty="0">
              <a:latin typeface="Arial"/>
              <a:cs typeface="Arial"/>
            </a:endParaRPr>
          </a:p>
          <a:p>
            <a:pPr marL="198120" indent="-185420">
              <a:lnSpc>
                <a:spcPct val="100000"/>
              </a:lnSpc>
              <a:spcBef>
                <a:spcPts val="1295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/>
                <a:cs typeface="Arial"/>
              </a:rPr>
              <a:t>Skips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/seasonal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payments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IOP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available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(subject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approval)</a:t>
            </a:r>
            <a:endParaRPr lang="en-CA" sz="1600" dirty="0">
              <a:latin typeface="Arial"/>
              <a:cs typeface="Arial"/>
            </a:endParaRPr>
          </a:p>
          <a:p>
            <a:pPr marL="197485" marR="86360" indent="-185420">
              <a:lnSpc>
                <a:spcPts val="1689"/>
              </a:lnSpc>
              <a:spcBef>
                <a:spcPts val="149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Rate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disclosed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agreement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QC,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ROC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show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total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charge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the 	</a:t>
            </a:r>
            <a:r>
              <a:rPr lang="en-CA" sz="1600" spc="-10" dirty="0">
                <a:latin typeface="Arial"/>
                <a:cs typeface="Arial"/>
              </a:rPr>
              <a:t>contract.</a:t>
            </a:r>
            <a:endParaRPr lang="en-CA" sz="1600" dirty="0">
              <a:latin typeface="Arial"/>
              <a:cs typeface="Arial"/>
            </a:endParaRPr>
          </a:p>
          <a:p>
            <a:pPr marL="197485" marR="109220" indent="-185420">
              <a:lnSpc>
                <a:spcPts val="1689"/>
              </a:lnSpc>
              <a:spcBef>
                <a:spcPts val="147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Accounting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Fiscal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treatment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=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classified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liability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 the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balance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sheet.</a:t>
            </a:r>
            <a:r>
              <a:rPr lang="en-CA" sz="1600" spc="40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amortize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the 	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(depreciation)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interests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are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expensed.</a:t>
            </a:r>
            <a:endParaRPr lang="en-CA" sz="1600" dirty="0">
              <a:latin typeface="Arial"/>
              <a:cs typeface="Arial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401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76F4-42D6-8071-86E7-F071376C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137DB-C20F-EF23-DABF-66B0E5CD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dirty="0"/>
              <a:t>Products – </a:t>
            </a:r>
            <a:r>
              <a:rPr lang="en-CA" spc="110" dirty="0"/>
              <a:t>Loan</a:t>
            </a:r>
            <a:r>
              <a:rPr lang="en-CA" spc="-65" dirty="0"/>
              <a:t> </a:t>
            </a:r>
            <a:r>
              <a:rPr lang="en-CA" spc="85" dirty="0"/>
              <a:t>and</a:t>
            </a:r>
            <a:r>
              <a:rPr lang="en-CA" dirty="0"/>
              <a:t> </a:t>
            </a:r>
            <a:r>
              <a:rPr lang="en-CA" spc="105" dirty="0"/>
              <a:t>security</a:t>
            </a:r>
            <a:r>
              <a:rPr lang="en-CA" spc="15" dirty="0"/>
              <a:t> </a:t>
            </a:r>
            <a:r>
              <a:rPr lang="en-CA" spc="55" dirty="0"/>
              <a:t>agreement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2A7DC6-E4B4-0F7D-97F9-BF4BD30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8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B7EE73-5590-F225-254A-27E0A2DDE0A7}"/>
              </a:ext>
            </a:extLst>
          </p:cNvPr>
          <p:cNvSpPr txBox="1"/>
          <p:nvPr/>
        </p:nvSpPr>
        <p:spPr>
          <a:xfrm>
            <a:off x="503382" y="977208"/>
            <a:ext cx="11185236" cy="5421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9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Loan product,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need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have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dealer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signature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(French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=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prêt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à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 err="1">
                <a:latin typeface="Arial"/>
                <a:cs typeface="Arial"/>
              </a:rPr>
              <a:t>terme</a:t>
            </a:r>
            <a:r>
              <a:rPr lang="en-CA" sz="1600" dirty="0">
                <a:latin typeface="Arial"/>
                <a:cs typeface="Arial"/>
              </a:rPr>
              <a:t>,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 err="1">
                <a:latin typeface="Arial"/>
                <a:cs typeface="Arial"/>
              </a:rPr>
              <a:t>contrat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prêt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et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spc="-10" dirty="0" err="1">
                <a:latin typeface="Arial"/>
                <a:cs typeface="Arial"/>
              </a:rPr>
              <a:t>hypothèque</a:t>
            </a:r>
            <a:r>
              <a:rPr lang="en-CA" sz="1600" spc="-10" dirty="0">
                <a:latin typeface="Arial"/>
                <a:cs typeface="Arial"/>
              </a:rPr>
              <a:t>)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marR="1557020" indent="-187960">
              <a:lnSpc>
                <a:spcPct val="100000"/>
              </a:lnSpc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Usually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8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refinancing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(repaying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extra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working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capital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and/or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other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lenders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dealers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or</a:t>
            </a:r>
            <a:r>
              <a:rPr lang="en-CA" sz="1600" spc="-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mix) </a:t>
            </a:r>
            <a:r>
              <a:rPr lang="en-CA" sz="1600" dirty="0">
                <a:latin typeface="Arial"/>
                <a:cs typeface="Arial"/>
              </a:rPr>
              <a:t>or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when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Hazmat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involved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marR="1913889" indent="-187960">
              <a:lnSpc>
                <a:spcPts val="1370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refinancing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will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likely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require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desktop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or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physical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appraisal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from</a:t>
            </a:r>
            <a:r>
              <a:rPr lang="en-CA" sz="1600" spc="-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outside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firm</a:t>
            </a:r>
            <a:r>
              <a:rPr lang="en-CA" sz="1600" spc="-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acceptable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Hitachi </a:t>
            </a:r>
            <a:r>
              <a:rPr lang="en-CA" sz="1600" dirty="0">
                <a:latin typeface="Arial"/>
                <a:cs typeface="Arial"/>
              </a:rPr>
              <a:t>(we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tend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S. Guy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Gauthier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Inc.).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indent="-187325">
              <a:lnSpc>
                <a:spcPct val="100000"/>
              </a:lnSpc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small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refinancing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 might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OK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desktop appraisal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(as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per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decision)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but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physical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inspection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likely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required.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marR="255904" indent="-187960">
              <a:lnSpc>
                <a:spcPts val="1370"/>
              </a:lnSpc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spc="-10" dirty="0">
                <a:latin typeface="Arial"/>
                <a:cs typeface="Arial"/>
              </a:rPr>
              <a:t>Waivers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required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get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first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rank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financed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refinancing.</a:t>
            </a:r>
            <a:r>
              <a:rPr lang="en-CA" sz="1600" spc="2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new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purchased in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ROC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registered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PPSA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within </a:t>
            </a:r>
            <a:r>
              <a:rPr lang="en-CA" sz="1600" dirty="0">
                <a:latin typeface="Arial"/>
                <a:cs typeface="Arial"/>
              </a:rPr>
              <a:t>15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days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delivery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don’t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waiver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title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valid.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indent="-187325">
              <a:lnSpc>
                <a:spcPct val="100000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 that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finance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related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Hazardous Materials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(ex.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oil</a:t>
            </a:r>
            <a:r>
              <a:rPr lang="en-CA" sz="1600" spc="-10" dirty="0">
                <a:latin typeface="Arial"/>
                <a:cs typeface="Arial"/>
              </a:rPr>
              <a:t> tanker).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indent="-187325">
              <a:lnSpc>
                <a:spcPct val="100000"/>
              </a:lnSpc>
              <a:spcBef>
                <a:spcPts val="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Can have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balloon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at</a:t>
            </a:r>
            <a:r>
              <a:rPr lang="en-CA" sz="1600" spc="-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last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taxes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balloon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indent="-187325">
              <a:lnSpc>
                <a:spcPct val="100000"/>
              </a:lnSpc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have copies of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all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assets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original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invoices,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titles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might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 as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proof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ownership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(must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name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only)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200025" indent="-187325">
              <a:lnSpc>
                <a:spcPct val="100000"/>
              </a:lnSpc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Skips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/seasonal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payments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IOP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available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(subject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approval)</a:t>
            </a:r>
            <a:endParaRPr lang="en-CA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28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0FF9-93FD-22D9-389C-E35AB5D3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67BA0-D9FB-A3F3-8D16-26686FA4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dirty="0"/>
              <a:t>Products – EBR:</a:t>
            </a:r>
            <a:r>
              <a:rPr lang="en-CA" spc="110" dirty="0"/>
              <a:t> </a:t>
            </a:r>
            <a:r>
              <a:rPr lang="en-CA" spc="95" dirty="0"/>
              <a:t>Definition</a:t>
            </a:r>
            <a:r>
              <a:rPr lang="en-CA" spc="20" dirty="0"/>
              <a:t> </a:t>
            </a:r>
            <a:r>
              <a:rPr lang="en-CA" spc="75" dirty="0"/>
              <a:t>and</a:t>
            </a:r>
            <a:r>
              <a:rPr lang="en-CA" spc="60" dirty="0"/>
              <a:t> </a:t>
            </a:r>
            <a:r>
              <a:rPr lang="en-CA" spc="55" dirty="0"/>
              <a:t>Details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80AC389-B696-CBB0-0CBA-F959A71B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9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ECB961-FE7A-84AE-8B97-50803AB695A5}"/>
              </a:ext>
            </a:extLst>
          </p:cNvPr>
          <p:cNvSpPr txBox="1"/>
          <p:nvPr/>
        </p:nvSpPr>
        <p:spPr>
          <a:xfrm>
            <a:off x="503382" y="1349531"/>
            <a:ext cx="11185236" cy="430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8755" marR="308610" indent="-186690">
              <a:lnSpc>
                <a:spcPts val="1670"/>
              </a:lnSpc>
              <a:spcBef>
                <a:spcPts val="16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Equipment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Backed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Revolving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line (EBR)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product,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same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characteristics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Security 	</a:t>
            </a:r>
            <a:r>
              <a:rPr lang="en-CA" sz="1600" dirty="0">
                <a:latin typeface="Arial"/>
                <a:cs typeface="Arial"/>
              </a:rPr>
              <a:t>Agreement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terms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10" dirty="0">
                <a:latin typeface="Arial"/>
                <a:cs typeface="Arial"/>
              </a:rPr>
              <a:t> security,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but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way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manage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it.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085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like</a:t>
            </a:r>
            <a:r>
              <a:rPr lang="en-CA" sz="1600" spc="-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bank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operating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line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credit backed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(mostly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construction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industry).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Fully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flexible,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repay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all,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draw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it,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or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capital.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Physical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appraisal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required,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certain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%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value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12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months term,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following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options:</a:t>
            </a:r>
            <a:endParaRPr lang="en-CA" sz="1600" dirty="0">
              <a:latin typeface="Arial"/>
              <a:cs typeface="Arial"/>
            </a:endParaRPr>
          </a:p>
          <a:p>
            <a:pPr marL="603885" marR="5080" lvl="1" indent="-282575">
              <a:lnSpc>
                <a:spcPts val="1370"/>
              </a:lnSpc>
              <a:spcBef>
                <a:spcPts val="965"/>
              </a:spcBef>
              <a:buClr>
                <a:srgbClr val="7E7E7E"/>
              </a:buClr>
              <a:buFont typeface="Wingdings"/>
              <a:buChar char=""/>
              <a:tabLst>
                <a:tab pos="603885" algn="l"/>
              </a:tabLst>
            </a:pPr>
            <a:r>
              <a:rPr lang="en-CA" sz="1200" dirty="0">
                <a:latin typeface="Arial"/>
                <a:cs typeface="Arial"/>
              </a:rPr>
              <a:t>Renewal</a:t>
            </a:r>
            <a:r>
              <a:rPr lang="en-CA" sz="1200" spc="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for</a:t>
            </a:r>
            <a:r>
              <a:rPr lang="en-CA" sz="1200" spc="-4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another</a:t>
            </a:r>
            <a:r>
              <a:rPr lang="en-CA" sz="1200" spc="-3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12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months</a:t>
            </a:r>
            <a:r>
              <a:rPr lang="en-CA" sz="1200" spc="-6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(approved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amount</a:t>
            </a:r>
            <a:r>
              <a:rPr lang="en-CA" sz="1200" spc="-7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should</a:t>
            </a:r>
            <a:r>
              <a:rPr lang="en-CA" sz="1200" spc="-2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be</a:t>
            </a:r>
            <a:r>
              <a:rPr lang="en-CA" sz="1200" spc="-3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reduced</a:t>
            </a:r>
            <a:r>
              <a:rPr lang="en-CA" sz="1200" spc="-2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by</a:t>
            </a:r>
            <a:r>
              <a:rPr lang="en-CA" sz="1200" spc="-3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20%</a:t>
            </a:r>
            <a:r>
              <a:rPr lang="en-CA" sz="1200" spc="-4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or</a:t>
            </a:r>
            <a:r>
              <a:rPr lang="en-CA" sz="1200" spc="-4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client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shall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provide</a:t>
            </a:r>
            <a:r>
              <a:rPr lang="en-CA" sz="1200" spc="-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additional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collateral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spc="-25" dirty="0">
                <a:latin typeface="Arial"/>
                <a:cs typeface="Arial"/>
              </a:rPr>
              <a:t>to </a:t>
            </a:r>
            <a:r>
              <a:rPr lang="en-CA" sz="1200" dirty="0">
                <a:latin typeface="Arial"/>
                <a:cs typeface="Arial"/>
              </a:rPr>
              <a:t>offset</a:t>
            </a:r>
            <a:r>
              <a:rPr lang="en-CA" sz="1200" spc="-8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asset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depreciation),</a:t>
            </a:r>
            <a:r>
              <a:rPr lang="en-CA" sz="1200" spc="-2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subject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to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credit</a:t>
            </a:r>
            <a:r>
              <a:rPr lang="en-CA" sz="1200" spc="-55" dirty="0">
                <a:latin typeface="Arial"/>
                <a:cs typeface="Arial"/>
              </a:rPr>
              <a:t> </a:t>
            </a:r>
            <a:r>
              <a:rPr lang="en-CA" sz="1200" spc="-10" dirty="0">
                <a:latin typeface="Arial"/>
                <a:cs typeface="Arial"/>
              </a:rPr>
              <a:t>approval.</a:t>
            </a:r>
            <a:endParaRPr lang="en-CA" sz="1200" dirty="0">
              <a:latin typeface="Arial"/>
              <a:cs typeface="Arial"/>
            </a:endParaRPr>
          </a:p>
          <a:p>
            <a:pPr marL="603885" lvl="1" indent="-281940">
              <a:lnSpc>
                <a:spcPct val="100000"/>
              </a:lnSpc>
              <a:spcBef>
                <a:spcPts val="710"/>
              </a:spcBef>
              <a:buClr>
                <a:srgbClr val="7E7E7E"/>
              </a:buClr>
              <a:buFont typeface="Wingdings"/>
              <a:buChar char=""/>
              <a:tabLst>
                <a:tab pos="603885" algn="l"/>
              </a:tabLst>
            </a:pPr>
            <a:r>
              <a:rPr lang="en-CA" sz="1200" dirty="0">
                <a:latin typeface="Arial"/>
                <a:cs typeface="Arial"/>
              </a:rPr>
              <a:t>Amortized</a:t>
            </a:r>
            <a:r>
              <a:rPr lang="en-CA" sz="1200" spc="-3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over</a:t>
            </a:r>
            <a:r>
              <a:rPr lang="en-CA" sz="1200" spc="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48</a:t>
            </a:r>
            <a:r>
              <a:rPr lang="en-CA" sz="1200" spc="-5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months</a:t>
            </a:r>
            <a:r>
              <a:rPr lang="en-CA" sz="1200" spc="-6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(rate</a:t>
            </a:r>
            <a:r>
              <a:rPr lang="en-CA" sz="1200" spc="-3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to</a:t>
            </a:r>
            <a:r>
              <a:rPr lang="en-CA" sz="1200" spc="-2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be</a:t>
            </a:r>
            <a:r>
              <a:rPr lang="en-CA" sz="1200" spc="-3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determined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at</a:t>
            </a:r>
            <a:r>
              <a:rPr lang="en-CA" sz="1200" spc="-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that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time,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no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up</a:t>
            </a:r>
            <a:r>
              <a:rPr lang="en-CA" sz="1200" spc="-2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front</a:t>
            </a:r>
            <a:r>
              <a:rPr lang="en-CA" sz="1200" spc="-6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commitment</a:t>
            </a:r>
            <a:r>
              <a:rPr lang="en-CA" sz="1200" spc="-4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on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rate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at</a:t>
            </a:r>
            <a:r>
              <a:rPr lang="en-CA" sz="1200" spc="-2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term</a:t>
            </a:r>
            <a:r>
              <a:rPr lang="en-CA" sz="1200" spc="-50" dirty="0">
                <a:latin typeface="Arial"/>
                <a:cs typeface="Arial"/>
              </a:rPr>
              <a:t> </a:t>
            </a:r>
            <a:r>
              <a:rPr lang="en-CA" sz="1200" spc="-10" dirty="0">
                <a:latin typeface="Arial"/>
                <a:cs typeface="Arial"/>
              </a:rPr>
              <a:t>out).</a:t>
            </a:r>
            <a:endParaRPr lang="en-CA" sz="1200" dirty="0">
              <a:latin typeface="Arial"/>
              <a:cs typeface="Arial"/>
            </a:endParaRPr>
          </a:p>
          <a:p>
            <a:pPr marL="603885" lvl="1" indent="-281940">
              <a:lnSpc>
                <a:spcPct val="100000"/>
              </a:lnSpc>
              <a:spcBef>
                <a:spcPts val="735"/>
              </a:spcBef>
              <a:buClr>
                <a:srgbClr val="7E7E7E"/>
              </a:buClr>
              <a:buFont typeface="Wingdings"/>
              <a:buChar char=""/>
              <a:tabLst>
                <a:tab pos="603885" algn="l"/>
              </a:tabLst>
            </a:pPr>
            <a:r>
              <a:rPr lang="en-CA" sz="1200" dirty="0">
                <a:latin typeface="Arial"/>
                <a:cs typeface="Arial"/>
              </a:rPr>
              <a:t>Client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can</a:t>
            </a:r>
            <a:r>
              <a:rPr lang="en-CA" sz="1200" spc="-10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repay</a:t>
            </a:r>
            <a:r>
              <a:rPr lang="en-CA" sz="1200" spc="-15" dirty="0">
                <a:latin typeface="Arial"/>
                <a:cs typeface="Arial"/>
              </a:rPr>
              <a:t> </a:t>
            </a:r>
            <a:r>
              <a:rPr lang="en-CA" sz="1200" dirty="0">
                <a:latin typeface="Arial"/>
                <a:cs typeface="Arial"/>
              </a:rPr>
              <a:t>us</a:t>
            </a:r>
            <a:r>
              <a:rPr lang="en-CA" sz="1200" spc="-10" dirty="0">
                <a:latin typeface="Arial"/>
                <a:cs typeface="Arial"/>
              </a:rPr>
              <a:t> entirely</a:t>
            </a:r>
            <a:endParaRPr lang="en-CA" sz="12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975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cannot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walk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away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after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12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months,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worse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case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will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termed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schedule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charge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standby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fee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unused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portion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monthly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fee instead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up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front </a:t>
            </a:r>
            <a:r>
              <a:rPr lang="en-CA" sz="1600" spc="-25" dirty="0">
                <a:latin typeface="Arial"/>
                <a:cs typeface="Arial"/>
              </a:rPr>
              <a:t>fee</a:t>
            </a:r>
            <a:endParaRPr lang="en-CA" sz="1600" dirty="0">
              <a:latin typeface="Arial"/>
              <a:cs typeface="Arial"/>
            </a:endParaRPr>
          </a:p>
          <a:p>
            <a:pPr marL="199390" indent="-18669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Char char="•"/>
              <a:tabLst>
                <a:tab pos="199390" algn="l"/>
              </a:tabLst>
            </a:pP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ideal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highway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trucks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they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depreciate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fast.</a:t>
            </a:r>
            <a:r>
              <a:rPr lang="en-CA" sz="1600" spc="3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Could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considered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trailers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(ex.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tankers).</a:t>
            </a:r>
            <a:endParaRPr lang="en-CA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59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2A3A-5AA8-847E-A4FF-7CEA56F7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C5459-BB6F-088D-080A-AA2F3578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dirty="0"/>
              <a:t>Products – EBR:</a:t>
            </a:r>
            <a:r>
              <a:rPr lang="en-CA" spc="110" dirty="0"/>
              <a:t> </a:t>
            </a:r>
            <a:r>
              <a:rPr lang="en-CA" spc="90" dirty="0"/>
              <a:t>Benefits</a:t>
            </a:r>
            <a:r>
              <a:rPr lang="en-CA" spc="25" dirty="0"/>
              <a:t> </a:t>
            </a:r>
            <a:r>
              <a:rPr lang="en-CA" spc="120" dirty="0"/>
              <a:t>to</a:t>
            </a:r>
            <a:r>
              <a:rPr lang="en-CA" spc="40" dirty="0"/>
              <a:t> </a:t>
            </a:r>
            <a:r>
              <a:rPr lang="en-CA" spc="80" dirty="0"/>
              <a:t>the</a:t>
            </a:r>
            <a:r>
              <a:rPr lang="en-CA" spc="50" dirty="0"/>
              <a:t> </a:t>
            </a:r>
            <a:r>
              <a:rPr lang="en-CA" spc="90" dirty="0"/>
              <a:t>client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B68F45-23E9-2692-772F-CF7EF6B6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10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0AF4BFA-9A56-7AC1-9078-0118963B9B11}"/>
              </a:ext>
            </a:extLst>
          </p:cNvPr>
          <p:cNvSpPr txBox="1"/>
          <p:nvPr/>
        </p:nvSpPr>
        <p:spPr>
          <a:xfrm>
            <a:off x="503382" y="1349531"/>
            <a:ext cx="11473388" cy="4299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8755" indent="-186055">
              <a:lnSpc>
                <a:spcPct val="100000"/>
              </a:lnSpc>
              <a:spcBef>
                <a:spcPts val="130"/>
              </a:spcBef>
              <a:buClr>
                <a:srgbClr val="FF0024"/>
              </a:buClr>
              <a:buChar char="•"/>
              <a:tabLst>
                <a:tab pos="198755" algn="l"/>
              </a:tabLst>
            </a:pPr>
            <a:r>
              <a:rPr lang="en-CA" sz="1600" dirty="0">
                <a:latin typeface="Arial"/>
                <a:cs typeface="Arial"/>
              </a:rPr>
              <a:t>Clients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appreciate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flexibility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product</a:t>
            </a:r>
            <a:endParaRPr lang="en-CA" sz="1600" dirty="0">
              <a:latin typeface="Arial"/>
              <a:cs typeface="Arial"/>
            </a:endParaRPr>
          </a:p>
          <a:p>
            <a:pPr marL="198120" marR="5080" indent="-186055">
              <a:lnSpc>
                <a:spcPct val="111700"/>
              </a:lnSpc>
              <a:spcBef>
                <a:spcPts val="149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Possible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save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costs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well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managed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(ex.</a:t>
            </a:r>
            <a:r>
              <a:rPr lang="en-CA" sz="1600" spc="8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spring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summer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when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projects 	</a:t>
            </a:r>
            <a:r>
              <a:rPr lang="en-CA" sz="1600" dirty="0">
                <a:latin typeface="Arial"/>
                <a:cs typeface="Arial"/>
              </a:rPr>
              <a:t>are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underway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repay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fall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winter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when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collecting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$,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vs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paying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interest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12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months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in 	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10" dirty="0">
                <a:latin typeface="Arial"/>
                <a:cs typeface="Arial"/>
              </a:rPr>
              <a:t> year)</a:t>
            </a:r>
            <a:endParaRPr lang="en-CA" sz="1600" dirty="0">
              <a:latin typeface="Arial"/>
              <a:cs typeface="Arial"/>
            </a:endParaRPr>
          </a:p>
          <a:p>
            <a:pPr marL="198120" marR="1133475" indent="-186055">
              <a:lnSpc>
                <a:spcPct val="112400"/>
              </a:lnSpc>
              <a:spcBef>
                <a:spcPts val="147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Bonding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company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(ex.</a:t>
            </a:r>
            <a:r>
              <a:rPr lang="en-CA" sz="1600" spc="9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Intact)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appreciate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reduces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risk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them </a:t>
            </a:r>
            <a:r>
              <a:rPr lang="en-CA" sz="1600" dirty="0">
                <a:latin typeface="Arial"/>
                <a:cs typeface="Arial"/>
              </a:rPr>
              <a:t>(adds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liquidity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customer)</a:t>
            </a:r>
            <a:endParaRPr lang="en-CA" sz="1600" dirty="0">
              <a:latin typeface="Arial"/>
              <a:cs typeface="Arial"/>
            </a:endParaRPr>
          </a:p>
          <a:p>
            <a:pPr marL="198120" marR="1280795" indent="-186055">
              <a:lnSpc>
                <a:spcPct val="112400"/>
              </a:lnSpc>
              <a:spcBef>
                <a:spcPts val="146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Complement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bank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operating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line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–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sometimes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bank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will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lend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enough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AR </a:t>
            </a:r>
            <a:r>
              <a:rPr lang="en-CA" sz="1600" dirty="0">
                <a:latin typeface="Arial"/>
                <a:cs typeface="Arial"/>
              </a:rPr>
              <a:t>(more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than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90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days,</a:t>
            </a:r>
            <a:r>
              <a:rPr lang="en-CA" sz="1600" spc="7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holdbacks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are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frequent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construction)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198755" indent="-186055">
              <a:lnSpc>
                <a:spcPct val="100000"/>
              </a:lnSpc>
              <a:buClr>
                <a:srgbClr val="FF0024"/>
              </a:buClr>
              <a:buChar char="•"/>
              <a:tabLst>
                <a:tab pos="198755" algn="l"/>
              </a:tabLst>
            </a:pP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committed</a:t>
            </a:r>
            <a:r>
              <a:rPr lang="en-CA" sz="1600" spc="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12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months</a:t>
            </a:r>
            <a:endParaRPr lang="en-CA" sz="1600" dirty="0">
              <a:latin typeface="Arial"/>
              <a:cs typeface="Arial"/>
            </a:endParaRPr>
          </a:p>
          <a:p>
            <a:pPr marL="198120" marR="308610" indent="-186055">
              <a:lnSpc>
                <a:spcPct val="112400"/>
              </a:lnSpc>
              <a:spcBef>
                <a:spcPts val="147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side,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product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manually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managed,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more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complex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for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amounts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$750K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and </a:t>
            </a:r>
            <a:r>
              <a:rPr lang="en-CA" sz="1600" dirty="0">
                <a:latin typeface="Arial"/>
                <a:cs typeface="Arial"/>
              </a:rPr>
              <a:t>more.</a:t>
            </a:r>
            <a:r>
              <a:rPr lang="en-CA" sz="1600" spc="4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 send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invoice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 monthly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basis.</a:t>
            </a:r>
            <a:endParaRPr lang="en-CA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24"/>
              </a:buClr>
              <a:buFont typeface="Arial"/>
              <a:buChar char="•"/>
            </a:pPr>
            <a:endParaRPr lang="en-CA" sz="1600" dirty="0">
              <a:latin typeface="Arial"/>
              <a:cs typeface="Arial"/>
            </a:endParaRPr>
          </a:p>
          <a:p>
            <a:pPr marL="198755" indent="-186055">
              <a:lnSpc>
                <a:spcPct val="100000"/>
              </a:lnSpc>
              <a:buClr>
                <a:srgbClr val="FF0024"/>
              </a:buClr>
              <a:buChar char="•"/>
              <a:tabLst>
                <a:tab pos="198755" algn="l"/>
              </a:tabLst>
            </a:pPr>
            <a:r>
              <a:rPr lang="en-CA" sz="1600" dirty="0">
                <a:latin typeface="Arial"/>
                <a:cs typeface="Arial"/>
              </a:rPr>
              <a:t>Contribution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EBR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much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less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than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standard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loan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due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short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term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unused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portion</a:t>
            </a:r>
            <a:endParaRPr lang="en-CA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69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D3E9-1103-80B7-DD7E-53C5AD45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DAF71-41C0-E531-EC46-1548A886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spc="60" dirty="0"/>
              <a:t>Other</a:t>
            </a:r>
            <a:r>
              <a:rPr lang="en-CA" dirty="0"/>
              <a:t> </a:t>
            </a:r>
            <a:r>
              <a:rPr lang="en-CA" spc="125" dirty="0"/>
              <a:t>products:</a:t>
            </a:r>
            <a:r>
              <a:rPr lang="en-CA" dirty="0"/>
              <a:t> </a:t>
            </a:r>
            <a:r>
              <a:rPr lang="en-CA" spc="-10" dirty="0"/>
              <a:t>M.L.A.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5A34DC-AB41-C80E-4CBC-6A9ABBDB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11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99A5DC-8A26-E753-0095-FF96DC38AB53}"/>
              </a:ext>
            </a:extLst>
          </p:cNvPr>
          <p:cNvSpPr txBox="1"/>
          <p:nvPr/>
        </p:nvSpPr>
        <p:spPr>
          <a:xfrm>
            <a:off x="503382" y="1349531"/>
            <a:ext cx="11473388" cy="417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MASTER LEASE</a:t>
            </a:r>
            <a:r>
              <a:rPr lang="en-CA" sz="1600" spc="-6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AGREEMENT</a:t>
            </a:r>
            <a:r>
              <a:rPr lang="en-CA" sz="1600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2000" dirty="0">
                <a:latin typeface="Arial"/>
                <a:cs typeface="Arial"/>
              </a:rPr>
              <a:t>(M.L.A.).</a:t>
            </a:r>
            <a:r>
              <a:rPr lang="en-CA" sz="2000" spc="360" dirty="0">
                <a:latin typeface="Arial"/>
                <a:cs typeface="Arial"/>
              </a:rPr>
              <a:t> </a:t>
            </a:r>
            <a:r>
              <a:rPr lang="en-CA" sz="2000" dirty="0">
                <a:latin typeface="Arial"/>
                <a:cs typeface="Arial"/>
              </a:rPr>
              <a:t>French:</a:t>
            </a:r>
            <a:r>
              <a:rPr lang="en-CA" sz="2000" spc="-80" dirty="0"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ENTENTE</a:t>
            </a:r>
            <a:r>
              <a:rPr lang="en-CA" sz="1600" spc="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CADRE</a:t>
            </a:r>
            <a:r>
              <a:rPr lang="en-CA" sz="1600" spc="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dirty="0">
                <a:solidFill>
                  <a:schemeClr val="accent1"/>
                </a:solidFill>
                <a:latin typeface="Arial"/>
                <a:cs typeface="Arial"/>
              </a:rPr>
              <a:t>DE</a:t>
            </a:r>
            <a:r>
              <a:rPr lang="en-CA" sz="1600" spc="-2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z="1600" spc="-25" dirty="0">
                <a:solidFill>
                  <a:schemeClr val="accent1"/>
                </a:solidFill>
                <a:latin typeface="Arial"/>
                <a:cs typeface="Arial"/>
              </a:rPr>
              <a:t>CRÉDIT-</a:t>
            </a:r>
            <a:r>
              <a:rPr lang="en-CA" sz="1600" spc="-10" dirty="0">
                <a:solidFill>
                  <a:schemeClr val="accent1"/>
                </a:solidFill>
                <a:latin typeface="Arial"/>
                <a:cs typeface="Arial"/>
              </a:rPr>
              <a:t>BAIL</a:t>
            </a:r>
            <a:r>
              <a:rPr lang="en-CA" sz="2000" spc="-10" dirty="0">
                <a:latin typeface="Arial"/>
                <a:cs typeface="Arial"/>
              </a:rPr>
              <a:t>.</a:t>
            </a:r>
            <a:endParaRPr lang="en-CA" sz="2000" dirty="0">
              <a:latin typeface="Arial"/>
              <a:cs typeface="Arial"/>
            </a:endParaRPr>
          </a:p>
          <a:p>
            <a:pPr marL="574675" marR="34290" indent="-186055">
              <a:lnSpc>
                <a:spcPct val="100800"/>
              </a:lnSpc>
              <a:spcBef>
                <a:spcPts val="49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Mainly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improve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security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package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 client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that would</a:t>
            </a:r>
            <a:r>
              <a:rPr lang="en-CA" sz="1600" spc="5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potentially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have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many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active</a:t>
            </a:r>
            <a:r>
              <a:rPr lang="en-CA" sz="1600" spc="-10" dirty="0">
                <a:latin typeface="Arial"/>
                <a:cs typeface="Arial"/>
              </a:rPr>
              <a:t> leases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MHCCA</a:t>
            </a:r>
            <a:endParaRPr lang="en-CA" sz="1600" dirty="0">
              <a:latin typeface="Arial"/>
              <a:cs typeface="Arial"/>
            </a:endParaRPr>
          </a:p>
          <a:p>
            <a:pPr marL="574675" marR="70485" indent="-186055">
              <a:lnSpc>
                <a:spcPct val="100800"/>
              </a:lnSpc>
              <a:spcBef>
                <a:spcPts val="131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Once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M.L.A.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 signed,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all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future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contracts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(«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leasing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schedule») are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equivalent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 be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«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crossed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»,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which </a:t>
            </a:r>
            <a:r>
              <a:rPr lang="en-CA" sz="1600" dirty="0">
                <a:latin typeface="Arial"/>
                <a:cs typeface="Arial"/>
              </a:rPr>
              <a:t>reduces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potential gap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event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 </a:t>
            </a:r>
            <a:r>
              <a:rPr lang="en-CA" sz="1600" dirty="0" err="1">
                <a:latin typeface="Arial"/>
                <a:cs typeface="Arial"/>
              </a:rPr>
              <a:t>reposession</a:t>
            </a:r>
            <a:r>
              <a:rPr lang="en-CA" sz="1600" dirty="0">
                <a:latin typeface="Arial"/>
                <a:cs typeface="Arial"/>
              </a:rPr>
              <a:t> of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assets</a:t>
            </a:r>
            <a:endParaRPr lang="en-CA" sz="1600" dirty="0">
              <a:latin typeface="Arial"/>
              <a:cs typeface="Arial"/>
            </a:endParaRPr>
          </a:p>
          <a:p>
            <a:pPr marL="574675" marR="112395" indent="-186055">
              <a:lnSpc>
                <a:spcPct val="101499"/>
              </a:lnSpc>
              <a:spcBef>
                <a:spcPts val="131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leasing schedule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 fully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repaid,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longer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falls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M.L.A.</a:t>
            </a:r>
            <a:r>
              <a:rPr lang="en-CA" sz="1600" spc="3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want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keep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lien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the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would</a:t>
            </a:r>
            <a:r>
              <a:rPr lang="en-CA" sz="1600" spc="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need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 get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«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booth collateral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»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it.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2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Very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easy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document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future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contracts: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leasing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schedule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stands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1-2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page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33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Can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even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if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client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has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contracts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</a:t>
            </a:r>
          </a:p>
          <a:p>
            <a:pPr marL="574675" marR="5080" indent="-186055">
              <a:lnSpc>
                <a:spcPct val="101499"/>
              </a:lnSpc>
              <a:spcBef>
                <a:spcPts val="130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Contracts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signed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before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put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MLA</a:t>
            </a:r>
            <a:r>
              <a:rPr lang="en-CA" sz="1600" spc="-7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place don’t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fall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under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MLA.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Hence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equity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(if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spc="-20" dirty="0">
                <a:latin typeface="Arial"/>
                <a:cs typeface="Arial"/>
              </a:rPr>
              <a:t>any) </a:t>
            </a:r>
            <a:r>
              <a:rPr lang="en-CA" sz="1600" dirty="0">
                <a:latin typeface="Arial"/>
                <a:cs typeface="Arial"/>
              </a:rPr>
              <a:t>should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not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considered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when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analyzing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collateral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gap</a:t>
            </a:r>
            <a:endParaRPr lang="en-CA" sz="1600" dirty="0">
              <a:latin typeface="Arial"/>
              <a:cs typeface="Arial"/>
            </a:endParaRPr>
          </a:p>
          <a:p>
            <a:pPr marL="574675" marR="126364" indent="-186055">
              <a:lnSpc>
                <a:spcPct val="101499"/>
              </a:lnSpc>
              <a:spcBef>
                <a:spcPts val="130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We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might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need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provide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other lenders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with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waivers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future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our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registration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similar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spc="-25" dirty="0">
                <a:latin typeface="Arial"/>
                <a:cs typeface="Arial"/>
              </a:rPr>
              <a:t>GSA </a:t>
            </a:r>
            <a:r>
              <a:rPr lang="en-CA" sz="1600" dirty="0">
                <a:latin typeface="Arial"/>
                <a:cs typeface="Arial"/>
              </a:rPr>
              <a:t>(universality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all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present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future assets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leased by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 to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customer)</a:t>
            </a:r>
            <a:endParaRPr lang="en-CA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238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01B0-EEFB-ACAA-6011-DAC6D6FF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B1D71-6839-4FA0-F3A6-F0E5732F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spc="60" dirty="0"/>
              <a:t>Other</a:t>
            </a:r>
            <a:r>
              <a:rPr lang="en-CA" dirty="0"/>
              <a:t> </a:t>
            </a:r>
            <a:r>
              <a:rPr lang="en-CA" spc="125" dirty="0"/>
              <a:t>products:</a:t>
            </a:r>
            <a:r>
              <a:rPr lang="en-CA" dirty="0"/>
              <a:t> </a:t>
            </a:r>
            <a:r>
              <a:rPr lang="en-CA" spc="120" dirty="0"/>
              <a:t>Booth</a:t>
            </a:r>
            <a:r>
              <a:rPr lang="en-CA" spc="20" dirty="0"/>
              <a:t> </a:t>
            </a:r>
            <a:r>
              <a:rPr lang="en-CA" spc="85" dirty="0"/>
              <a:t>collateral</a:t>
            </a:r>
            <a:r>
              <a:rPr lang="en-CA" spc="15" dirty="0"/>
              <a:t> </a:t>
            </a:r>
            <a:r>
              <a:rPr lang="en-CA" dirty="0"/>
              <a:t>/</a:t>
            </a:r>
            <a:r>
              <a:rPr lang="en-CA" spc="-5" dirty="0"/>
              <a:t> </a:t>
            </a:r>
            <a:r>
              <a:rPr lang="en-CA" spc="-25" dirty="0"/>
              <a:t>CC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521C7E-07CB-E1D5-1F40-E99AE0AA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12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CDBBEB-0B50-7FE5-EB5F-5289D5C54863}"/>
              </a:ext>
            </a:extLst>
          </p:cNvPr>
          <p:cNvSpPr txBox="1"/>
          <p:nvPr/>
        </p:nvSpPr>
        <p:spPr>
          <a:xfrm>
            <a:off x="503382" y="1439994"/>
            <a:ext cx="11473388" cy="397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CROSS-COLLATERALIZATION</a:t>
            </a:r>
            <a:r>
              <a:rPr kumimoji="0" lang="en-CA" sz="1600" b="0" i="0" u="none" strike="noStrike" kern="0" cap="none" spc="49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(CC)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0" lvl="0" indent="-184150" defTabSz="914400" eaLnBrk="1" fontAlgn="auto" latinLnBrk="0" hangingPunct="1">
              <a:lnSpc>
                <a:spcPts val="1660"/>
              </a:lnSpc>
              <a:spcBef>
                <a:spcPts val="770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2770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Means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all</a:t>
            </a:r>
            <a:r>
              <a:rPr kumimoji="0" lang="en-CA" sz="16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MHCCA active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deals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lang="en-CA" sz="1600" b="0" i="0" u="none" strike="noStrike" kern="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</a:t>
            </a:r>
            <a:r>
              <a:rPr kumimoji="0" lang="en-CA" sz="1600" b="0" i="0" u="none" strike="noStrike" kern="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crossed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one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hypothec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4675" marR="5080" lvl="0" indent="0" defTabSz="914400" eaLnBrk="1" fontAlgn="auto" latinLnBrk="0" hangingPunct="1">
              <a:lnSpc>
                <a:spcPts val="161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(PPSA</a:t>
            </a:r>
            <a:r>
              <a:rPr kumimoji="0" lang="en-CA" sz="16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RDPRM</a:t>
            </a:r>
            <a:r>
              <a:rPr kumimoji="0" lang="en-CA" sz="16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additional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lien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–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when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contract</a:t>
            </a:r>
            <a:r>
              <a:rPr kumimoji="0" lang="en-CA" sz="1600" b="0" i="0" u="none" strike="noStrike" kern="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naturally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repaid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still</a:t>
            </a:r>
            <a:r>
              <a:rPr kumimoji="0" lang="en-CA" sz="1600" b="0" i="0" u="none" strike="noStrike" kern="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hold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lien</a:t>
            </a:r>
            <a:r>
              <a:rPr kumimoji="0" lang="en-CA" sz="1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lang="en-CA" sz="16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asset)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0" lvl="0" indent="-184150" defTabSz="914400" eaLnBrk="1" fontAlgn="auto" latinLnBrk="0" hangingPunct="1">
              <a:lnSpc>
                <a:spcPts val="1670"/>
              </a:lnSpc>
              <a:spcBef>
                <a:spcPts val="1215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2770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Without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CC, in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lang="en-CA" sz="1600" b="0" i="0" u="none" strike="noStrike" kern="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event</a:t>
            </a:r>
            <a:r>
              <a:rPr kumimoji="0" lang="en-CA" sz="1600" b="0" i="0" u="none" strike="noStrike" kern="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bankrupcy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trustee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would</a:t>
            </a:r>
            <a:r>
              <a:rPr kumimoji="0" lang="en-CA" sz="16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likely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repay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balance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4675" marR="0" lvl="0" indent="0" defTabSz="914400" eaLnBrk="1" fontAlgn="auto" latinLnBrk="0" hangingPunct="1">
              <a:lnSpc>
                <a:spcPts val="1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accounts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in</a:t>
            </a:r>
            <a:r>
              <a:rPr kumimoji="0" lang="en-CA" sz="1600" b="0" i="0" u="none" strike="noStrike" kern="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equity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position,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return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assets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collateral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gap.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0" lvl="0" indent="-184150" defTabSz="914400" eaLnBrk="1" fontAlgn="auto" latinLnBrk="0" hangingPunct="1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2770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CC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more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complex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manage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MLA</a:t>
            </a:r>
            <a:r>
              <a:rPr kumimoji="0" lang="en-CA" sz="16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</a:t>
            </a:r>
            <a:r>
              <a:rPr kumimoji="0" lang="en-CA" sz="1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need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waivers</a:t>
            </a:r>
            <a:r>
              <a:rPr kumimoji="0" lang="en-CA" sz="16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when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register</a:t>
            </a:r>
            <a:r>
              <a:rPr kumimoji="0" lang="en-CA" sz="16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it.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FF0024"/>
              </a:buClr>
              <a:buSzTx/>
              <a:buFont typeface="Arial"/>
              <a:buChar char="•"/>
              <a:tabLst/>
              <a:defRPr/>
            </a:pP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BOOTH</a:t>
            </a:r>
            <a:r>
              <a:rPr kumimoji="0" lang="en-CA" sz="1600" b="0" i="0" u="none" strike="noStrike" kern="0" cap="none" spc="15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COLLATERAL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2691765" lvl="0" indent="-184150" defTabSz="914400" eaLnBrk="1" fontAlgn="auto" latinLnBrk="0" hangingPunct="1">
              <a:lnSpc>
                <a:spcPts val="1600"/>
              </a:lnSpc>
              <a:spcBef>
                <a:spcPts val="925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4675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</a:t>
            </a:r>
            <a:r>
              <a:rPr kumimoji="0" lang="en-CA" sz="16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</a:t>
            </a:r>
            <a:r>
              <a:rPr kumimoji="0" lang="en-CA" sz="1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free</a:t>
            </a:r>
            <a:r>
              <a:rPr kumimoji="0" lang="en-CA" sz="1600" b="0" i="0" u="none" strike="noStrike" kern="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clear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assets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our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deal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</a:t>
            </a:r>
            <a:r>
              <a:rPr kumimoji="0" lang="en-CA" sz="1600" b="0" i="0" u="none" strike="noStrike" kern="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additional</a:t>
            </a:r>
            <a:r>
              <a:rPr kumimoji="0" lang="en-CA" sz="16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security,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either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via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accommodation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sale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</a:t>
            </a:r>
            <a:r>
              <a:rPr kumimoji="0" lang="en-CA" sz="16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taking</a:t>
            </a:r>
            <a:r>
              <a:rPr kumimoji="0" lang="en-CA" sz="1600" b="0" i="0" u="none" strike="noStrike" kern="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specific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lien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it.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2809240" lvl="0" indent="-184150" defTabSz="914400" eaLnBrk="1" fontAlgn="auto" latinLnBrk="0" hangingPunct="1">
              <a:lnSpc>
                <a:spcPts val="1610"/>
              </a:lnSpc>
              <a:spcBef>
                <a:spcPts val="1375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4675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can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replace</a:t>
            </a:r>
            <a:r>
              <a:rPr kumimoji="0" lang="en-CA" sz="16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CA" sz="16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down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payment,</a:t>
            </a:r>
            <a:r>
              <a:rPr kumimoji="0" lang="en-CA" sz="1600" b="0" i="0" u="none" strike="noStrike" kern="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helps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</a:t>
            </a:r>
            <a:r>
              <a:rPr kumimoji="0" lang="en-CA" sz="1600" b="0" i="0" u="none" strike="noStrike" kern="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credit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approval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</a:t>
            </a:r>
            <a:r>
              <a:rPr kumimoji="0" lang="en-CA" sz="16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reduces</a:t>
            </a:r>
            <a:r>
              <a:rPr kumimoji="0" lang="en-CA" sz="16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</a:t>
            </a:r>
            <a:r>
              <a:rPr kumimoji="0" lang="en-CA" sz="16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cancel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gap</a:t>
            </a:r>
            <a:r>
              <a:rPr kumimoji="0" lang="en-CA" sz="1600" b="0" i="0" u="none" strike="noStrike" kern="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new</a:t>
            </a:r>
            <a:r>
              <a:rPr kumimoji="0" lang="en-CA" sz="1600" b="0" i="0" u="none" strike="noStrike" kern="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transaction.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572770" marR="0" lvl="0" indent="-184150" defTabSz="914400" eaLnBrk="1" fontAlgn="auto" latinLnBrk="0" hangingPunct="1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rgbClr val="FF0024"/>
              </a:buClr>
              <a:buSzTx/>
              <a:buFontTx/>
              <a:buChar char="•"/>
              <a:tabLst>
                <a:tab pos="572770" algn="l"/>
              </a:tabLst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Searches</a:t>
            </a:r>
            <a:r>
              <a:rPr kumimoji="0" lang="en-CA" sz="1600" b="0" i="0" u="none" strike="noStrike" kern="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lang="en-CA" sz="1600" b="0" i="0" u="none" strike="noStrike" kern="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waivers</a:t>
            </a:r>
            <a:r>
              <a:rPr kumimoji="0" lang="en-CA" sz="16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also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required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when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registering</a:t>
            </a:r>
            <a:r>
              <a:rPr kumimoji="0" lang="en-CA" sz="16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lang="en-CA" sz="16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booth</a:t>
            </a:r>
            <a:r>
              <a:rPr kumimoji="0" lang="en-CA" sz="16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CA" sz="16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collateral.</a:t>
            </a: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7806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AA96-2DE4-25C5-DB7F-2126A254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C4311-DEF2-BF5E-7033-5374B380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spc="60" dirty="0"/>
              <a:t>Other</a:t>
            </a:r>
            <a:r>
              <a:rPr lang="en-CA" dirty="0"/>
              <a:t> </a:t>
            </a:r>
            <a:r>
              <a:rPr lang="en-CA" spc="125" dirty="0"/>
              <a:t>products:</a:t>
            </a:r>
            <a:r>
              <a:rPr lang="en-CA" dirty="0"/>
              <a:t> </a:t>
            </a:r>
            <a:r>
              <a:rPr lang="en-CA" spc="114" dirty="0"/>
              <a:t>Accommodation</a:t>
            </a:r>
            <a:r>
              <a:rPr lang="en-CA" spc="20" dirty="0"/>
              <a:t> </a:t>
            </a:r>
            <a:r>
              <a:rPr lang="en-CA" spc="40" dirty="0"/>
              <a:t>sale</a:t>
            </a:r>
            <a:endParaRPr lang="en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6A3EC2-BA00-5EA4-0CC0-C48142E2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13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48D885-A271-ED66-F812-A27B07378786}"/>
              </a:ext>
            </a:extLst>
          </p:cNvPr>
          <p:cNvSpPr txBox="1"/>
          <p:nvPr/>
        </p:nvSpPr>
        <p:spPr>
          <a:xfrm>
            <a:off x="503382" y="1439994"/>
            <a:ext cx="11473388" cy="4021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7485" marR="74930" indent="-185420">
              <a:lnSpc>
                <a:spcPts val="1680"/>
              </a:lnSpc>
              <a:spcBef>
                <a:spcPts val="32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Accommodation</a:t>
            </a:r>
            <a:r>
              <a:rPr lang="en-CA"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sale:</a:t>
            </a:r>
            <a:r>
              <a:rPr lang="en-CA"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CA" sz="16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authorized</a:t>
            </a:r>
            <a:r>
              <a:rPr lang="en-CA" sz="16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dealer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(ideally</a:t>
            </a:r>
            <a:r>
              <a:rPr lang="en-CA" sz="160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A"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classified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dealers)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buys</a:t>
            </a:r>
            <a:r>
              <a:rPr lang="en-CA"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5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seller,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sells it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CA"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MHCCA</a:t>
            </a:r>
            <a:r>
              <a:rPr lang="en-CA" sz="1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en-CA"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buyer.</a:t>
            </a:r>
          </a:p>
          <a:p>
            <a:pPr marL="198120" indent="-185420">
              <a:lnSpc>
                <a:spcPct val="100000"/>
              </a:lnSpc>
              <a:spcBef>
                <a:spcPts val="1115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be done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CA" sz="16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dealer.</a:t>
            </a:r>
          </a:p>
          <a:p>
            <a:pPr marL="198120" indent="-185420">
              <a:lnSpc>
                <a:spcPct val="100000"/>
              </a:lnSpc>
              <a:spcBef>
                <a:spcPts val="1150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Rolling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</a:p>
          <a:p>
            <a:pPr marL="197485" marR="142240" indent="-185420">
              <a:lnSpc>
                <a:spcPts val="1680"/>
              </a:lnSpc>
              <a:spcBef>
                <a:spcPts val="1345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reduces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makes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easier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searches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waivers,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might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need to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be validated</a:t>
            </a:r>
            <a:r>
              <a:rPr lang="en-CA"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CA"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en-CA"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depending</a:t>
            </a:r>
            <a:r>
              <a:rPr lang="en-CA" sz="16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dealer.</a:t>
            </a:r>
          </a:p>
          <a:p>
            <a:pPr marL="197485" marR="490855" indent="-185420">
              <a:lnSpc>
                <a:spcPts val="1680"/>
              </a:lnSpc>
              <a:spcBef>
                <a:spcPts val="132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lang="en-CA" sz="1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dealers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CA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bonded,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technically have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possible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recourse</a:t>
            </a:r>
            <a:r>
              <a:rPr lang="en-CA"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against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25" dirty="0">
                <a:latin typeface="Arial" panose="020B0604020202020204" pitchFamily="34" charset="0"/>
                <a:cs typeface="Arial" panose="020B0604020202020204" pitchFamily="34" charset="0"/>
              </a:rPr>
              <a:t>if 	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something</a:t>
            </a:r>
            <a:r>
              <a:rPr lang="en-CA"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happens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lang="en-CA"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road.</a:t>
            </a:r>
          </a:p>
          <a:p>
            <a:pPr marL="197485" marR="5080" indent="-185420">
              <a:lnSpc>
                <a:spcPts val="1680"/>
              </a:lnSpc>
              <a:spcBef>
                <a:spcPts val="1320"/>
              </a:spcBef>
              <a:buClr>
                <a:srgbClr val="FF0024"/>
              </a:buClr>
              <a:buChar char="•"/>
              <a:tabLst>
                <a:tab pos="200025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lang="en-CA"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higher priced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fees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CAPEX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require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searches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waivers.</a:t>
            </a:r>
          </a:p>
          <a:p>
            <a:pPr marL="198120" indent="-185420">
              <a:lnSpc>
                <a:spcPct val="100000"/>
              </a:lnSpc>
              <a:spcBef>
                <a:spcPts val="1115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inspection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lang="en-CA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CA"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credit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confirm that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exists.</a:t>
            </a:r>
          </a:p>
          <a:p>
            <a:pPr marL="198120" indent="-185420">
              <a:lnSpc>
                <a:spcPct val="100000"/>
              </a:lnSpc>
              <a:spcBef>
                <a:spcPts val="1140"/>
              </a:spcBef>
              <a:buClr>
                <a:srgbClr val="FF0024"/>
              </a:buClr>
              <a:buChar char="•"/>
              <a:tabLst>
                <a:tab pos="198120" algn="l"/>
              </a:tabLst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en-CA"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en-CA"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fraud</a:t>
            </a:r>
            <a:r>
              <a:rPr lang="en-CA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CAPEX</a:t>
            </a:r>
            <a:r>
              <a:rPr lang="en-CA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CA"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CA" sz="16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A" sz="1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dealer,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CA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CA" sz="16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vigilant</a:t>
            </a:r>
            <a:r>
              <a:rPr lang="en-CA"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spc="-5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3929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26D-FB01-E497-A378-6E7A9CBD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0682F-0DF6-08C0-41DD-390AF9C9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6" y="242134"/>
            <a:ext cx="9651134" cy="653794"/>
          </a:xfrm>
        </p:spPr>
        <p:txBody>
          <a:bodyPr/>
          <a:lstStyle/>
          <a:p>
            <a:r>
              <a:rPr lang="en-CA" sz="3200" spc="60" dirty="0"/>
              <a:t>Other</a:t>
            </a:r>
            <a:r>
              <a:rPr lang="en-CA" sz="3200" dirty="0"/>
              <a:t> </a:t>
            </a:r>
            <a:r>
              <a:rPr lang="en-CA" sz="3200" spc="125" dirty="0"/>
              <a:t>products:</a:t>
            </a:r>
            <a:r>
              <a:rPr lang="en-CA" sz="3200" dirty="0"/>
              <a:t> Sale</a:t>
            </a:r>
            <a:r>
              <a:rPr lang="en-CA" sz="3200" spc="-30" dirty="0"/>
              <a:t> </a:t>
            </a:r>
            <a:r>
              <a:rPr lang="en-CA" sz="3200" spc="105" dirty="0"/>
              <a:t>&amp;</a:t>
            </a:r>
            <a:r>
              <a:rPr lang="en-CA" sz="3200" spc="25" dirty="0"/>
              <a:t> </a:t>
            </a:r>
            <a:r>
              <a:rPr lang="en-CA" sz="3200" spc="65" dirty="0"/>
              <a:t>Leaseback</a:t>
            </a:r>
            <a:r>
              <a:rPr lang="en-CA" sz="3200" spc="-65" dirty="0"/>
              <a:t> </a:t>
            </a:r>
            <a:r>
              <a:rPr lang="en-CA" sz="3200" dirty="0"/>
              <a:t>/</a:t>
            </a:r>
            <a:r>
              <a:rPr lang="en-CA" sz="3200" spc="65" dirty="0"/>
              <a:t> </a:t>
            </a:r>
            <a:r>
              <a:rPr lang="en-CA" sz="3200" spc="55" dirty="0"/>
              <a:t>Private</a:t>
            </a:r>
            <a:r>
              <a:rPr lang="en-CA" sz="3200" spc="35" dirty="0"/>
              <a:t> </a:t>
            </a:r>
            <a:r>
              <a:rPr lang="en-CA" sz="3200" spc="-20" dirty="0"/>
              <a:t>Sale</a:t>
            </a:r>
            <a:endParaRPr lang="en-CA"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C7EDC4-F0F3-A848-F86A-ED725327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14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B6DE38-634A-F0D2-C06E-D9AF20D0075E}"/>
              </a:ext>
            </a:extLst>
          </p:cNvPr>
          <p:cNvSpPr txBox="1"/>
          <p:nvPr/>
        </p:nvSpPr>
        <p:spPr>
          <a:xfrm>
            <a:off x="503382" y="1439994"/>
            <a:ext cx="11473388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en-CA" dirty="0">
                <a:solidFill>
                  <a:schemeClr val="accent1"/>
                </a:solidFill>
                <a:latin typeface="Arial"/>
                <a:cs typeface="Arial"/>
              </a:rPr>
              <a:t>SALE</a:t>
            </a:r>
            <a:r>
              <a:rPr lang="en-CA" spc="12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pc="105" dirty="0">
                <a:solidFill>
                  <a:schemeClr val="accent1"/>
                </a:solidFill>
                <a:latin typeface="Arial"/>
                <a:cs typeface="Arial"/>
              </a:rPr>
              <a:t>&amp;</a:t>
            </a:r>
            <a:r>
              <a:rPr lang="en-CA" spc="1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pc="45" dirty="0">
                <a:solidFill>
                  <a:schemeClr val="accent1"/>
                </a:solidFill>
                <a:latin typeface="Arial"/>
                <a:cs typeface="Arial"/>
              </a:rPr>
              <a:t>LEASEBACK</a:t>
            </a:r>
            <a:endParaRPr lang="en-CA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36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Only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used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 ROC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(QC – some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restrictions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rolling </a:t>
            </a:r>
            <a:r>
              <a:rPr lang="en-CA" sz="1600" spc="-10" dirty="0">
                <a:latin typeface="Arial"/>
                <a:cs typeface="Arial"/>
              </a:rPr>
              <a:t>stock)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6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Equivalent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 a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refinancing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but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done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over a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lease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7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Owner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 the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 sells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who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back to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him: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generates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liquidity</a:t>
            </a:r>
            <a:endParaRPr lang="en-CA" sz="1600" dirty="0">
              <a:latin typeface="Arial"/>
              <a:cs typeface="Arial"/>
            </a:endParaRPr>
          </a:p>
          <a:p>
            <a:pPr marL="574675" marR="5080" indent="-186055">
              <a:lnSpc>
                <a:spcPts val="1420"/>
              </a:lnSpc>
              <a:spcBef>
                <a:spcPts val="134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There</a:t>
            </a:r>
            <a:r>
              <a:rPr lang="en-CA" sz="1600" spc="-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might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fiscal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cost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 doing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this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sale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us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could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create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 important capital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gain, which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would </a:t>
            </a:r>
            <a:r>
              <a:rPr lang="en-CA" sz="1600" dirty="0">
                <a:latin typeface="Arial"/>
                <a:cs typeface="Arial"/>
              </a:rPr>
              <a:t>later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offset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by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new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rental</a:t>
            </a:r>
            <a:r>
              <a:rPr lang="en-CA" sz="1600" spc="-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expenses</a:t>
            </a:r>
            <a:r>
              <a:rPr lang="en-CA" sz="1600" spc="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10" dirty="0">
                <a:latin typeface="Arial"/>
                <a:cs typeface="Arial"/>
              </a:rPr>
              <a:t> lease.</a:t>
            </a:r>
            <a:endParaRPr lang="en-CA"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CA" dirty="0">
                <a:solidFill>
                  <a:schemeClr val="accent1"/>
                </a:solidFill>
                <a:latin typeface="Arial"/>
                <a:cs typeface="Arial"/>
              </a:rPr>
              <a:t>PRIVATE</a:t>
            </a:r>
            <a:r>
              <a:rPr lang="en-CA" spc="-6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CA" spc="-20" dirty="0">
                <a:solidFill>
                  <a:schemeClr val="accent1"/>
                </a:solidFill>
                <a:latin typeface="Arial"/>
                <a:cs typeface="Arial"/>
              </a:rPr>
              <a:t>SALE</a:t>
            </a:r>
            <a:endParaRPr lang="en-CA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35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Mostly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done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ROC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in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QC</a:t>
            </a:r>
            <a:r>
              <a:rPr lang="en-CA" sz="1600" spc="-6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Accommodation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Sale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is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more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spc="-10" dirty="0">
                <a:latin typeface="Arial"/>
                <a:cs typeface="Arial"/>
              </a:rPr>
              <a:t>frequent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7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Proof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ownership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required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-6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must</a:t>
            </a:r>
            <a:r>
              <a:rPr lang="en-CA" sz="1600" spc="-4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be free and </a:t>
            </a:r>
            <a:r>
              <a:rPr lang="en-CA" sz="1600" spc="-10" dirty="0">
                <a:latin typeface="Arial"/>
                <a:cs typeface="Arial"/>
              </a:rPr>
              <a:t>clear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80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-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would</a:t>
            </a:r>
            <a:r>
              <a:rPr lang="en-CA" sz="1600" spc="5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run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searches on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-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seller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of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also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on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 </a:t>
            </a:r>
            <a:r>
              <a:rPr lang="en-CA" sz="1600" spc="-10" dirty="0">
                <a:latin typeface="Arial"/>
                <a:cs typeface="Arial"/>
              </a:rPr>
              <a:t>equipment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6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Seller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sells</a:t>
            </a:r>
            <a:r>
              <a:rPr lang="en-CA" sz="1600" spc="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MHCCA</a:t>
            </a:r>
            <a:r>
              <a:rPr lang="en-CA" sz="1600" spc="1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which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leases</a:t>
            </a:r>
            <a:r>
              <a:rPr lang="en-CA" sz="1600" spc="-2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asset</a:t>
            </a:r>
            <a:r>
              <a:rPr lang="en-CA" sz="1600" spc="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to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the </a:t>
            </a:r>
            <a:r>
              <a:rPr lang="en-CA" sz="1600" spc="-10" dirty="0">
                <a:latin typeface="Arial"/>
                <a:cs typeface="Arial"/>
              </a:rPr>
              <a:t>buyer</a:t>
            </a:r>
            <a:endParaRPr lang="en-CA" sz="1600" dirty="0">
              <a:latin typeface="Arial"/>
              <a:cs typeface="Arial"/>
            </a:endParaRPr>
          </a:p>
          <a:p>
            <a:pPr marL="574675" indent="-186055">
              <a:lnSpc>
                <a:spcPct val="100000"/>
              </a:lnSpc>
              <a:spcBef>
                <a:spcPts val="1175"/>
              </a:spcBef>
              <a:buClr>
                <a:srgbClr val="FF0024"/>
              </a:buClr>
              <a:buChar char="•"/>
              <a:tabLst>
                <a:tab pos="574675" algn="l"/>
              </a:tabLst>
            </a:pPr>
            <a:r>
              <a:rPr lang="en-CA" sz="1600" dirty="0">
                <a:latin typeface="Arial"/>
                <a:cs typeface="Arial"/>
              </a:rPr>
              <a:t>Should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collect</a:t>
            </a:r>
            <a:r>
              <a:rPr lang="en-CA" sz="1600" spc="3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higher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pricing</a:t>
            </a:r>
            <a:r>
              <a:rPr lang="en-CA" sz="1600" spc="2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/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fees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as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more</a:t>
            </a:r>
            <a:r>
              <a:rPr lang="en-CA" sz="1600" spc="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complex</a:t>
            </a:r>
            <a:r>
              <a:rPr lang="en-CA" sz="1600" spc="35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and</a:t>
            </a:r>
            <a:r>
              <a:rPr lang="en-CA" sz="1600" spc="-1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much</a:t>
            </a:r>
            <a:r>
              <a:rPr lang="en-CA" sz="1600" spc="-40" dirty="0">
                <a:latin typeface="Arial"/>
                <a:cs typeface="Arial"/>
              </a:rPr>
              <a:t> </a:t>
            </a:r>
            <a:r>
              <a:rPr lang="en-CA" sz="1600" dirty="0">
                <a:latin typeface="Arial"/>
                <a:cs typeface="Arial"/>
              </a:rPr>
              <a:t>less</a:t>
            </a:r>
            <a:r>
              <a:rPr lang="en-CA" sz="1600" spc="-10" dirty="0">
                <a:latin typeface="Arial"/>
                <a:cs typeface="Arial"/>
              </a:rPr>
              <a:t> competition</a:t>
            </a:r>
            <a:endParaRPr lang="en-CA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6106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9FCBC8B7-3A6A-4FE8-9A8E-4A759B9941C9}" vid="{2A3DE66E-0041-4112-9327-C894BD9EC68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3ab975318c1587af2dd5ba40d5259d56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2f7636cc8e42b1f4678975e9a38aaefa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Props1.xml><?xml version="1.0" encoding="utf-8"?>
<ds:datastoreItem xmlns:ds="http://schemas.openxmlformats.org/officeDocument/2006/customXml" ds:itemID="{F98B247B-CC83-41A8-8705-E311CE641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E48BBD-FBF4-4FC8-B74A-21E16412CDB0}">
  <ds:schemaRefs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purl.org/dc/terms/"/>
    <ds:schemaRef ds:uri="453e6d4f-8cf7-464e-bfdf-5162297045a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MHCCCanada-template-gabarit_2026 (4)</Template>
  <TotalTime>110</TotalTime>
  <Words>2190</Words>
  <Application>Microsoft Office PowerPoint</Application>
  <PresentationFormat>Grand écran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Lucida Handwriting</vt:lpstr>
      <vt:lpstr>Wingdings</vt:lpstr>
      <vt:lpstr>Thème Office</vt:lpstr>
      <vt:lpstr>Products Review</vt:lpstr>
      <vt:lpstr>Products – Capital Lease</vt:lpstr>
      <vt:lpstr>Products – Operating Lease</vt:lpstr>
      <vt:lpstr>Products – Operating Lease</vt:lpstr>
      <vt:lpstr>Products – Operating Lease</vt:lpstr>
      <vt:lpstr>Présentation PowerPoint</vt:lpstr>
      <vt:lpstr>Products – Sales and Security Contract / Agreement</vt:lpstr>
      <vt:lpstr>Products – Loan and security agreement</vt:lpstr>
      <vt:lpstr>Products – EBR: Definition and Details</vt:lpstr>
      <vt:lpstr>Products – EBR: Benefits to the client</vt:lpstr>
      <vt:lpstr>Other products: M.L.A.</vt:lpstr>
      <vt:lpstr>Other products: Booth collateral / CC</vt:lpstr>
      <vt:lpstr>Other products: Accommodation sale</vt:lpstr>
      <vt:lpstr>Other products: Sale &amp; Leaseback / Private Sale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Laetitia Emmanuel</dc:creator>
  <cp:lastModifiedBy>Lauralie Lemire Nantais</cp:lastModifiedBy>
  <cp:revision>4</cp:revision>
  <dcterms:created xsi:type="dcterms:W3CDTF">2026-02-17T12:35:13Z</dcterms:created>
  <dcterms:modified xsi:type="dcterms:W3CDTF">2026-02-17T21:37:52Z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  <property fmtid="{D5CDD505-2E9C-101B-9397-08002B2CF9AE}" pid="3" name="MediaServiceImageTags">
    <vt:lpwstr/>
  </property>
</Properties>
</file>