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68" r:id="rId6"/>
    <p:sldId id="259" r:id="rId7"/>
    <p:sldId id="264" r:id="rId8"/>
    <p:sldId id="261" r:id="rId9"/>
    <p:sldId id="265" r:id="rId10"/>
    <p:sldId id="260" r:id="rId11"/>
    <p:sldId id="263" r:id="rId12"/>
    <p:sldId id="267" r:id="rId13"/>
    <p:sldId id="266" r:id="rId14"/>
    <p:sldId id="257" r:id="rId15"/>
    <p:sldId id="262"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2" autoAdjust="0"/>
    <p:restoredTop sz="94660"/>
  </p:normalViewPr>
  <p:slideViewPr>
    <p:cSldViewPr snapToGrid="0">
      <p:cViewPr varScale="1">
        <p:scale>
          <a:sx n="106" d="100"/>
          <a:sy n="106" d="100"/>
        </p:scale>
        <p:origin x="61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671D8E-CCF6-8913-B29E-32365FFDC60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a:extLst>
              <a:ext uri="{FF2B5EF4-FFF2-40B4-BE49-F238E27FC236}">
                <a16:creationId xmlns:a16="http://schemas.microsoft.com/office/drawing/2014/main" id="{9636E3EF-ABFB-115D-FE71-270FB0FC47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33A32815-F39D-E548-38C3-35490813A5BD}"/>
              </a:ext>
            </a:extLst>
          </p:cNvPr>
          <p:cNvSpPr>
            <a:spLocks noGrp="1"/>
          </p:cNvSpPr>
          <p:nvPr>
            <p:ph type="dt" sz="half" idx="10"/>
          </p:nvPr>
        </p:nvSpPr>
        <p:spPr/>
        <p:txBody>
          <a:bodyPr/>
          <a:lstStyle/>
          <a:p>
            <a:fld id="{3B9976AC-1065-4D08-9E88-39EDE1BFE096}" type="datetimeFigureOut">
              <a:rPr lang="fr-CA" smtClean="0"/>
              <a:t>2025-11-13</a:t>
            </a:fld>
            <a:endParaRPr lang="fr-CA"/>
          </a:p>
        </p:txBody>
      </p:sp>
      <p:sp>
        <p:nvSpPr>
          <p:cNvPr id="5" name="Espace réservé du pied de page 4">
            <a:extLst>
              <a:ext uri="{FF2B5EF4-FFF2-40B4-BE49-F238E27FC236}">
                <a16:creationId xmlns:a16="http://schemas.microsoft.com/office/drawing/2014/main" id="{869541F7-6DBC-5C7B-8C89-0B8F2D0BD3E0}"/>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D3209CA6-E71E-23FD-6278-AF506AC49ED2}"/>
              </a:ext>
            </a:extLst>
          </p:cNvPr>
          <p:cNvSpPr>
            <a:spLocks noGrp="1"/>
          </p:cNvSpPr>
          <p:nvPr>
            <p:ph type="sldNum" sz="quarter" idx="12"/>
          </p:nvPr>
        </p:nvSpPr>
        <p:spPr/>
        <p:txBody>
          <a:bodyPr/>
          <a:lstStyle/>
          <a:p>
            <a:fld id="{D56CDA08-68F5-4A41-970B-93B22FEE1028}" type="slidenum">
              <a:rPr lang="fr-CA" smtClean="0"/>
              <a:t>‹#›</a:t>
            </a:fld>
            <a:endParaRPr lang="fr-CA"/>
          </a:p>
        </p:txBody>
      </p:sp>
    </p:spTree>
    <p:extLst>
      <p:ext uri="{BB962C8B-B14F-4D97-AF65-F5344CB8AC3E}">
        <p14:creationId xmlns:p14="http://schemas.microsoft.com/office/powerpoint/2010/main" val="1300685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964906-50C4-8B41-4085-86B269E31B11}"/>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3B2757E9-ABFC-FCC3-ADF7-CE983953F4D9}"/>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0358108B-D9CF-AD39-F242-E800022FA87E}"/>
              </a:ext>
            </a:extLst>
          </p:cNvPr>
          <p:cNvSpPr>
            <a:spLocks noGrp="1"/>
          </p:cNvSpPr>
          <p:nvPr>
            <p:ph type="dt" sz="half" idx="10"/>
          </p:nvPr>
        </p:nvSpPr>
        <p:spPr/>
        <p:txBody>
          <a:bodyPr/>
          <a:lstStyle/>
          <a:p>
            <a:fld id="{3B9976AC-1065-4D08-9E88-39EDE1BFE096}" type="datetimeFigureOut">
              <a:rPr lang="fr-CA" smtClean="0"/>
              <a:t>2025-11-13</a:t>
            </a:fld>
            <a:endParaRPr lang="fr-CA"/>
          </a:p>
        </p:txBody>
      </p:sp>
      <p:sp>
        <p:nvSpPr>
          <p:cNvPr id="5" name="Espace réservé du pied de page 4">
            <a:extLst>
              <a:ext uri="{FF2B5EF4-FFF2-40B4-BE49-F238E27FC236}">
                <a16:creationId xmlns:a16="http://schemas.microsoft.com/office/drawing/2014/main" id="{30E823D6-B17C-D6BE-B375-16A199F2E7C7}"/>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0CCE8A26-61A1-C723-E75B-F0BE1F7FE477}"/>
              </a:ext>
            </a:extLst>
          </p:cNvPr>
          <p:cNvSpPr>
            <a:spLocks noGrp="1"/>
          </p:cNvSpPr>
          <p:nvPr>
            <p:ph type="sldNum" sz="quarter" idx="12"/>
          </p:nvPr>
        </p:nvSpPr>
        <p:spPr/>
        <p:txBody>
          <a:bodyPr/>
          <a:lstStyle/>
          <a:p>
            <a:fld id="{D56CDA08-68F5-4A41-970B-93B22FEE1028}" type="slidenum">
              <a:rPr lang="fr-CA" smtClean="0"/>
              <a:t>‹#›</a:t>
            </a:fld>
            <a:endParaRPr lang="fr-CA"/>
          </a:p>
        </p:txBody>
      </p:sp>
    </p:spTree>
    <p:extLst>
      <p:ext uri="{BB962C8B-B14F-4D97-AF65-F5344CB8AC3E}">
        <p14:creationId xmlns:p14="http://schemas.microsoft.com/office/powerpoint/2010/main" val="1386697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8A6BE7-4378-DD34-D7A9-971E3611345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F2846641-4A61-D3FF-2EDD-CB61DF7211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216EFEAF-7CF9-2ECB-8197-93FC0B40C945}"/>
              </a:ext>
            </a:extLst>
          </p:cNvPr>
          <p:cNvSpPr>
            <a:spLocks noGrp="1"/>
          </p:cNvSpPr>
          <p:nvPr>
            <p:ph type="dt" sz="half" idx="10"/>
          </p:nvPr>
        </p:nvSpPr>
        <p:spPr/>
        <p:txBody>
          <a:bodyPr/>
          <a:lstStyle/>
          <a:p>
            <a:fld id="{3B9976AC-1065-4D08-9E88-39EDE1BFE096}" type="datetimeFigureOut">
              <a:rPr lang="fr-CA" smtClean="0"/>
              <a:t>2025-11-13</a:t>
            </a:fld>
            <a:endParaRPr lang="fr-CA"/>
          </a:p>
        </p:txBody>
      </p:sp>
      <p:sp>
        <p:nvSpPr>
          <p:cNvPr id="5" name="Espace réservé du pied de page 4">
            <a:extLst>
              <a:ext uri="{FF2B5EF4-FFF2-40B4-BE49-F238E27FC236}">
                <a16:creationId xmlns:a16="http://schemas.microsoft.com/office/drawing/2014/main" id="{EB5DCFE5-94B3-E8B6-4F1F-C7040476C9A8}"/>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F8222DA4-AF20-BB5D-7CAA-8171DFCA08BE}"/>
              </a:ext>
            </a:extLst>
          </p:cNvPr>
          <p:cNvSpPr>
            <a:spLocks noGrp="1"/>
          </p:cNvSpPr>
          <p:nvPr>
            <p:ph type="sldNum" sz="quarter" idx="12"/>
          </p:nvPr>
        </p:nvSpPr>
        <p:spPr/>
        <p:txBody>
          <a:bodyPr/>
          <a:lstStyle/>
          <a:p>
            <a:fld id="{D56CDA08-68F5-4A41-970B-93B22FEE1028}" type="slidenum">
              <a:rPr lang="fr-CA" smtClean="0"/>
              <a:t>‹#›</a:t>
            </a:fld>
            <a:endParaRPr lang="fr-CA"/>
          </a:p>
        </p:txBody>
      </p:sp>
    </p:spTree>
    <p:extLst>
      <p:ext uri="{BB962C8B-B14F-4D97-AF65-F5344CB8AC3E}">
        <p14:creationId xmlns:p14="http://schemas.microsoft.com/office/powerpoint/2010/main" val="1545192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6AE1EA-1FA2-2C60-CA4E-66CB79F99C59}"/>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026D87AD-4EB8-1918-227D-4DE7E82BF34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D11988EE-EFCD-872C-2AEF-9D724798544F}"/>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a:extLst>
              <a:ext uri="{FF2B5EF4-FFF2-40B4-BE49-F238E27FC236}">
                <a16:creationId xmlns:a16="http://schemas.microsoft.com/office/drawing/2014/main" id="{C6DC0D0C-68F0-B0DD-212F-9F6689A3E510}"/>
              </a:ext>
            </a:extLst>
          </p:cNvPr>
          <p:cNvSpPr>
            <a:spLocks noGrp="1"/>
          </p:cNvSpPr>
          <p:nvPr>
            <p:ph type="dt" sz="half" idx="10"/>
          </p:nvPr>
        </p:nvSpPr>
        <p:spPr/>
        <p:txBody>
          <a:bodyPr/>
          <a:lstStyle/>
          <a:p>
            <a:fld id="{3B9976AC-1065-4D08-9E88-39EDE1BFE096}" type="datetimeFigureOut">
              <a:rPr lang="fr-CA" smtClean="0"/>
              <a:t>2025-11-13</a:t>
            </a:fld>
            <a:endParaRPr lang="fr-CA"/>
          </a:p>
        </p:txBody>
      </p:sp>
      <p:sp>
        <p:nvSpPr>
          <p:cNvPr id="6" name="Espace réservé du pied de page 5">
            <a:extLst>
              <a:ext uri="{FF2B5EF4-FFF2-40B4-BE49-F238E27FC236}">
                <a16:creationId xmlns:a16="http://schemas.microsoft.com/office/drawing/2014/main" id="{2D6CB25A-BCBD-E343-05B2-77D51B53B572}"/>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5C87E6C8-E2BB-37AC-ACF2-00D2FB41DEEA}"/>
              </a:ext>
            </a:extLst>
          </p:cNvPr>
          <p:cNvSpPr>
            <a:spLocks noGrp="1"/>
          </p:cNvSpPr>
          <p:nvPr>
            <p:ph type="sldNum" sz="quarter" idx="12"/>
          </p:nvPr>
        </p:nvSpPr>
        <p:spPr/>
        <p:txBody>
          <a:bodyPr/>
          <a:lstStyle/>
          <a:p>
            <a:fld id="{D56CDA08-68F5-4A41-970B-93B22FEE1028}" type="slidenum">
              <a:rPr lang="fr-CA" smtClean="0"/>
              <a:t>‹#›</a:t>
            </a:fld>
            <a:endParaRPr lang="fr-CA"/>
          </a:p>
        </p:txBody>
      </p:sp>
    </p:spTree>
    <p:extLst>
      <p:ext uri="{BB962C8B-B14F-4D97-AF65-F5344CB8AC3E}">
        <p14:creationId xmlns:p14="http://schemas.microsoft.com/office/powerpoint/2010/main" val="2138588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BA26BD-43C4-D6F5-8D9A-534A720B7B1D}"/>
              </a:ext>
            </a:extLst>
          </p:cNvPr>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87A0F4D6-D132-274B-D1FB-62A0B4D62A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8849F2D-B0F6-D7CE-5483-0D35DFDFC9F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a:extLst>
              <a:ext uri="{FF2B5EF4-FFF2-40B4-BE49-F238E27FC236}">
                <a16:creationId xmlns:a16="http://schemas.microsoft.com/office/drawing/2014/main" id="{04887D98-ECDE-3ED1-A9C8-AB744BBDA9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57B8A98-01CE-7F35-2804-0B6E8B3F598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a:extLst>
              <a:ext uri="{FF2B5EF4-FFF2-40B4-BE49-F238E27FC236}">
                <a16:creationId xmlns:a16="http://schemas.microsoft.com/office/drawing/2014/main" id="{0F448A0B-8390-475C-69D0-AEB5702BAB39}"/>
              </a:ext>
            </a:extLst>
          </p:cNvPr>
          <p:cNvSpPr>
            <a:spLocks noGrp="1"/>
          </p:cNvSpPr>
          <p:nvPr>
            <p:ph type="dt" sz="half" idx="10"/>
          </p:nvPr>
        </p:nvSpPr>
        <p:spPr/>
        <p:txBody>
          <a:bodyPr/>
          <a:lstStyle/>
          <a:p>
            <a:fld id="{3B9976AC-1065-4D08-9E88-39EDE1BFE096}" type="datetimeFigureOut">
              <a:rPr lang="fr-CA" smtClean="0"/>
              <a:t>2025-11-13</a:t>
            </a:fld>
            <a:endParaRPr lang="fr-CA"/>
          </a:p>
        </p:txBody>
      </p:sp>
      <p:sp>
        <p:nvSpPr>
          <p:cNvPr id="8" name="Espace réservé du pied de page 7">
            <a:extLst>
              <a:ext uri="{FF2B5EF4-FFF2-40B4-BE49-F238E27FC236}">
                <a16:creationId xmlns:a16="http://schemas.microsoft.com/office/drawing/2014/main" id="{BA26B07F-D495-3959-4FD7-B1BA92070264}"/>
              </a:ext>
            </a:extLst>
          </p:cNvPr>
          <p:cNvSpPr>
            <a:spLocks noGrp="1"/>
          </p:cNvSpPr>
          <p:nvPr>
            <p:ph type="ftr" sz="quarter" idx="11"/>
          </p:nvPr>
        </p:nvSpPr>
        <p:spPr/>
        <p:txBody>
          <a:bodyPr/>
          <a:lstStyle/>
          <a:p>
            <a:endParaRPr lang="fr-CA"/>
          </a:p>
        </p:txBody>
      </p:sp>
      <p:sp>
        <p:nvSpPr>
          <p:cNvPr id="9" name="Espace réservé du numéro de diapositive 8">
            <a:extLst>
              <a:ext uri="{FF2B5EF4-FFF2-40B4-BE49-F238E27FC236}">
                <a16:creationId xmlns:a16="http://schemas.microsoft.com/office/drawing/2014/main" id="{D61E6ABD-9870-0331-1A56-5A4AFAC13F4D}"/>
              </a:ext>
            </a:extLst>
          </p:cNvPr>
          <p:cNvSpPr>
            <a:spLocks noGrp="1"/>
          </p:cNvSpPr>
          <p:nvPr>
            <p:ph type="sldNum" sz="quarter" idx="12"/>
          </p:nvPr>
        </p:nvSpPr>
        <p:spPr/>
        <p:txBody>
          <a:bodyPr/>
          <a:lstStyle/>
          <a:p>
            <a:fld id="{D56CDA08-68F5-4A41-970B-93B22FEE1028}" type="slidenum">
              <a:rPr lang="fr-CA" smtClean="0"/>
              <a:t>‹#›</a:t>
            </a:fld>
            <a:endParaRPr lang="fr-CA"/>
          </a:p>
        </p:txBody>
      </p:sp>
    </p:spTree>
    <p:extLst>
      <p:ext uri="{BB962C8B-B14F-4D97-AF65-F5344CB8AC3E}">
        <p14:creationId xmlns:p14="http://schemas.microsoft.com/office/powerpoint/2010/main" val="1320309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CA4533-6457-884A-4C49-C3982D385867}"/>
              </a:ext>
            </a:extLst>
          </p:cNvPr>
          <p:cNvSpPr>
            <a:spLocks noGrp="1"/>
          </p:cNvSpPr>
          <p:nvPr>
            <p:ph type="title"/>
          </p:nvPr>
        </p:nvSpPr>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BA92FFBB-0EEF-5104-39E9-0B666EFF4751}"/>
              </a:ext>
            </a:extLst>
          </p:cNvPr>
          <p:cNvSpPr>
            <a:spLocks noGrp="1"/>
          </p:cNvSpPr>
          <p:nvPr>
            <p:ph type="dt" sz="half" idx="10"/>
          </p:nvPr>
        </p:nvSpPr>
        <p:spPr/>
        <p:txBody>
          <a:bodyPr/>
          <a:lstStyle/>
          <a:p>
            <a:fld id="{3B9976AC-1065-4D08-9E88-39EDE1BFE096}" type="datetimeFigureOut">
              <a:rPr lang="fr-CA" smtClean="0"/>
              <a:t>2025-11-13</a:t>
            </a:fld>
            <a:endParaRPr lang="fr-CA"/>
          </a:p>
        </p:txBody>
      </p:sp>
      <p:sp>
        <p:nvSpPr>
          <p:cNvPr id="4" name="Espace réservé du pied de page 3">
            <a:extLst>
              <a:ext uri="{FF2B5EF4-FFF2-40B4-BE49-F238E27FC236}">
                <a16:creationId xmlns:a16="http://schemas.microsoft.com/office/drawing/2014/main" id="{F3A52D14-1CD8-CD80-A265-984E96E620A1}"/>
              </a:ext>
            </a:extLst>
          </p:cNvPr>
          <p:cNvSpPr>
            <a:spLocks noGrp="1"/>
          </p:cNvSpPr>
          <p:nvPr>
            <p:ph type="ftr" sz="quarter" idx="11"/>
          </p:nvPr>
        </p:nvSpPr>
        <p:spPr/>
        <p:txBody>
          <a:bodyPr/>
          <a:lstStyle/>
          <a:p>
            <a:endParaRPr lang="fr-CA"/>
          </a:p>
        </p:txBody>
      </p:sp>
      <p:sp>
        <p:nvSpPr>
          <p:cNvPr id="5" name="Espace réservé du numéro de diapositive 4">
            <a:extLst>
              <a:ext uri="{FF2B5EF4-FFF2-40B4-BE49-F238E27FC236}">
                <a16:creationId xmlns:a16="http://schemas.microsoft.com/office/drawing/2014/main" id="{9675F1B1-E30F-3069-89A2-B37C0934E07A}"/>
              </a:ext>
            </a:extLst>
          </p:cNvPr>
          <p:cNvSpPr>
            <a:spLocks noGrp="1"/>
          </p:cNvSpPr>
          <p:nvPr>
            <p:ph type="sldNum" sz="quarter" idx="12"/>
          </p:nvPr>
        </p:nvSpPr>
        <p:spPr/>
        <p:txBody>
          <a:bodyPr/>
          <a:lstStyle/>
          <a:p>
            <a:fld id="{D56CDA08-68F5-4A41-970B-93B22FEE1028}" type="slidenum">
              <a:rPr lang="fr-CA" smtClean="0"/>
              <a:t>‹#›</a:t>
            </a:fld>
            <a:endParaRPr lang="fr-CA"/>
          </a:p>
        </p:txBody>
      </p:sp>
    </p:spTree>
    <p:extLst>
      <p:ext uri="{BB962C8B-B14F-4D97-AF65-F5344CB8AC3E}">
        <p14:creationId xmlns:p14="http://schemas.microsoft.com/office/powerpoint/2010/main" val="3363598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B7028A2-1F0F-49AF-FA8E-A8CD0485D06C}"/>
              </a:ext>
            </a:extLst>
          </p:cNvPr>
          <p:cNvSpPr>
            <a:spLocks noGrp="1"/>
          </p:cNvSpPr>
          <p:nvPr>
            <p:ph type="dt" sz="half" idx="10"/>
          </p:nvPr>
        </p:nvSpPr>
        <p:spPr/>
        <p:txBody>
          <a:bodyPr/>
          <a:lstStyle/>
          <a:p>
            <a:fld id="{3B9976AC-1065-4D08-9E88-39EDE1BFE096}" type="datetimeFigureOut">
              <a:rPr lang="fr-CA" smtClean="0"/>
              <a:t>2025-11-13</a:t>
            </a:fld>
            <a:endParaRPr lang="fr-CA"/>
          </a:p>
        </p:txBody>
      </p:sp>
      <p:sp>
        <p:nvSpPr>
          <p:cNvPr id="3" name="Espace réservé du pied de page 2">
            <a:extLst>
              <a:ext uri="{FF2B5EF4-FFF2-40B4-BE49-F238E27FC236}">
                <a16:creationId xmlns:a16="http://schemas.microsoft.com/office/drawing/2014/main" id="{2F998018-4059-4E98-0F2F-C022CAC0C9E8}"/>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0D2AB8B3-0E88-79A5-9F1B-0AEC4B91C574}"/>
              </a:ext>
            </a:extLst>
          </p:cNvPr>
          <p:cNvSpPr>
            <a:spLocks noGrp="1"/>
          </p:cNvSpPr>
          <p:nvPr>
            <p:ph type="sldNum" sz="quarter" idx="12"/>
          </p:nvPr>
        </p:nvSpPr>
        <p:spPr/>
        <p:txBody>
          <a:bodyPr/>
          <a:lstStyle/>
          <a:p>
            <a:fld id="{D56CDA08-68F5-4A41-970B-93B22FEE1028}" type="slidenum">
              <a:rPr lang="fr-CA" smtClean="0"/>
              <a:t>‹#›</a:t>
            </a:fld>
            <a:endParaRPr lang="fr-CA"/>
          </a:p>
        </p:txBody>
      </p:sp>
    </p:spTree>
    <p:extLst>
      <p:ext uri="{BB962C8B-B14F-4D97-AF65-F5344CB8AC3E}">
        <p14:creationId xmlns:p14="http://schemas.microsoft.com/office/powerpoint/2010/main" val="3891870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3C2FF0-15EE-36AE-807C-726DDDB93C6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527420E8-791B-5CFE-CD19-2B27F7E957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8574DAF6-4CDB-10BA-32F6-99482636AF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C877E40-59F4-A811-8986-25742EE21464}"/>
              </a:ext>
            </a:extLst>
          </p:cNvPr>
          <p:cNvSpPr>
            <a:spLocks noGrp="1"/>
          </p:cNvSpPr>
          <p:nvPr>
            <p:ph type="dt" sz="half" idx="10"/>
          </p:nvPr>
        </p:nvSpPr>
        <p:spPr/>
        <p:txBody>
          <a:bodyPr/>
          <a:lstStyle/>
          <a:p>
            <a:fld id="{3B9976AC-1065-4D08-9E88-39EDE1BFE096}" type="datetimeFigureOut">
              <a:rPr lang="fr-CA" smtClean="0"/>
              <a:t>2025-11-13</a:t>
            </a:fld>
            <a:endParaRPr lang="fr-CA"/>
          </a:p>
        </p:txBody>
      </p:sp>
      <p:sp>
        <p:nvSpPr>
          <p:cNvPr id="6" name="Espace réservé du pied de page 5">
            <a:extLst>
              <a:ext uri="{FF2B5EF4-FFF2-40B4-BE49-F238E27FC236}">
                <a16:creationId xmlns:a16="http://schemas.microsoft.com/office/drawing/2014/main" id="{83B2267C-FED6-F635-4A4D-C7B40D3992E6}"/>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B517AD7A-5B06-DB4E-0B30-539454D0F38D}"/>
              </a:ext>
            </a:extLst>
          </p:cNvPr>
          <p:cNvSpPr>
            <a:spLocks noGrp="1"/>
          </p:cNvSpPr>
          <p:nvPr>
            <p:ph type="sldNum" sz="quarter" idx="12"/>
          </p:nvPr>
        </p:nvSpPr>
        <p:spPr/>
        <p:txBody>
          <a:bodyPr/>
          <a:lstStyle/>
          <a:p>
            <a:fld id="{D56CDA08-68F5-4A41-970B-93B22FEE1028}" type="slidenum">
              <a:rPr lang="fr-CA" smtClean="0"/>
              <a:t>‹#›</a:t>
            </a:fld>
            <a:endParaRPr lang="fr-CA"/>
          </a:p>
        </p:txBody>
      </p:sp>
    </p:spTree>
    <p:extLst>
      <p:ext uri="{BB962C8B-B14F-4D97-AF65-F5344CB8AC3E}">
        <p14:creationId xmlns:p14="http://schemas.microsoft.com/office/powerpoint/2010/main" val="3697794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53D964-9F88-1C16-4DC1-55E3D7A0A0A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a:extLst>
              <a:ext uri="{FF2B5EF4-FFF2-40B4-BE49-F238E27FC236}">
                <a16:creationId xmlns:a16="http://schemas.microsoft.com/office/drawing/2014/main" id="{944AC928-2580-D77D-0670-7BCB64070D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a:extLst>
              <a:ext uri="{FF2B5EF4-FFF2-40B4-BE49-F238E27FC236}">
                <a16:creationId xmlns:a16="http://schemas.microsoft.com/office/drawing/2014/main" id="{578A5439-B96A-5BFA-D1EF-9C9E186564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2A0C597-9893-F32C-41F1-80BB1C4DAB25}"/>
              </a:ext>
            </a:extLst>
          </p:cNvPr>
          <p:cNvSpPr>
            <a:spLocks noGrp="1"/>
          </p:cNvSpPr>
          <p:nvPr>
            <p:ph type="dt" sz="half" idx="10"/>
          </p:nvPr>
        </p:nvSpPr>
        <p:spPr/>
        <p:txBody>
          <a:bodyPr/>
          <a:lstStyle/>
          <a:p>
            <a:fld id="{3B9976AC-1065-4D08-9E88-39EDE1BFE096}" type="datetimeFigureOut">
              <a:rPr lang="fr-CA" smtClean="0"/>
              <a:t>2025-11-13</a:t>
            </a:fld>
            <a:endParaRPr lang="fr-CA"/>
          </a:p>
        </p:txBody>
      </p:sp>
      <p:sp>
        <p:nvSpPr>
          <p:cNvPr id="6" name="Espace réservé du pied de page 5">
            <a:extLst>
              <a:ext uri="{FF2B5EF4-FFF2-40B4-BE49-F238E27FC236}">
                <a16:creationId xmlns:a16="http://schemas.microsoft.com/office/drawing/2014/main" id="{60B9E95F-EF2F-5631-F357-80CAB03D4907}"/>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54CE68BD-6E73-A2EB-FCE0-31FF705B63F3}"/>
              </a:ext>
            </a:extLst>
          </p:cNvPr>
          <p:cNvSpPr>
            <a:spLocks noGrp="1"/>
          </p:cNvSpPr>
          <p:nvPr>
            <p:ph type="sldNum" sz="quarter" idx="12"/>
          </p:nvPr>
        </p:nvSpPr>
        <p:spPr/>
        <p:txBody>
          <a:bodyPr/>
          <a:lstStyle/>
          <a:p>
            <a:fld id="{D56CDA08-68F5-4A41-970B-93B22FEE1028}" type="slidenum">
              <a:rPr lang="fr-CA" smtClean="0"/>
              <a:t>‹#›</a:t>
            </a:fld>
            <a:endParaRPr lang="fr-CA"/>
          </a:p>
        </p:txBody>
      </p:sp>
    </p:spTree>
    <p:extLst>
      <p:ext uri="{BB962C8B-B14F-4D97-AF65-F5344CB8AC3E}">
        <p14:creationId xmlns:p14="http://schemas.microsoft.com/office/powerpoint/2010/main" val="228685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BEE4A0-4CD2-B60A-2C66-91BD8BA6B92E}"/>
              </a:ext>
            </a:extLst>
          </p:cNvPr>
          <p:cNvSpPr>
            <a:spLocks noGrp="1"/>
          </p:cNvSpPr>
          <p:nvPr>
            <p:ph type="title"/>
          </p:nvPr>
        </p:nvSpPr>
        <p:spPr/>
        <p:txBody>
          <a:body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D6840C0A-24B3-83ED-0891-4C1AF2E8A59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0F875E22-E13B-412B-B5BA-1AFB49BF203D}"/>
              </a:ext>
            </a:extLst>
          </p:cNvPr>
          <p:cNvSpPr>
            <a:spLocks noGrp="1"/>
          </p:cNvSpPr>
          <p:nvPr>
            <p:ph type="dt" sz="half" idx="10"/>
          </p:nvPr>
        </p:nvSpPr>
        <p:spPr/>
        <p:txBody>
          <a:bodyPr/>
          <a:lstStyle/>
          <a:p>
            <a:fld id="{3B9976AC-1065-4D08-9E88-39EDE1BFE096}" type="datetimeFigureOut">
              <a:rPr lang="fr-CA" smtClean="0"/>
              <a:t>2025-11-13</a:t>
            </a:fld>
            <a:endParaRPr lang="fr-CA"/>
          </a:p>
        </p:txBody>
      </p:sp>
      <p:sp>
        <p:nvSpPr>
          <p:cNvPr id="5" name="Espace réservé du pied de page 4">
            <a:extLst>
              <a:ext uri="{FF2B5EF4-FFF2-40B4-BE49-F238E27FC236}">
                <a16:creationId xmlns:a16="http://schemas.microsoft.com/office/drawing/2014/main" id="{EF925F3A-0127-FF6C-9842-4BFBBFAA2BB0}"/>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433D9636-E47B-186F-3BF7-AA6A486E0C59}"/>
              </a:ext>
            </a:extLst>
          </p:cNvPr>
          <p:cNvSpPr>
            <a:spLocks noGrp="1"/>
          </p:cNvSpPr>
          <p:nvPr>
            <p:ph type="sldNum" sz="quarter" idx="12"/>
          </p:nvPr>
        </p:nvSpPr>
        <p:spPr/>
        <p:txBody>
          <a:bodyPr/>
          <a:lstStyle/>
          <a:p>
            <a:fld id="{D56CDA08-68F5-4A41-970B-93B22FEE1028}" type="slidenum">
              <a:rPr lang="fr-CA" smtClean="0"/>
              <a:t>‹#›</a:t>
            </a:fld>
            <a:endParaRPr lang="fr-CA"/>
          </a:p>
        </p:txBody>
      </p:sp>
    </p:spTree>
    <p:extLst>
      <p:ext uri="{BB962C8B-B14F-4D97-AF65-F5344CB8AC3E}">
        <p14:creationId xmlns:p14="http://schemas.microsoft.com/office/powerpoint/2010/main" val="1725790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A24E108-2030-7A56-7C70-2B9F26B638FB}"/>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BE8A1327-9B18-7FD3-25D5-32C8AE46DECB}"/>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EF0DFB88-C016-4931-6622-474618D23ADE}"/>
              </a:ext>
            </a:extLst>
          </p:cNvPr>
          <p:cNvSpPr>
            <a:spLocks noGrp="1"/>
          </p:cNvSpPr>
          <p:nvPr>
            <p:ph type="dt" sz="half" idx="10"/>
          </p:nvPr>
        </p:nvSpPr>
        <p:spPr/>
        <p:txBody>
          <a:bodyPr/>
          <a:lstStyle/>
          <a:p>
            <a:fld id="{3B9976AC-1065-4D08-9E88-39EDE1BFE096}" type="datetimeFigureOut">
              <a:rPr lang="fr-CA" smtClean="0"/>
              <a:t>2025-11-13</a:t>
            </a:fld>
            <a:endParaRPr lang="fr-CA"/>
          </a:p>
        </p:txBody>
      </p:sp>
      <p:sp>
        <p:nvSpPr>
          <p:cNvPr id="5" name="Espace réservé du pied de page 4">
            <a:extLst>
              <a:ext uri="{FF2B5EF4-FFF2-40B4-BE49-F238E27FC236}">
                <a16:creationId xmlns:a16="http://schemas.microsoft.com/office/drawing/2014/main" id="{FBA689A8-A00E-9B62-0F5B-029C46BBA6E6}"/>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1FDB9286-D44D-EB7F-F874-1C5AAAE46B76}"/>
              </a:ext>
            </a:extLst>
          </p:cNvPr>
          <p:cNvSpPr>
            <a:spLocks noGrp="1"/>
          </p:cNvSpPr>
          <p:nvPr>
            <p:ph type="sldNum" sz="quarter" idx="12"/>
          </p:nvPr>
        </p:nvSpPr>
        <p:spPr/>
        <p:txBody>
          <a:bodyPr/>
          <a:lstStyle/>
          <a:p>
            <a:fld id="{D56CDA08-68F5-4A41-970B-93B22FEE1028}" type="slidenum">
              <a:rPr lang="fr-CA" smtClean="0"/>
              <a:t>‹#›</a:t>
            </a:fld>
            <a:endParaRPr lang="fr-CA"/>
          </a:p>
        </p:txBody>
      </p:sp>
    </p:spTree>
    <p:extLst>
      <p:ext uri="{BB962C8B-B14F-4D97-AF65-F5344CB8AC3E}">
        <p14:creationId xmlns:p14="http://schemas.microsoft.com/office/powerpoint/2010/main" val="4154348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8801D69-BF40-1097-B419-272C9C83C4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EF0150CF-CE89-3D4E-3878-A62A3EA3AE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9FCF3560-30FF-2EAF-D9F9-B058946B41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9976AC-1065-4D08-9E88-39EDE1BFE096}" type="datetimeFigureOut">
              <a:rPr lang="fr-CA" smtClean="0"/>
              <a:t>2025-11-13</a:t>
            </a:fld>
            <a:endParaRPr lang="fr-CA"/>
          </a:p>
        </p:txBody>
      </p:sp>
      <p:sp>
        <p:nvSpPr>
          <p:cNvPr id="5" name="Espace réservé du pied de page 4">
            <a:extLst>
              <a:ext uri="{FF2B5EF4-FFF2-40B4-BE49-F238E27FC236}">
                <a16:creationId xmlns:a16="http://schemas.microsoft.com/office/drawing/2014/main" id="{AD27DD1C-F247-023F-AACD-476844F56F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6" name="Espace réservé du numéro de diapositive 5">
            <a:extLst>
              <a:ext uri="{FF2B5EF4-FFF2-40B4-BE49-F238E27FC236}">
                <a16:creationId xmlns:a16="http://schemas.microsoft.com/office/drawing/2014/main" id="{488F0019-8600-D530-82FC-1AD6768611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6CDA08-68F5-4A41-970B-93B22FEE1028}" type="slidenum">
              <a:rPr lang="fr-CA" smtClean="0"/>
              <a:t>‹#›</a:t>
            </a:fld>
            <a:endParaRPr lang="fr-CA"/>
          </a:p>
        </p:txBody>
      </p:sp>
    </p:spTree>
    <p:extLst>
      <p:ext uri="{BB962C8B-B14F-4D97-AF65-F5344CB8AC3E}">
        <p14:creationId xmlns:p14="http://schemas.microsoft.com/office/powerpoint/2010/main" val="8319074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hyperlink" Target="https://vitrinelinguistique.oqlf.gouv.qc.ca/" TargetMode="External"/><Relationship Id="rId2" Type="http://schemas.openxmlformats.org/officeDocument/2006/relationships/hyperlink" Target="https://www.mhccna.com/fr-ca/landing/glossaire?oft_id=107&amp;oft_k=m4W16Ihp&amp;oft_lk=nr2Vjs&amp;oft_d=638029080779200000" TargetMode="External"/><Relationship Id="rId1" Type="http://schemas.openxmlformats.org/officeDocument/2006/relationships/slideLayout" Target="../slideLayouts/slideLayout9.xml"/><Relationship Id="rId4" Type="http://schemas.openxmlformats.org/officeDocument/2006/relationships/hyperlink" Target="https://www.btb.termiumplus.gc.ca/tpv2alpha/alpha-eng.html?lang=eng&amp;i=1&amp;srchtxt=originator&amp;codom2nd_wet=1#resultrec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6" name="Rectangle 1045">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Rectangle 1046">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2B53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7208B81-8543-818F-ECD6-AFB75991F007}"/>
              </a:ext>
            </a:extLst>
          </p:cNvPr>
          <p:cNvSpPr>
            <a:spLocks noGrp="1"/>
          </p:cNvSpPr>
          <p:nvPr>
            <p:ph type="ctrTitle"/>
          </p:nvPr>
        </p:nvSpPr>
        <p:spPr>
          <a:xfrm>
            <a:off x="640079" y="2074363"/>
            <a:ext cx="2735419"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r>
              <a:rPr lang="en-US" sz="4800" dirty="0">
                <a:solidFill>
                  <a:srgbClr val="FFFFFF"/>
                </a:solidFill>
                <a:latin typeface="Times New Roman" panose="02020603050405020304" pitchFamily="18" charset="0"/>
                <a:cs typeface="Times New Roman" panose="02020603050405020304" pitchFamily="18" charset="0"/>
              </a:rPr>
              <a:t>Bill</a:t>
            </a:r>
            <a:r>
              <a:rPr lang="en-US" sz="4800" kern="1200" dirty="0">
                <a:solidFill>
                  <a:srgbClr val="FFFFFF"/>
                </a:solidFill>
                <a:latin typeface="Times New Roman" panose="02020603050405020304" pitchFamily="18" charset="0"/>
                <a:cs typeface="Times New Roman" panose="02020603050405020304" pitchFamily="18" charset="0"/>
              </a:rPr>
              <a:t> 96</a:t>
            </a:r>
          </a:p>
        </p:txBody>
      </p:sp>
      <p:pic>
        <p:nvPicPr>
          <p:cNvPr id="1028" name="Picture 4" descr="Fleur De Lys Quebec Images – Browse 505 Stock Photos, Vectors, and Video |  Adobe Stock">
            <a:extLst>
              <a:ext uri="{FF2B5EF4-FFF2-40B4-BE49-F238E27FC236}">
                <a16:creationId xmlns:a16="http://schemas.microsoft.com/office/drawing/2014/main" id="{DCE6E5C4-6818-5524-4D1E-D8F6076B02D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38600" y="1243391"/>
            <a:ext cx="7188199" cy="4367829"/>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9860CF9F-D3CC-9CCC-8120-56B30489DDE6}"/>
              </a:ext>
            </a:extLst>
          </p:cNvPr>
          <p:cNvSpPr txBox="1"/>
          <p:nvPr/>
        </p:nvSpPr>
        <p:spPr>
          <a:xfrm>
            <a:off x="7152237" y="6065333"/>
            <a:ext cx="4635374" cy="338554"/>
          </a:xfrm>
          <a:prstGeom prst="rect">
            <a:avLst/>
          </a:prstGeom>
          <a:noFill/>
        </p:spPr>
        <p:txBody>
          <a:bodyPr wrap="square" rtlCol="0">
            <a:spAutoFit/>
          </a:bodyPr>
          <a:lstStyle/>
          <a:p>
            <a:r>
              <a:rPr lang="en-US" sz="1600" i="1" dirty="0">
                <a:solidFill>
                  <a:srgbClr val="C00000"/>
                </a:solidFill>
              </a:rPr>
              <a:t>To review the situation after more than a year</a:t>
            </a:r>
            <a:endParaRPr lang="fr-CA" sz="1600" i="1" dirty="0">
              <a:solidFill>
                <a:srgbClr val="C00000"/>
              </a:solidFill>
            </a:endParaRPr>
          </a:p>
        </p:txBody>
      </p:sp>
    </p:spTree>
    <p:extLst>
      <p:ext uri="{BB962C8B-B14F-4D97-AF65-F5344CB8AC3E}">
        <p14:creationId xmlns:p14="http://schemas.microsoft.com/office/powerpoint/2010/main" val="227886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88D179-6471-4308-BB7D-698985A6604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4E26EA-2942-AD67-B8DC-7380A6C9BD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ADB33B35-40BF-4385-B528-89CC9D5D4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DD8A7C3-E7D2-E817-87BA-2BCBCDAD6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4064E5E-DE3B-D1B9-1AC1-CE66A7DB5B95}"/>
              </a:ext>
            </a:extLst>
          </p:cNvPr>
          <p:cNvSpPr>
            <a:spLocks noGrp="1"/>
          </p:cNvSpPr>
          <p:nvPr>
            <p:ph type="title"/>
          </p:nvPr>
        </p:nvSpPr>
        <p:spPr>
          <a:xfrm>
            <a:off x="1285240" y="1050595"/>
            <a:ext cx="8074815" cy="1618489"/>
          </a:xfrm>
        </p:spPr>
        <p:txBody>
          <a:bodyPr anchor="ctr">
            <a:normAutofit/>
          </a:bodyPr>
          <a:lstStyle/>
          <a:p>
            <a:r>
              <a:rPr lang="fr-CA" sz="4800" dirty="0">
                <a:latin typeface="Times New Roman" panose="02020603050405020304" pitchFamily="18" charset="0"/>
                <a:cs typeface="Times New Roman" panose="02020603050405020304" pitchFamily="18" charset="0"/>
              </a:rPr>
              <a:t>Agenda</a:t>
            </a:r>
          </a:p>
        </p:txBody>
      </p:sp>
      <p:sp>
        <p:nvSpPr>
          <p:cNvPr id="3" name="Espace réservé du contenu 2">
            <a:extLst>
              <a:ext uri="{FF2B5EF4-FFF2-40B4-BE49-F238E27FC236}">
                <a16:creationId xmlns:a16="http://schemas.microsoft.com/office/drawing/2014/main" id="{D2FB5229-97B9-5B7E-A25D-A1B9989631B8}"/>
              </a:ext>
            </a:extLst>
          </p:cNvPr>
          <p:cNvSpPr>
            <a:spLocks noGrp="1"/>
          </p:cNvSpPr>
          <p:nvPr>
            <p:ph idx="1"/>
          </p:nvPr>
        </p:nvSpPr>
        <p:spPr>
          <a:xfrm>
            <a:off x="823865" y="2969469"/>
            <a:ext cx="10203257" cy="2800395"/>
          </a:xfrm>
        </p:spPr>
        <p:txBody>
          <a:bodyPr anchor="t">
            <a:normAutofit lnSpcReduction="10000"/>
          </a:bodyPr>
          <a:lstStyle/>
          <a:p>
            <a:pPr lvl="1">
              <a:lnSpc>
                <a:spcPct val="100000"/>
              </a:lnSpc>
            </a:pPr>
            <a:r>
              <a:rPr lang="fr-CA" sz="2800" dirty="0" err="1">
                <a:latin typeface="Times New Roman" panose="02020603050405020304" pitchFamily="18" charset="0"/>
                <a:cs typeface="Times New Roman" panose="02020603050405020304" pitchFamily="18" charset="0"/>
              </a:rPr>
              <a:t>What</a:t>
            </a:r>
            <a:r>
              <a:rPr lang="fr-CA" sz="2800" dirty="0">
                <a:latin typeface="Times New Roman" panose="02020603050405020304" pitchFamily="18" charset="0"/>
                <a:cs typeface="Times New Roman" panose="02020603050405020304" pitchFamily="18" charset="0"/>
              </a:rPr>
              <a:t> the </a:t>
            </a:r>
            <a:r>
              <a:rPr lang="fr-CA" sz="2800" dirty="0" err="1">
                <a:latin typeface="Times New Roman" panose="02020603050405020304" pitchFamily="18" charset="0"/>
                <a:cs typeface="Times New Roman" panose="02020603050405020304" pitchFamily="18" charset="0"/>
              </a:rPr>
              <a:t>law</a:t>
            </a:r>
            <a:r>
              <a:rPr lang="fr-CA" sz="2800" dirty="0">
                <a:latin typeface="Times New Roman" panose="02020603050405020304" pitchFamily="18" charset="0"/>
                <a:cs typeface="Times New Roman" panose="02020603050405020304" pitchFamily="18" charset="0"/>
              </a:rPr>
              <a:t> </a:t>
            </a:r>
            <a:r>
              <a:rPr lang="fr-CA" sz="2800" dirty="0" err="1">
                <a:latin typeface="Times New Roman" panose="02020603050405020304" pitchFamily="18" charset="0"/>
                <a:cs typeface="Times New Roman" panose="02020603050405020304" pitchFamily="18" charset="0"/>
              </a:rPr>
              <a:t>says</a:t>
            </a:r>
            <a:endParaRPr lang="fr-CA" sz="2800" dirty="0">
              <a:latin typeface="Times New Roman" panose="02020603050405020304" pitchFamily="18" charset="0"/>
              <a:cs typeface="Times New Roman" panose="02020603050405020304" pitchFamily="18" charset="0"/>
            </a:endParaRPr>
          </a:p>
          <a:p>
            <a:pPr lvl="1">
              <a:lnSpc>
                <a:spcPct val="100000"/>
              </a:lnSpc>
            </a:pPr>
            <a:r>
              <a:rPr lang="fr-CA" sz="2800" dirty="0" err="1">
                <a:latin typeface="Times New Roman" panose="02020603050405020304" pitchFamily="18" charset="0"/>
                <a:cs typeface="Times New Roman" panose="02020603050405020304" pitchFamily="18" charset="0"/>
              </a:rPr>
              <a:t>Policies</a:t>
            </a:r>
            <a:r>
              <a:rPr lang="fr-CA" sz="2800" dirty="0">
                <a:latin typeface="Times New Roman" panose="02020603050405020304" pitchFamily="18" charset="0"/>
                <a:cs typeface="Times New Roman" panose="02020603050405020304" pitchFamily="18" charset="0"/>
              </a:rPr>
              <a:t> and guidelines</a:t>
            </a:r>
          </a:p>
          <a:p>
            <a:pPr lvl="1">
              <a:lnSpc>
                <a:spcPct val="100000"/>
              </a:lnSpc>
            </a:pPr>
            <a:r>
              <a:rPr lang="fr-CA" sz="2800" dirty="0">
                <a:latin typeface="Times New Roman" panose="02020603050405020304" pitchFamily="18" charset="0"/>
                <a:cs typeface="Times New Roman" panose="02020603050405020304" pitchFamily="18" charset="0"/>
              </a:rPr>
              <a:t>How to </a:t>
            </a:r>
            <a:r>
              <a:rPr lang="fr-CA" sz="2800" dirty="0" err="1">
                <a:latin typeface="Times New Roman" panose="02020603050405020304" pitchFamily="18" charset="0"/>
                <a:cs typeface="Times New Roman" panose="02020603050405020304" pitchFamily="18" charset="0"/>
              </a:rPr>
              <a:t>determine</a:t>
            </a:r>
            <a:r>
              <a:rPr lang="fr-CA" sz="2800" dirty="0">
                <a:latin typeface="Times New Roman" panose="02020603050405020304" pitchFamily="18" charset="0"/>
                <a:cs typeface="Times New Roman" panose="02020603050405020304" pitchFamily="18" charset="0"/>
              </a:rPr>
              <a:t> if Bill 96 </a:t>
            </a:r>
            <a:r>
              <a:rPr lang="fr-CA" sz="2800" dirty="0" err="1">
                <a:latin typeface="Times New Roman" panose="02020603050405020304" pitchFamily="18" charset="0"/>
                <a:cs typeface="Times New Roman" panose="02020603050405020304" pitchFamily="18" charset="0"/>
              </a:rPr>
              <a:t>applies</a:t>
            </a:r>
            <a:endParaRPr lang="fr-CA" sz="2800" dirty="0">
              <a:latin typeface="Times New Roman" panose="02020603050405020304" pitchFamily="18" charset="0"/>
              <a:cs typeface="Times New Roman" panose="02020603050405020304" pitchFamily="18" charset="0"/>
            </a:endParaRPr>
          </a:p>
          <a:p>
            <a:pPr lvl="1">
              <a:lnSpc>
                <a:spcPct val="100000"/>
              </a:lnSpc>
            </a:pPr>
            <a:r>
              <a:rPr lang="fr-CA" sz="2800" dirty="0">
                <a:latin typeface="Times New Roman" panose="02020603050405020304" pitchFamily="18" charset="0"/>
                <a:cs typeface="Times New Roman" panose="02020603050405020304" pitchFamily="18" charset="0"/>
              </a:rPr>
              <a:t>Guidelines</a:t>
            </a:r>
          </a:p>
          <a:p>
            <a:pPr lvl="1">
              <a:lnSpc>
                <a:spcPct val="100000"/>
              </a:lnSpc>
            </a:pPr>
            <a:r>
              <a:rPr lang="fr-CA" sz="2800" dirty="0" err="1">
                <a:latin typeface="Times New Roman" panose="02020603050405020304" pitchFamily="18" charset="0"/>
                <a:cs typeface="Times New Roman" panose="02020603050405020304" pitchFamily="18" charset="0"/>
              </a:rPr>
              <a:t>Potential</a:t>
            </a:r>
            <a:r>
              <a:rPr lang="fr-CA" sz="2800" dirty="0">
                <a:latin typeface="Times New Roman" panose="02020603050405020304" pitchFamily="18" charset="0"/>
                <a:cs typeface="Times New Roman" panose="02020603050405020304" pitchFamily="18" charset="0"/>
              </a:rPr>
              <a:t> </a:t>
            </a:r>
            <a:r>
              <a:rPr lang="fr-CA" sz="2800" dirty="0" err="1">
                <a:latin typeface="Times New Roman" panose="02020603050405020304" pitchFamily="18" charset="0"/>
                <a:cs typeface="Times New Roman" panose="02020603050405020304" pitchFamily="18" charset="0"/>
              </a:rPr>
              <a:t>consequences</a:t>
            </a:r>
            <a:r>
              <a:rPr lang="fr-CA" sz="2800" dirty="0">
                <a:latin typeface="Times New Roman" panose="02020603050405020304" pitchFamily="18" charset="0"/>
                <a:cs typeface="Times New Roman" panose="02020603050405020304" pitchFamily="18" charset="0"/>
              </a:rPr>
              <a:t> of non-compliance</a:t>
            </a:r>
          </a:p>
          <a:p>
            <a:pPr lvl="1">
              <a:lnSpc>
                <a:spcPct val="100000"/>
              </a:lnSpc>
            </a:pPr>
            <a:r>
              <a:rPr lang="fr-CA" sz="2800" dirty="0">
                <a:latin typeface="Times New Roman" panose="02020603050405020304" pitchFamily="18" charset="0"/>
                <a:cs typeface="Times New Roman" panose="02020603050405020304" pitchFamily="18" charset="0"/>
              </a:rPr>
              <a:t>Q &amp; A</a:t>
            </a:r>
          </a:p>
          <a:p>
            <a:pPr marL="457200" lvl="1" indent="0">
              <a:buNone/>
            </a:pPr>
            <a:endParaRPr lang="fr-CA" sz="2000" dirty="0">
              <a:latin typeface="Times New Roman" panose="02020603050405020304" pitchFamily="18" charset="0"/>
              <a:cs typeface="Times New Roman" panose="02020603050405020304" pitchFamily="18" charset="0"/>
            </a:endParaRPr>
          </a:p>
          <a:p>
            <a:pPr marL="457200" lvl="1" indent="0">
              <a:buNone/>
            </a:pPr>
            <a:endParaRPr lang="fr-CA" sz="2000" dirty="0">
              <a:latin typeface="Times New Roman" panose="02020603050405020304" pitchFamily="18" charset="0"/>
              <a:cs typeface="Times New Roman" panose="02020603050405020304" pitchFamily="18" charset="0"/>
            </a:endParaRPr>
          </a:p>
          <a:p>
            <a:endParaRPr lang="fr-CA" sz="2400" dirty="0"/>
          </a:p>
        </p:txBody>
      </p:sp>
    </p:spTree>
    <p:extLst>
      <p:ext uri="{BB962C8B-B14F-4D97-AF65-F5344CB8AC3E}">
        <p14:creationId xmlns:p14="http://schemas.microsoft.com/office/powerpoint/2010/main" val="1876910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5596D41-0EC5-6689-1654-F728E5623A52}"/>
              </a:ext>
            </a:extLst>
          </p:cNvPr>
          <p:cNvSpPr>
            <a:spLocks noGrp="1"/>
          </p:cNvSpPr>
          <p:nvPr>
            <p:ph type="title"/>
          </p:nvPr>
        </p:nvSpPr>
        <p:spPr>
          <a:xfrm>
            <a:off x="793662" y="386930"/>
            <a:ext cx="10066122" cy="1298448"/>
          </a:xfrm>
        </p:spPr>
        <p:txBody>
          <a:bodyPr anchor="b">
            <a:normAutofit/>
          </a:bodyPr>
          <a:lstStyle/>
          <a:p>
            <a:r>
              <a:rPr lang="fr-CA" sz="4800" dirty="0" err="1">
                <a:latin typeface="Times New Roman" panose="02020603050405020304" pitchFamily="18" charset="0"/>
                <a:cs typeface="Times New Roman" panose="02020603050405020304" pitchFamily="18" charset="0"/>
              </a:rPr>
              <a:t>What</a:t>
            </a:r>
            <a:r>
              <a:rPr lang="fr-CA" sz="4800" dirty="0">
                <a:latin typeface="Times New Roman" panose="02020603050405020304" pitchFamily="18" charset="0"/>
                <a:cs typeface="Times New Roman" panose="02020603050405020304" pitchFamily="18" charset="0"/>
              </a:rPr>
              <a:t> the </a:t>
            </a:r>
            <a:r>
              <a:rPr lang="fr-CA" sz="4800" dirty="0" err="1">
                <a:latin typeface="Times New Roman" panose="02020603050405020304" pitchFamily="18" charset="0"/>
                <a:cs typeface="Times New Roman" panose="02020603050405020304" pitchFamily="18" charset="0"/>
              </a:rPr>
              <a:t>law</a:t>
            </a:r>
            <a:r>
              <a:rPr lang="fr-CA" sz="4800" dirty="0">
                <a:latin typeface="Times New Roman" panose="02020603050405020304" pitchFamily="18" charset="0"/>
                <a:cs typeface="Times New Roman" panose="02020603050405020304" pitchFamily="18" charset="0"/>
              </a:rPr>
              <a:t> </a:t>
            </a:r>
            <a:r>
              <a:rPr lang="fr-CA" sz="4800" dirty="0" err="1">
                <a:latin typeface="Times New Roman" panose="02020603050405020304" pitchFamily="18" charset="0"/>
                <a:cs typeface="Times New Roman" panose="02020603050405020304" pitchFamily="18" charset="0"/>
              </a:rPr>
              <a:t>stipulates</a:t>
            </a:r>
            <a:br>
              <a:rPr lang="fr-CA" sz="4800" dirty="0">
                <a:latin typeface="Times New Roman" panose="02020603050405020304" pitchFamily="18" charset="0"/>
                <a:cs typeface="Times New Roman" panose="02020603050405020304" pitchFamily="18" charset="0"/>
              </a:rPr>
            </a:br>
            <a:r>
              <a:rPr lang="en-US" sz="2000" i="1" dirty="0">
                <a:latin typeface="Times New Roman" panose="02020603050405020304" pitchFamily="18" charset="0"/>
                <a:cs typeface="Times New Roman" panose="02020603050405020304" pitchFamily="18" charset="0"/>
              </a:rPr>
              <a:t>Article 45 of the French Language Charter</a:t>
            </a:r>
            <a:endParaRPr lang="fr-CA" sz="2000" i="1" dirty="0">
              <a:latin typeface="Times New Roman" panose="02020603050405020304" pitchFamily="18" charset="0"/>
              <a:cs typeface="Times New Roman" panose="02020603050405020304" pitchFamily="18" charset="0"/>
            </a:endParaRPr>
          </a:p>
        </p:txBody>
      </p:sp>
      <p:sp>
        <p:nvSpPr>
          <p:cNvPr id="3081" name="Rectangle 308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6A93A525-F243-EBE6-B8FA-85C12286E30A}"/>
              </a:ext>
            </a:extLst>
          </p:cNvPr>
          <p:cNvSpPr>
            <a:spLocks noGrp="1"/>
          </p:cNvSpPr>
          <p:nvPr>
            <p:ph idx="1"/>
          </p:nvPr>
        </p:nvSpPr>
        <p:spPr>
          <a:xfrm>
            <a:off x="793661" y="2300748"/>
            <a:ext cx="4530898" cy="3938211"/>
          </a:xfrm>
        </p:spPr>
        <p:txBody>
          <a:bodyPr anchor="ctr">
            <a:normAutofit/>
          </a:bodyPr>
          <a:lstStyle/>
          <a:p>
            <a:pPr marL="0" indent="0">
              <a:buNone/>
            </a:pPr>
            <a:endParaRPr lang="fr-CA" sz="2000" dirty="0">
              <a:latin typeface="Times New Roman" panose="02020603050405020304" pitchFamily="18" charset="0"/>
              <a:cs typeface="Times New Roman" panose="02020603050405020304" pitchFamily="18" charset="0"/>
            </a:endParaRPr>
          </a:p>
        </p:txBody>
      </p:sp>
      <p:pic>
        <p:nvPicPr>
          <p:cNvPr id="3074" name="Image 1" descr="Ville de Candiac - Loi 96 – Utilisation du français">
            <a:extLst>
              <a:ext uri="{FF2B5EF4-FFF2-40B4-BE49-F238E27FC236}">
                <a16:creationId xmlns:a16="http://schemas.microsoft.com/office/drawing/2014/main" id="{D70768F9-0BF9-BAC6-D5BB-8F2D4A79EF8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470284" y="2583246"/>
            <a:ext cx="3417356" cy="22810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5" name="Rectangle 308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 7">
            <a:extLst>
              <a:ext uri="{FF2B5EF4-FFF2-40B4-BE49-F238E27FC236}">
                <a16:creationId xmlns:a16="http://schemas.microsoft.com/office/drawing/2014/main" id="{3BCBED82-671D-612E-EB1B-050FA35A197F}"/>
              </a:ext>
            </a:extLst>
          </p:cNvPr>
          <p:cNvPicPr>
            <a:picLocks noChangeAspect="1"/>
          </p:cNvPicPr>
          <p:nvPr/>
        </p:nvPicPr>
        <p:blipFill>
          <a:blip r:embed="rId3"/>
          <a:stretch>
            <a:fillRect/>
          </a:stretch>
        </p:blipFill>
        <p:spPr>
          <a:xfrm>
            <a:off x="737407" y="2287263"/>
            <a:ext cx="4762500" cy="3682438"/>
          </a:xfrm>
          <a:prstGeom prst="rect">
            <a:avLst/>
          </a:prstGeom>
        </p:spPr>
      </p:pic>
      <p:sp>
        <p:nvSpPr>
          <p:cNvPr id="10" name="ZoneTexte 9">
            <a:extLst>
              <a:ext uri="{FF2B5EF4-FFF2-40B4-BE49-F238E27FC236}">
                <a16:creationId xmlns:a16="http://schemas.microsoft.com/office/drawing/2014/main" id="{E1E02502-2DB1-E537-553E-D7760EECD866}"/>
              </a:ext>
            </a:extLst>
          </p:cNvPr>
          <p:cNvSpPr txBox="1"/>
          <p:nvPr/>
        </p:nvSpPr>
        <p:spPr>
          <a:xfrm>
            <a:off x="737407" y="6019245"/>
            <a:ext cx="6167120" cy="415498"/>
          </a:xfrm>
          <a:prstGeom prst="rect">
            <a:avLst/>
          </a:prstGeom>
          <a:noFill/>
        </p:spPr>
        <p:txBody>
          <a:bodyPr wrap="square">
            <a:spAutoFit/>
          </a:bodyPr>
          <a:lstStyle/>
          <a:p>
            <a:r>
              <a:rPr lang="fr-CA" sz="1050" dirty="0" err="1"/>
              <a:t>Extract</a:t>
            </a:r>
            <a:r>
              <a:rPr lang="fr-CA" sz="1050" dirty="0"/>
              <a:t> </a:t>
            </a:r>
            <a:r>
              <a:rPr lang="fr-CA" sz="1050" dirty="0" err="1"/>
              <a:t>from</a:t>
            </a:r>
            <a:r>
              <a:rPr lang="fr-CA" sz="1050" dirty="0"/>
              <a:t> Projet de loi no 96 </a:t>
            </a:r>
          </a:p>
          <a:p>
            <a:r>
              <a:rPr lang="fr-CA" sz="1050" dirty="0"/>
              <a:t>«LOI SUR LA LANGUE OFFICIELLE ET COMMUNE DU QUÉBEC, LE FRANÇAIS»</a:t>
            </a:r>
          </a:p>
        </p:txBody>
      </p:sp>
      <p:cxnSp>
        <p:nvCxnSpPr>
          <p:cNvPr id="6" name="Connecteur droit avec flèche 5">
            <a:extLst>
              <a:ext uri="{FF2B5EF4-FFF2-40B4-BE49-F238E27FC236}">
                <a16:creationId xmlns:a16="http://schemas.microsoft.com/office/drawing/2014/main" id="{7E6487C5-5140-451A-860B-3557748AC779}"/>
              </a:ext>
            </a:extLst>
          </p:cNvPr>
          <p:cNvCxnSpPr>
            <a:cxnSpLocks/>
          </p:cNvCxnSpPr>
          <p:nvPr/>
        </p:nvCxnSpPr>
        <p:spPr>
          <a:xfrm>
            <a:off x="1767359" y="3320766"/>
            <a:ext cx="5702925" cy="2250043"/>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9" name="Ellipse 8">
            <a:extLst>
              <a:ext uri="{FF2B5EF4-FFF2-40B4-BE49-F238E27FC236}">
                <a16:creationId xmlns:a16="http://schemas.microsoft.com/office/drawing/2014/main" id="{E1E0BEF1-9378-299E-48E4-3BB0FECD0EEC}"/>
              </a:ext>
            </a:extLst>
          </p:cNvPr>
          <p:cNvSpPr/>
          <p:nvPr/>
        </p:nvSpPr>
        <p:spPr>
          <a:xfrm>
            <a:off x="1240325" y="3349587"/>
            <a:ext cx="470780" cy="195609"/>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Ellipse 10">
            <a:extLst>
              <a:ext uri="{FF2B5EF4-FFF2-40B4-BE49-F238E27FC236}">
                <a16:creationId xmlns:a16="http://schemas.microsoft.com/office/drawing/2014/main" id="{885694C4-31F8-FD2E-66E4-15289EAD9BB4}"/>
              </a:ext>
            </a:extLst>
          </p:cNvPr>
          <p:cNvSpPr/>
          <p:nvPr/>
        </p:nvSpPr>
        <p:spPr>
          <a:xfrm>
            <a:off x="1394234" y="3181124"/>
            <a:ext cx="373125" cy="195785"/>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cxnSp>
        <p:nvCxnSpPr>
          <p:cNvPr id="13" name="Connecteur droit avec flèche 12">
            <a:extLst>
              <a:ext uri="{FF2B5EF4-FFF2-40B4-BE49-F238E27FC236}">
                <a16:creationId xmlns:a16="http://schemas.microsoft.com/office/drawing/2014/main" id="{0E3FE776-7085-448F-8779-6BBE553365E8}"/>
              </a:ext>
            </a:extLst>
          </p:cNvPr>
          <p:cNvCxnSpPr>
            <a:cxnSpLocks/>
            <a:stCxn id="9" idx="5"/>
          </p:cNvCxnSpPr>
          <p:nvPr/>
        </p:nvCxnSpPr>
        <p:spPr>
          <a:xfrm>
            <a:off x="1642161" y="3516550"/>
            <a:ext cx="5828123" cy="2411183"/>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4" name="ZoneTexte 13">
            <a:extLst>
              <a:ext uri="{FF2B5EF4-FFF2-40B4-BE49-F238E27FC236}">
                <a16:creationId xmlns:a16="http://schemas.microsoft.com/office/drawing/2014/main" id="{7CC1DD8F-E574-882D-84FB-D7CE5FE0A817}"/>
              </a:ext>
            </a:extLst>
          </p:cNvPr>
          <p:cNvSpPr txBox="1"/>
          <p:nvPr/>
        </p:nvSpPr>
        <p:spPr>
          <a:xfrm>
            <a:off x="7470283" y="5395997"/>
            <a:ext cx="3728853" cy="830997"/>
          </a:xfrm>
          <a:prstGeom prst="rect">
            <a:avLst/>
          </a:prstGeom>
          <a:noFill/>
        </p:spPr>
        <p:txBody>
          <a:bodyPr wrap="square" rtlCol="0">
            <a:spAutoFit/>
          </a:bodyPr>
          <a:lstStyle/>
          <a:p>
            <a:r>
              <a:rPr lang="en-US" sz="1200" dirty="0">
                <a:solidFill>
                  <a:srgbClr val="C00000"/>
                </a:solidFill>
                <a:latin typeface="Times New Roman" panose="02020603050405020304" pitchFamily="18" charset="0"/>
                <a:cs typeface="Times New Roman" panose="02020603050405020304" pitchFamily="18" charset="0"/>
              </a:rPr>
              <a:t>The FR contract must be sent</a:t>
            </a:r>
            <a:r>
              <a:rPr lang="en-US" sz="1200" b="1" u="sng" dirty="0">
                <a:solidFill>
                  <a:srgbClr val="C00000"/>
                </a:solidFill>
                <a:latin typeface="Times New Roman" panose="02020603050405020304" pitchFamily="18" charset="0"/>
                <a:cs typeface="Times New Roman" panose="02020603050405020304" pitchFamily="18" charset="0"/>
              </a:rPr>
              <a:t> before </a:t>
            </a:r>
            <a:r>
              <a:rPr lang="en-US" sz="1200" dirty="0">
                <a:solidFill>
                  <a:srgbClr val="C00000"/>
                </a:solidFill>
                <a:latin typeface="Times New Roman" panose="02020603050405020304" pitchFamily="18" charset="0"/>
                <a:cs typeface="Times New Roman" panose="02020603050405020304" pitchFamily="18" charset="0"/>
              </a:rPr>
              <a:t>the EN one</a:t>
            </a:r>
          </a:p>
          <a:p>
            <a:endParaRPr lang="en-US" sz="1200" dirty="0">
              <a:solidFill>
                <a:srgbClr val="C00000"/>
              </a:solidFill>
              <a:latin typeface="Times New Roman" panose="02020603050405020304" pitchFamily="18" charset="0"/>
              <a:cs typeface="Times New Roman" panose="02020603050405020304" pitchFamily="18" charset="0"/>
            </a:endParaRPr>
          </a:p>
          <a:p>
            <a:r>
              <a:rPr lang="en-US" sz="1200" dirty="0">
                <a:solidFill>
                  <a:srgbClr val="C00000"/>
                </a:solidFill>
                <a:latin typeface="Times New Roman" panose="02020603050405020304" pitchFamily="18" charset="0"/>
                <a:cs typeface="Times New Roman" panose="02020603050405020304" pitchFamily="18" charset="0"/>
              </a:rPr>
              <a:t>The client must </a:t>
            </a:r>
            <a:r>
              <a:rPr lang="en-US" sz="1200" b="1" u="sng" dirty="0">
                <a:solidFill>
                  <a:srgbClr val="C00000"/>
                </a:solidFill>
                <a:latin typeface="Times New Roman" panose="02020603050405020304" pitchFamily="18" charset="0"/>
                <a:cs typeface="Times New Roman" panose="02020603050405020304" pitchFamily="18" charset="0"/>
              </a:rPr>
              <a:t>then explicitly state </a:t>
            </a:r>
            <a:r>
              <a:rPr lang="en-US" sz="1200" dirty="0">
                <a:solidFill>
                  <a:srgbClr val="C00000"/>
                </a:solidFill>
                <a:latin typeface="Times New Roman" panose="02020603050405020304" pitchFamily="18" charset="0"/>
                <a:cs typeface="Times New Roman" panose="02020603050405020304" pitchFamily="18" charset="0"/>
              </a:rPr>
              <a:t>their preference for the EN version</a:t>
            </a:r>
            <a:endParaRPr lang="fr-CA" sz="12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7089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7377D7-3610-D12C-63B3-4DC405320081}"/>
            </a:ext>
          </a:extLst>
        </p:cNvPr>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5C065C8A-137C-5E7F-EC93-0C418420C2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5AA913C-0B3B-D1AC-5D60-8F3B3CE0C35F}"/>
              </a:ext>
            </a:extLst>
          </p:cNvPr>
          <p:cNvSpPr>
            <a:spLocks noGrp="1"/>
          </p:cNvSpPr>
          <p:nvPr>
            <p:ph type="title"/>
          </p:nvPr>
        </p:nvSpPr>
        <p:spPr>
          <a:xfrm>
            <a:off x="793662" y="386930"/>
            <a:ext cx="10066122" cy="1298448"/>
          </a:xfrm>
        </p:spPr>
        <p:txBody>
          <a:bodyPr anchor="b">
            <a:normAutofit/>
          </a:bodyPr>
          <a:lstStyle/>
          <a:p>
            <a:r>
              <a:rPr lang="fr-CA" sz="4800" dirty="0" err="1">
                <a:latin typeface="Times New Roman" panose="02020603050405020304" pitchFamily="18" charset="0"/>
                <a:cs typeface="Times New Roman" panose="02020603050405020304" pitchFamily="18" charset="0"/>
              </a:rPr>
              <a:t>What</a:t>
            </a:r>
            <a:r>
              <a:rPr lang="fr-CA" sz="4800" dirty="0">
                <a:latin typeface="Times New Roman" panose="02020603050405020304" pitchFamily="18" charset="0"/>
                <a:cs typeface="Times New Roman" panose="02020603050405020304" pitchFamily="18" charset="0"/>
              </a:rPr>
              <a:t> the </a:t>
            </a:r>
            <a:r>
              <a:rPr lang="fr-CA" sz="4800" dirty="0" err="1">
                <a:latin typeface="Times New Roman" panose="02020603050405020304" pitchFamily="18" charset="0"/>
                <a:cs typeface="Times New Roman" panose="02020603050405020304" pitchFamily="18" charset="0"/>
              </a:rPr>
              <a:t>law</a:t>
            </a:r>
            <a:r>
              <a:rPr lang="fr-CA" sz="4800" dirty="0">
                <a:latin typeface="Times New Roman" panose="02020603050405020304" pitchFamily="18" charset="0"/>
                <a:cs typeface="Times New Roman" panose="02020603050405020304" pitchFamily="18" charset="0"/>
              </a:rPr>
              <a:t> </a:t>
            </a:r>
            <a:r>
              <a:rPr lang="fr-CA" sz="4800" dirty="0" err="1">
                <a:latin typeface="Times New Roman" panose="02020603050405020304" pitchFamily="18" charset="0"/>
                <a:cs typeface="Times New Roman" panose="02020603050405020304" pitchFamily="18" charset="0"/>
              </a:rPr>
              <a:t>stipulates</a:t>
            </a:r>
            <a:br>
              <a:rPr lang="fr-CA" sz="4800" dirty="0">
                <a:latin typeface="Times New Roman" panose="02020603050405020304" pitchFamily="18" charset="0"/>
                <a:cs typeface="Times New Roman" panose="02020603050405020304" pitchFamily="18" charset="0"/>
              </a:rPr>
            </a:br>
            <a:r>
              <a:rPr lang="en-US" sz="2000" i="1" dirty="0">
                <a:latin typeface="Times New Roman" panose="02020603050405020304" pitchFamily="18" charset="0"/>
                <a:cs typeface="Times New Roman" panose="02020603050405020304" pitchFamily="18" charset="0"/>
              </a:rPr>
              <a:t>Articles 2984 and 3006 of the Civil Code of Quebec</a:t>
            </a:r>
            <a:endParaRPr lang="fr-CA" sz="2000" i="1" dirty="0">
              <a:latin typeface="Times New Roman" panose="02020603050405020304" pitchFamily="18" charset="0"/>
              <a:cs typeface="Times New Roman" panose="02020603050405020304" pitchFamily="18" charset="0"/>
            </a:endParaRPr>
          </a:p>
        </p:txBody>
      </p:sp>
      <p:sp>
        <p:nvSpPr>
          <p:cNvPr id="3081" name="Rectangle 3080">
            <a:extLst>
              <a:ext uri="{FF2B5EF4-FFF2-40B4-BE49-F238E27FC236}">
                <a16:creationId xmlns:a16="http://schemas.microsoft.com/office/drawing/2014/main" id="{19D52157-A7E0-6A9A-69F2-2CE290319F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2AD08168-1B0E-402D-5284-B7F14243A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F1947F4D-0B8E-C8C4-AE77-F8446659FFE7}"/>
              </a:ext>
            </a:extLst>
          </p:cNvPr>
          <p:cNvSpPr>
            <a:spLocks noGrp="1"/>
          </p:cNvSpPr>
          <p:nvPr>
            <p:ph idx="1"/>
          </p:nvPr>
        </p:nvSpPr>
        <p:spPr>
          <a:xfrm>
            <a:off x="737407" y="1994257"/>
            <a:ext cx="5358593" cy="3254181"/>
          </a:xfrm>
        </p:spPr>
        <p:txBody>
          <a:bodyPr anchor="ctr">
            <a:normAutofit/>
          </a:bodyPr>
          <a:lstStyle/>
          <a:p>
            <a:pPr marL="0" indent="0">
              <a:buNone/>
            </a:pPr>
            <a:r>
              <a:rPr lang="en-US" sz="1300" b="1" i="1" dirty="0"/>
              <a:t>2984. </a:t>
            </a:r>
            <a:r>
              <a:rPr lang="en-US" sz="1300" i="1" dirty="0"/>
              <a:t>The registration requisitions must be signed, certified, and submitted in accordance with the provisions of the law, this title, or the regulations. </a:t>
            </a:r>
          </a:p>
          <a:p>
            <a:pPr marL="0" indent="0">
              <a:buNone/>
            </a:pPr>
            <a:r>
              <a:rPr lang="en-US" sz="1300" i="1" dirty="0"/>
              <a:t>The registration requisitions must be drafted exclusively in French.</a:t>
            </a:r>
          </a:p>
          <a:p>
            <a:pPr marL="0" indent="0">
              <a:buNone/>
            </a:pPr>
            <a:br>
              <a:rPr lang="en-US" sz="1300" i="1" dirty="0"/>
            </a:br>
            <a:r>
              <a:rPr lang="en-US" sz="1300" b="1" i="1" dirty="0"/>
              <a:t>3006</a:t>
            </a:r>
            <a:r>
              <a:rPr lang="en-US" sz="1300" i="1" dirty="0"/>
              <a:t>. When the law requires that the requisition be submitted with documents, these documents, if written in a language other than French, must also be accompanied by a certified translation in Quebec.</a:t>
            </a:r>
            <a:endParaRPr lang="fr-CA" sz="1300" i="1" dirty="0">
              <a:latin typeface="Times New Roman" panose="02020603050405020304" pitchFamily="18" charset="0"/>
              <a:cs typeface="Times New Roman" panose="02020603050405020304" pitchFamily="18" charset="0"/>
            </a:endParaRPr>
          </a:p>
        </p:txBody>
      </p:sp>
      <p:pic>
        <p:nvPicPr>
          <p:cNvPr id="3074" name="Image 1" descr="Ville de Candiac - Loi 96 – Utilisation du français">
            <a:extLst>
              <a:ext uri="{FF2B5EF4-FFF2-40B4-BE49-F238E27FC236}">
                <a16:creationId xmlns:a16="http://schemas.microsoft.com/office/drawing/2014/main" id="{CFE541E3-8281-B939-99F7-052AF99ACFD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470284" y="2583246"/>
            <a:ext cx="3417356" cy="228108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5" name="Rectangle 3084">
            <a:extLst>
              <a:ext uri="{FF2B5EF4-FFF2-40B4-BE49-F238E27FC236}">
                <a16:creationId xmlns:a16="http://schemas.microsoft.com/office/drawing/2014/main" id="{29EE868D-E0C7-6694-358D-259FBC810F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ZoneTexte 9">
            <a:extLst>
              <a:ext uri="{FF2B5EF4-FFF2-40B4-BE49-F238E27FC236}">
                <a16:creationId xmlns:a16="http://schemas.microsoft.com/office/drawing/2014/main" id="{CA9EB301-034B-CF9A-7270-93DDE048851B}"/>
              </a:ext>
            </a:extLst>
          </p:cNvPr>
          <p:cNvSpPr txBox="1"/>
          <p:nvPr/>
        </p:nvSpPr>
        <p:spPr>
          <a:xfrm>
            <a:off x="737407" y="6019245"/>
            <a:ext cx="6167120" cy="415498"/>
          </a:xfrm>
          <a:prstGeom prst="rect">
            <a:avLst/>
          </a:prstGeom>
          <a:noFill/>
        </p:spPr>
        <p:txBody>
          <a:bodyPr wrap="square">
            <a:spAutoFit/>
          </a:bodyPr>
          <a:lstStyle/>
          <a:p>
            <a:r>
              <a:rPr lang="fr-CA" sz="1050" dirty="0" err="1"/>
              <a:t>Extract</a:t>
            </a:r>
            <a:r>
              <a:rPr lang="fr-CA" sz="1050" dirty="0"/>
              <a:t> </a:t>
            </a:r>
            <a:r>
              <a:rPr lang="fr-CA" sz="1050" dirty="0" err="1"/>
              <a:t>from</a:t>
            </a:r>
            <a:r>
              <a:rPr lang="fr-CA" sz="1050" dirty="0"/>
              <a:t> Projet de loi no 96 </a:t>
            </a:r>
          </a:p>
          <a:p>
            <a:r>
              <a:rPr lang="fr-CA" sz="1050" dirty="0"/>
              <a:t>«LOI SUR LA LANGUE OFFICIELLE ET COMMUNE DU QUÉBEC, LE FRANÇAIS»</a:t>
            </a:r>
          </a:p>
        </p:txBody>
      </p:sp>
      <p:sp>
        <p:nvSpPr>
          <p:cNvPr id="4" name="Ellipse 3">
            <a:extLst>
              <a:ext uri="{FF2B5EF4-FFF2-40B4-BE49-F238E27FC236}">
                <a16:creationId xmlns:a16="http://schemas.microsoft.com/office/drawing/2014/main" id="{7FBFA83B-22BC-3476-344E-FE3A82904959}"/>
              </a:ext>
            </a:extLst>
          </p:cNvPr>
          <p:cNvSpPr/>
          <p:nvPr/>
        </p:nvSpPr>
        <p:spPr>
          <a:xfrm>
            <a:off x="3892989" y="3379270"/>
            <a:ext cx="1629625" cy="344161"/>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5" name="Ellipse 4">
            <a:extLst>
              <a:ext uri="{FF2B5EF4-FFF2-40B4-BE49-F238E27FC236}">
                <a16:creationId xmlns:a16="http://schemas.microsoft.com/office/drawing/2014/main" id="{67DA89EA-D5C7-C52A-60A7-9A3E0A30DC9E}"/>
              </a:ext>
            </a:extLst>
          </p:cNvPr>
          <p:cNvSpPr/>
          <p:nvPr/>
        </p:nvSpPr>
        <p:spPr>
          <a:xfrm>
            <a:off x="2880199" y="4032310"/>
            <a:ext cx="3223033" cy="530636"/>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7" name="ZoneTexte 6">
            <a:extLst>
              <a:ext uri="{FF2B5EF4-FFF2-40B4-BE49-F238E27FC236}">
                <a16:creationId xmlns:a16="http://schemas.microsoft.com/office/drawing/2014/main" id="{7C23189A-CB67-FA99-09EB-B3F78EB52949}"/>
              </a:ext>
            </a:extLst>
          </p:cNvPr>
          <p:cNvSpPr txBox="1"/>
          <p:nvPr/>
        </p:nvSpPr>
        <p:spPr>
          <a:xfrm>
            <a:off x="7304894" y="4975203"/>
            <a:ext cx="3939510" cy="1384995"/>
          </a:xfrm>
          <a:prstGeom prst="rect">
            <a:avLst/>
          </a:prstGeom>
          <a:noFill/>
        </p:spPr>
        <p:txBody>
          <a:bodyPr wrap="square" rtlCol="0">
            <a:spAutoFit/>
          </a:bodyPr>
          <a:lstStyle/>
          <a:p>
            <a:r>
              <a:rPr lang="en-US" sz="1200" dirty="0">
                <a:solidFill>
                  <a:srgbClr val="C00000"/>
                </a:solidFill>
              </a:rPr>
              <a:t>Publications in </a:t>
            </a:r>
            <a:r>
              <a:rPr lang="en-US" sz="1200" b="1" u="sng" dirty="0">
                <a:solidFill>
                  <a:srgbClr val="C00000"/>
                </a:solidFill>
              </a:rPr>
              <a:t>the RDPRM </a:t>
            </a:r>
            <a:r>
              <a:rPr lang="en-US" sz="1200" dirty="0">
                <a:solidFill>
                  <a:srgbClr val="C00000"/>
                </a:solidFill>
              </a:rPr>
              <a:t>(PPSA in Quebec) must be made entirely in French, even if the contract is in English.</a:t>
            </a:r>
          </a:p>
          <a:p>
            <a:endParaRPr lang="en-US" sz="1200" dirty="0">
              <a:solidFill>
                <a:srgbClr val="C00000"/>
              </a:solidFill>
            </a:endParaRPr>
          </a:p>
          <a:p>
            <a:r>
              <a:rPr lang="en-US" sz="1200" dirty="0">
                <a:solidFill>
                  <a:srgbClr val="C00000"/>
                </a:solidFill>
              </a:rPr>
              <a:t>The description of the goods in the RDPRM must match with what’s on the contract, which is why there is a requirement </a:t>
            </a:r>
            <a:r>
              <a:rPr lang="en-US" sz="1200" b="1" u="sng" dirty="0">
                <a:solidFill>
                  <a:srgbClr val="C00000"/>
                </a:solidFill>
              </a:rPr>
              <a:t>to describe the goods in French on a contract written in English.</a:t>
            </a:r>
          </a:p>
        </p:txBody>
      </p:sp>
      <p:cxnSp>
        <p:nvCxnSpPr>
          <p:cNvPr id="15" name="Connecteur droit avec flèche 14">
            <a:extLst>
              <a:ext uri="{FF2B5EF4-FFF2-40B4-BE49-F238E27FC236}">
                <a16:creationId xmlns:a16="http://schemas.microsoft.com/office/drawing/2014/main" id="{7B030550-DEB4-8371-6B28-309658997A49}"/>
              </a:ext>
            </a:extLst>
          </p:cNvPr>
          <p:cNvCxnSpPr>
            <a:stCxn id="4" idx="6"/>
          </p:cNvCxnSpPr>
          <p:nvPr/>
        </p:nvCxnSpPr>
        <p:spPr>
          <a:xfrm>
            <a:off x="5522614" y="3551351"/>
            <a:ext cx="1782280" cy="1554803"/>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C3926559-AFA0-2296-081A-F7F76CA5DB65}"/>
              </a:ext>
            </a:extLst>
          </p:cNvPr>
          <p:cNvCxnSpPr>
            <a:stCxn id="5" idx="5"/>
          </p:cNvCxnSpPr>
          <p:nvPr/>
        </p:nvCxnSpPr>
        <p:spPr>
          <a:xfrm>
            <a:off x="5631230" y="4485236"/>
            <a:ext cx="1521009" cy="1347200"/>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33564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9966F94-8FE9-14A5-2033-D9655D661941}"/>
              </a:ext>
            </a:extLst>
          </p:cNvPr>
          <p:cNvSpPr>
            <a:spLocks noGrp="1"/>
          </p:cNvSpPr>
          <p:nvPr>
            <p:ph type="title"/>
          </p:nvPr>
        </p:nvSpPr>
        <p:spPr>
          <a:xfrm>
            <a:off x="1285240" y="1050595"/>
            <a:ext cx="8074815" cy="1618489"/>
          </a:xfrm>
        </p:spPr>
        <p:txBody>
          <a:bodyPr anchor="ctr">
            <a:normAutofit/>
          </a:bodyPr>
          <a:lstStyle/>
          <a:p>
            <a:r>
              <a:rPr lang="fr-CA" sz="4800" dirty="0" err="1">
                <a:latin typeface="Times New Roman" panose="02020603050405020304" pitchFamily="18" charset="0"/>
                <a:cs typeface="Times New Roman" panose="02020603050405020304" pitchFamily="18" charset="0"/>
              </a:rPr>
              <a:t>Policies</a:t>
            </a:r>
            <a:r>
              <a:rPr lang="fr-CA" sz="4800" dirty="0">
                <a:latin typeface="Times New Roman" panose="02020603050405020304" pitchFamily="18" charset="0"/>
                <a:cs typeface="Times New Roman" panose="02020603050405020304" pitchFamily="18" charset="0"/>
              </a:rPr>
              <a:t> and Guideline</a:t>
            </a:r>
          </a:p>
        </p:txBody>
      </p:sp>
      <p:sp>
        <p:nvSpPr>
          <p:cNvPr id="3" name="Espace réservé du contenu 2">
            <a:extLst>
              <a:ext uri="{FF2B5EF4-FFF2-40B4-BE49-F238E27FC236}">
                <a16:creationId xmlns:a16="http://schemas.microsoft.com/office/drawing/2014/main" id="{589355EF-9384-1D48-22D9-74E1A3155D9A}"/>
              </a:ext>
            </a:extLst>
          </p:cNvPr>
          <p:cNvSpPr>
            <a:spLocks noGrp="1"/>
          </p:cNvSpPr>
          <p:nvPr>
            <p:ph idx="1"/>
          </p:nvPr>
        </p:nvSpPr>
        <p:spPr>
          <a:xfrm>
            <a:off x="823865" y="2969469"/>
            <a:ext cx="10203257" cy="2800395"/>
          </a:xfrm>
        </p:spPr>
        <p:txBody>
          <a:bodyPr anchor="t">
            <a:normAutofit/>
          </a:bodyPr>
          <a:lstStyle/>
          <a:p>
            <a:pPr marL="457200" lvl="1" indent="0">
              <a:buNone/>
            </a:pPr>
            <a:r>
              <a:rPr lang="en-US" sz="2000" dirty="0">
                <a:latin typeface="Times New Roman" panose="02020603050405020304" pitchFamily="18" charset="0"/>
                <a:cs typeface="Times New Roman" panose="02020603050405020304" pitchFamily="18" charset="0"/>
              </a:rPr>
              <a:t>All information related to the law is available on Audit Board under Cross Comply and can be found in:</a:t>
            </a:r>
          </a:p>
          <a:p>
            <a:pPr marL="457200" lvl="1" indent="0">
              <a:buNone/>
            </a:pPr>
            <a:endParaRPr lang="fr-CA" sz="2000" dirty="0">
              <a:latin typeface="Times New Roman" panose="02020603050405020304" pitchFamily="18" charset="0"/>
              <a:cs typeface="Times New Roman" panose="02020603050405020304" pitchFamily="18" charset="0"/>
            </a:endParaRPr>
          </a:p>
          <a:p>
            <a:pPr marL="742950" lvl="1" indent="-285750"/>
            <a:r>
              <a:rPr lang="fr-CA" sz="2000" dirty="0">
                <a:latin typeface="Times New Roman" panose="02020603050405020304" pitchFamily="18" charset="0"/>
                <a:cs typeface="Times New Roman" panose="02020603050405020304" pitchFamily="18" charset="0"/>
              </a:rPr>
              <a:t>Documentation and Security Policy</a:t>
            </a:r>
          </a:p>
          <a:p>
            <a:pPr marL="742950" lvl="1" indent="-285750">
              <a:buFont typeface="Arial" panose="020B0604020202020204" pitchFamily="34" charset="0"/>
              <a:buChar char="•"/>
            </a:pPr>
            <a:r>
              <a:rPr lang="fr-CA" sz="2000" dirty="0">
                <a:latin typeface="Times New Roman" panose="02020603050405020304" pitchFamily="18" charset="0"/>
                <a:cs typeface="Times New Roman" panose="02020603050405020304" pitchFamily="18" charset="0"/>
              </a:rPr>
              <a:t>Validation Policy</a:t>
            </a:r>
          </a:p>
          <a:p>
            <a:pPr marL="742950" lvl="1" indent="-285750">
              <a:buFont typeface="Arial" panose="020B0604020202020204" pitchFamily="34" charset="0"/>
              <a:buChar char="•"/>
            </a:pPr>
            <a:r>
              <a:rPr lang="fr-CA" sz="2000" dirty="0">
                <a:latin typeface="Times New Roman" panose="02020603050405020304" pitchFamily="18" charset="0"/>
                <a:cs typeface="Times New Roman" panose="02020603050405020304" pitchFamily="18" charset="0"/>
              </a:rPr>
              <a:t>Document </a:t>
            </a:r>
            <a:r>
              <a:rPr lang="fr-CA" sz="2000" dirty="0" err="1">
                <a:latin typeface="Times New Roman" panose="02020603050405020304" pitchFamily="18" charset="0"/>
                <a:cs typeface="Times New Roman" panose="02020603050405020304" pitchFamily="18" charset="0"/>
              </a:rPr>
              <a:t>Quality</a:t>
            </a:r>
            <a:r>
              <a:rPr lang="fr-CA" sz="2000" dirty="0">
                <a:latin typeface="Times New Roman" panose="02020603050405020304" pitchFamily="18" charset="0"/>
                <a:cs typeface="Times New Roman" panose="02020603050405020304" pitchFamily="18" charset="0"/>
              </a:rPr>
              <a:t> Guideline</a:t>
            </a:r>
          </a:p>
          <a:p>
            <a:endParaRPr lang="fr-CA" sz="2400" dirty="0"/>
          </a:p>
        </p:txBody>
      </p:sp>
    </p:spTree>
    <p:extLst>
      <p:ext uri="{BB962C8B-B14F-4D97-AF65-F5344CB8AC3E}">
        <p14:creationId xmlns:p14="http://schemas.microsoft.com/office/powerpoint/2010/main" val="3272172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2850B0-8B60-9852-5D1D-2AA94D92B701}"/>
            </a:ext>
          </a:extLst>
        </p:cNvPr>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9F94B331-E8CD-8BB8-5D65-3A5B7D95C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6DEE96B-C20C-A200-60FD-0AE049ACD636}"/>
              </a:ext>
            </a:extLst>
          </p:cNvPr>
          <p:cNvSpPr>
            <a:spLocks noGrp="1"/>
          </p:cNvSpPr>
          <p:nvPr>
            <p:ph type="title"/>
          </p:nvPr>
        </p:nvSpPr>
        <p:spPr>
          <a:xfrm>
            <a:off x="223294" y="347274"/>
            <a:ext cx="10066122" cy="1298448"/>
          </a:xfrm>
        </p:spPr>
        <p:txBody>
          <a:bodyPr anchor="b">
            <a:normAutofit/>
          </a:bodyPr>
          <a:lstStyle/>
          <a:p>
            <a:r>
              <a:rPr lang="en-US" sz="4000" dirty="0">
                <a:latin typeface="Times New Roman" panose="02020603050405020304" pitchFamily="18" charset="0"/>
                <a:cs typeface="Times New Roman" panose="02020603050405020304" pitchFamily="18" charset="0"/>
              </a:rPr>
              <a:t>How to determine if Bill 96 applies</a:t>
            </a:r>
            <a:endParaRPr lang="fr-CA" sz="4000" i="1" dirty="0">
              <a:latin typeface="Times New Roman" panose="02020603050405020304" pitchFamily="18" charset="0"/>
              <a:cs typeface="Times New Roman" panose="02020603050405020304" pitchFamily="18" charset="0"/>
            </a:endParaRPr>
          </a:p>
        </p:txBody>
      </p:sp>
      <p:sp>
        <p:nvSpPr>
          <p:cNvPr id="3081" name="Rectangle 3080">
            <a:extLst>
              <a:ext uri="{FF2B5EF4-FFF2-40B4-BE49-F238E27FC236}">
                <a16:creationId xmlns:a16="http://schemas.microsoft.com/office/drawing/2014/main" id="{CCA66CC0-3261-341E-8BDA-9236D7264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2D76EAB2-0C79-3B86-CD0B-2C97B11A1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31A9BEF0-4C09-8078-E88F-64C9949A5EE6}"/>
              </a:ext>
            </a:extLst>
          </p:cNvPr>
          <p:cNvSpPr>
            <a:spLocks noGrp="1"/>
          </p:cNvSpPr>
          <p:nvPr>
            <p:ph idx="1"/>
          </p:nvPr>
        </p:nvSpPr>
        <p:spPr>
          <a:xfrm>
            <a:off x="310324" y="1995920"/>
            <a:ext cx="10191696" cy="4440486"/>
          </a:xfrm>
        </p:spPr>
        <p:txBody>
          <a:bodyPr anchor="ctr">
            <a:normAutofit/>
          </a:bodyPr>
          <a:lstStyle/>
          <a:p>
            <a:pPr marL="0" indent="0">
              <a:buNone/>
            </a:pPr>
            <a:r>
              <a:rPr lang="en-US" sz="1800" dirty="0">
                <a:latin typeface="Times New Roman" panose="02020603050405020304" pitchFamily="18" charset="0"/>
                <a:cs typeface="Times New Roman" panose="02020603050405020304" pitchFamily="18" charset="0"/>
              </a:rPr>
              <a:t>Determining factors for whether a contract is concluded in Quebec and, therefore, whether Bill 96 applies:</a:t>
            </a:r>
          </a:p>
          <a:p>
            <a:pPr>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client (company) is based in Quebec </a:t>
            </a:r>
          </a:p>
          <a:p>
            <a:pPr lvl="1"/>
            <a:r>
              <a:rPr lang="en-US" sz="1400" dirty="0">
                <a:latin typeface="Times New Roman" panose="02020603050405020304" pitchFamily="18" charset="0"/>
                <a:cs typeface="Times New Roman" panose="02020603050405020304" pitchFamily="18" charset="0"/>
              </a:rPr>
              <a:t>Head office in Quebec / Corp Profile in Quebec (REQ) </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signatory resides in Quebec </a:t>
            </a:r>
          </a:p>
          <a:p>
            <a:pPr lvl="1"/>
            <a:r>
              <a:rPr lang="en-US" sz="1400" dirty="0">
                <a:latin typeface="Times New Roman" panose="02020603050405020304" pitchFamily="18" charset="0"/>
                <a:cs typeface="Times New Roman" panose="02020603050405020304" pitchFamily="18" charset="0"/>
              </a:rPr>
              <a:t>Quebec ID / QC Address </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equipment will be used and/or plated in Quebec</a:t>
            </a:r>
          </a:p>
          <a:p>
            <a:pPr lvl="1"/>
            <a:r>
              <a:rPr lang="en-US" sz="1400" dirty="0">
                <a:latin typeface="Times New Roman" panose="02020603050405020304" pitchFamily="18" charset="0"/>
                <a:cs typeface="Times New Roman" panose="02020603050405020304" pitchFamily="18" charset="0"/>
              </a:rPr>
              <a:t>There will be a publication in the RDPRM</a:t>
            </a:r>
          </a:p>
          <a:p>
            <a:pPr>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 personal guarantee is included in the contract, and the guarantor resides in Quebec. </a:t>
            </a:r>
          </a:p>
          <a:p>
            <a:pPr lvl="1"/>
            <a:r>
              <a:rPr lang="en-US" sz="1400" dirty="0">
                <a:latin typeface="Times New Roman" panose="02020603050405020304" pitchFamily="18" charset="0"/>
                <a:cs typeface="Times New Roman" panose="02020603050405020304" pitchFamily="18" charset="0"/>
              </a:rPr>
              <a:t>The process outlined in Bill 96 must be followed for both the contract and the guarantee document (for guarantor only-not applicable if the client isn’t in Quebec)</a:t>
            </a:r>
          </a:p>
          <a:p>
            <a:pPr marL="0" indent="0">
              <a:buNone/>
            </a:pPr>
            <a:r>
              <a:rPr lang="en-US" sz="1600" i="1" dirty="0">
                <a:solidFill>
                  <a:srgbClr val="C00000"/>
                </a:solidFill>
                <a:latin typeface="Times New Roman" panose="02020603050405020304" pitchFamily="18" charset="0"/>
                <a:cs typeface="Times New Roman" panose="02020603050405020304" pitchFamily="18" charset="0"/>
              </a:rPr>
              <a:t>*The law doesn’t apply for a Qc Dealer signing a SSC, a buyback agreement, etc.</a:t>
            </a:r>
          </a:p>
        </p:txBody>
      </p:sp>
      <p:sp>
        <p:nvSpPr>
          <p:cNvPr id="3085" name="Rectangle 3084">
            <a:extLst>
              <a:ext uri="{FF2B5EF4-FFF2-40B4-BE49-F238E27FC236}">
                <a16:creationId xmlns:a16="http://schemas.microsoft.com/office/drawing/2014/main" id="{0A59C598-B3C4-3B59-251F-6AFB3D56C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2439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7CF4D6-336E-A28A-C725-548C3F449D77}"/>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7E94CC4-A94A-AADF-ACBC-E343BBA342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3E7C6C1C-03B8-A6D5-F933-58C2AEBD91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6" name="Rectangle 25">
              <a:extLst>
                <a:ext uri="{FF2B5EF4-FFF2-40B4-BE49-F238E27FC236}">
                  <a16:creationId xmlns:a16="http://schemas.microsoft.com/office/drawing/2014/main" id="{7937159C-886A-2A4E-3282-7B6CE72482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589205B-3E4B-989E-D4D2-A85D345128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BE183CD-E8AF-9677-116D-BA6417BA51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4B7652AE-9420-44E0-8C97-4D62ECDADD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70320BB-122B-A905-8B9E-B3D7B6D0CA40}"/>
              </a:ext>
            </a:extLst>
          </p:cNvPr>
          <p:cNvSpPr>
            <a:spLocks noGrp="1"/>
          </p:cNvSpPr>
          <p:nvPr>
            <p:ph type="title"/>
          </p:nvPr>
        </p:nvSpPr>
        <p:spPr>
          <a:xfrm>
            <a:off x="1043631" y="809898"/>
            <a:ext cx="9942716" cy="1554480"/>
          </a:xfrm>
        </p:spPr>
        <p:txBody>
          <a:bodyPr vert="horz" lIns="91440" tIns="45720" rIns="91440" bIns="45720" rtlCol="0" anchor="ctr">
            <a:normAutofit/>
          </a:bodyPr>
          <a:lstStyle/>
          <a:p>
            <a:r>
              <a:rPr lang="en-US" sz="4800" b="1" kern="1200" dirty="0">
                <a:solidFill>
                  <a:schemeClr val="tx1"/>
                </a:solidFill>
                <a:effectLst/>
                <a:latin typeface="Times New Roman" panose="02020603050405020304" pitchFamily="18" charset="0"/>
                <a:cs typeface="Times New Roman" panose="02020603050405020304" pitchFamily="18" charset="0"/>
              </a:rPr>
              <a:t>Guidelines</a:t>
            </a:r>
            <a:endParaRPr lang="en-US" sz="4800" kern="1200" dirty="0">
              <a:solidFill>
                <a:schemeClr val="tx1"/>
              </a:solidFill>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35C0D86F-97C0-7050-DE5F-63EA08829C4B}"/>
              </a:ext>
            </a:extLst>
          </p:cNvPr>
          <p:cNvSpPr>
            <a:spLocks noGrp="1"/>
          </p:cNvSpPr>
          <p:nvPr>
            <p:ph type="body" sz="half" idx="2"/>
          </p:nvPr>
        </p:nvSpPr>
        <p:spPr>
          <a:xfrm>
            <a:off x="1205653" y="2227154"/>
            <a:ext cx="10654387" cy="4258160"/>
          </a:xfrm>
        </p:spPr>
        <p:txBody>
          <a:bodyPr vert="horz" lIns="91440" tIns="45720" rIns="91440" bIns="45720" rtlCol="0" anchor="ctr">
            <a:normAutofit/>
          </a:bodyPr>
          <a:lstStyle/>
          <a:p>
            <a:pPr marL="0" lvl="0" indent="-228600">
              <a:buFont typeface="Arial" panose="020B0604020202020204" pitchFamily="34" charset="0"/>
              <a:buChar char="•"/>
              <a:tabLst>
                <a:tab pos="457200" algn="l"/>
              </a:tabLst>
            </a:pPr>
            <a:endParaRPr lang="en-US" sz="1100" dirty="0">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endParaRPr lang="fr-CA" sz="1500" dirty="0">
              <a:solidFill>
                <a:srgbClr val="000000"/>
              </a:solidFill>
              <a:latin typeface="Times New Roman" panose="02020603050405020304" pitchFamily="18" charset="0"/>
              <a:cs typeface="Times New Roman" panose="02020603050405020304" pitchFamily="18" charset="0"/>
            </a:endParaRPr>
          </a:p>
          <a:p>
            <a:r>
              <a:rPr lang="en-US" sz="1700" dirty="0">
                <a:latin typeface="Times New Roman" panose="02020603050405020304" pitchFamily="18" charset="0"/>
                <a:cs typeface="Times New Roman" panose="02020603050405020304" pitchFamily="18" charset="0"/>
              </a:rPr>
              <a:t>To accept a contract in English concluded in Quebec, we will need the following documentation in the file:</a:t>
            </a:r>
          </a:p>
          <a:p>
            <a:pPr marL="342900" indent="-342900">
              <a:buAutoNum type="arabicPeriod"/>
            </a:pPr>
            <a:r>
              <a:rPr lang="en-US" sz="1500" b="1" dirty="0">
                <a:solidFill>
                  <a:srgbClr val="C00000"/>
                </a:solidFill>
                <a:latin typeface="Times New Roman" panose="02020603050405020304" pitchFamily="18" charset="0"/>
                <a:cs typeface="Times New Roman" panose="02020603050405020304" pitchFamily="18" charset="0"/>
              </a:rPr>
              <a:t>Proof that the client first received the French version and then requested the English version </a:t>
            </a:r>
          </a:p>
          <a:p>
            <a:pPr marL="800100" lvl="1" indent="-34290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Accepted proof: </a:t>
            </a:r>
            <a:r>
              <a:rPr lang="en-US" sz="1500" u="sng" dirty="0">
                <a:latin typeface="Times New Roman" panose="02020603050405020304" pitchFamily="18" charset="0"/>
                <a:cs typeface="Times New Roman" panose="02020603050405020304" pitchFamily="18" charset="0"/>
              </a:rPr>
              <a:t>email chain </a:t>
            </a:r>
            <a:r>
              <a:rPr lang="en-US" sz="1500" dirty="0">
                <a:latin typeface="Times New Roman" panose="02020603050405020304" pitchFamily="18" charset="0"/>
                <a:cs typeface="Times New Roman" panose="02020603050405020304" pitchFamily="18" charset="0"/>
              </a:rPr>
              <a:t>from the </a:t>
            </a:r>
            <a:r>
              <a:rPr lang="en-US" sz="1500" u="sng" dirty="0">
                <a:latin typeface="Times New Roman" panose="02020603050405020304" pitchFamily="18" charset="0"/>
                <a:cs typeface="Times New Roman" panose="02020603050405020304" pitchFamily="18" charset="0"/>
              </a:rPr>
              <a:t>client</a:t>
            </a:r>
            <a:r>
              <a:rPr lang="en-US" sz="1500" dirty="0">
                <a:latin typeface="Times New Roman" panose="02020603050405020304" pitchFamily="18" charset="0"/>
                <a:cs typeface="Times New Roman" panose="02020603050405020304" pitchFamily="18" charset="0"/>
              </a:rPr>
              <a:t> stating their preference for the English version over the French version, with the attached contract(s) that </a:t>
            </a:r>
            <a:r>
              <a:rPr lang="en-US" sz="1500" u="sng" dirty="0">
                <a:latin typeface="Times New Roman" panose="02020603050405020304" pitchFamily="18" charset="0"/>
                <a:cs typeface="Times New Roman" panose="02020603050405020304" pitchFamily="18" charset="0"/>
              </a:rPr>
              <a:t>can be clicked and opened for verification</a:t>
            </a:r>
            <a:r>
              <a:rPr lang="en-US" sz="1500" dirty="0">
                <a:latin typeface="Times New Roman" panose="02020603050405020304" pitchFamily="18" charset="0"/>
                <a:cs typeface="Times New Roman" panose="02020603050405020304" pitchFamily="18" charset="0"/>
              </a:rPr>
              <a:t>.</a:t>
            </a:r>
          </a:p>
          <a:p>
            <a:pPr marL="342900" indent="-342900">
              <a:buFont typeface="+mj-lt"/>
              <a:buAutoNum type="arabicPeriod"/>
            </a:pPr>
            <a:r>
              <a:rPr lang="en-US" sz="1500" b="1" dirty="0">
                <a:solidFill>
                  <a:srgbClr val="C00000"/>
                </a:solidFill>
                <a:latin typeface="Times New Roman" panose="02020603050405020304" pitchFamily="18" charset="0"/>
                <a:cs typeface="Times New Roman" panose="02020603050405020304" pitchFamily="18" charset="0"/>
              </a:rPr>
              <a:t>Description of the equipment in French on the contract</a:t>
            </a:r>
            <a:endParaRPr lang="en-US" sz="1500" b="1"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Brand &amp; Model can be in their original </a:t>
            </a:r>
            <a:r>
              <a:rPr lang="en-US" sz="1500" dirty="0" err="1">
                <a:latin typeface="Times New Roman" panose="02020603050405020304" pitchFamily="18" charset="0"/>
                <a:cs typeface="Times New Roman" panose="02020603050405020304" pitchFamily="18" charset="0"/>
              </a:rPr>
              <a:t>langage</a:t>
            </a:r>
            <a:r>
              <a:rPr lang="en-US" sz="1500" dirty="0">
                <a:latin typeface="Times New Roman" panose="02020603050405020304" pitchFamily="18" charset="0"/>
                <a:cs typeface="Times New Roman" panose="02020603050405020304" pitchFamily="18" charset="0"/>
              </a:rPr>
              <a:t>/version  </a:t>
            </a:r>
          </a:p>
          <a:p>
            <a:pPr marL="1200150" lvl="2" indent="-285750">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We must be able to prove that the word refers to a brand name and/or model (web search) </a:t>
            </a:r>
          </a:p>
          <a:p>
            <a:pPr marL="742950" lvl="1"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If we encounter an acronym such as “VIN” instead of “NIV,” or “SUV” instead of “VUS,” for example, we can manually correct it without returning it to the client. But we must ensure compliance with the PPSA (FR)</a:t>
            </a:r>
          </a:p>
          <a:p>
            <a:pPr marL="742950" lvl="1"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No return to the client is necessary for initials in cases of clerical errors. We are entitled to make these corrections based on Clause 3 of our contracts.</a:t>
            </a:r>
          </a:p>
          <a:p>
            <a:pPr algn="l"/>
            <a:endParaRPr lang="fr-CA" sz="2000" b="0" i="0" dirty="0">
              <a:solidFill>
                <a:srgbClr val="000000"/>
              </a:solidFill>
              <a:effectLst/>
              <a:latin typeface="Times New Roman" panose="02020603050405020304" pitchFamily="18" charset="0"/>
              <a:cs typeface="Times New Roman" panose="02020603050405020304" pitchFamily="18" charset="0"/>
            </a:endParaRPr>
          </a:p>
        </p:txBody>
      </p:sp>
      <p:cxnSp>
        <p:nvCxnSpPr>
          <p:cNvPr id="32" name="Straight Connector 31">
            <a:extLst>
              <a:ext uri="{FF2B5EF4-FFF2-40B4-BE49-F238E27FC236}">
                <a16:creationId xmlns:a16="http://schemas.microsoft.com/office/drawing/2014/main" id="{3C378299-7688-A609-EB6E-F0EAFCD78EA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5686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A7C065D-9ADB-7BAB-3ED0-811D4D46BFF8}"/>
              </a:ext>
            </a:extLst>
          </p:cNvPr>
          <p:cNvSpPr>
            <a:spLocks noGrp="1"/>
          </p:cNvSpPr>
          <p:nvPr>
            <p:ph type="title"/>
          </p:nvPr>
        </p:nvSpPr>
        <p:spPr>
          <a:xfrm>
            <a:off x="1043631" y="809898"/>
            <a:ext cx="9942716" cy="1554480"/>
          </a:xfrm>
        </p:spPr>
        <p:txBody>
          <a:bodyPr vert="horz" lIns="91440" tIns="45720" rIns="91440" bIns="45720" rtlCol="0" anchor="ctr">
            <a:normAutofit/>
          </a:bodyPr>
          <a:lstStyle/>
          <a:p>
            <a:r>
              <a:rPr lang="en-US" sz="4800" b="1" dirty="0">
                <a:latin typeface="Times New Roman" panose="02020603050405020304" pitchFamily="18" charset="0"/>
                <a:cs typeface="Times New Roman" panose="02020603050405020304" pitchFamily="18" charset="0"/>
              </a:rPr>
              <a:t>Guidelines</a:t>
            </a:r>
          </a:p>
        </p:txBody>
      </p:sp>
      <p:sp>
        <p:nvSpPr>
          <p:cNvPr id="4" name="Espace réservé du texte 3">
            <a:extLst>
              <a:ext uri="{FF2B5EF4-FFF2-40B4-BE49-F238E27FC236}">
                <a16:creationId xmlns:a16="http://schemas.microsoft.com/office/drawing/2014/main" id="{39BC0A11-7748-00AB-C49D-07E7CE4E2DB1}"/>
              </a:ext>
            </a:extLst>
          </p:cNvPr>
          <p:cNvSpPr>
            <a:spLocks noGrp="1"/>
          </p:cNvSpPr>
          <p:nvPr>
            <p:ph type="body" sz="half" idx="2"/>
          </p:nvPr>
        </p:nvSpPr>
        <p:spPr>
          <a:xfrm>
            <a:off x="838200" y="2889482"/>
            <a:ext cx="9941319" cy="2986216"/>
          </a:xfrm>
        </p:spPr>
        <p:txBody>
          <a:bodyPr vert="horz" lIns="91440" tIns="45720" rIns="91440" bIns="45720" rtlCol="0" anchor="ctr">
            <a:normAutofit/>
          </a:bodyPr>
          <a:lstStyle/>
          <a:p>
            <a:r>
              <a:rPr lang="en-US" b="1" dirty="0">
                <a:solidFill>
                  <a:srgbClr val="C00000"/>
                </a:solidFill>
                <a:latin typeface="Times New Roman" panose="02020603050405020304" pitchFamily="18" charset="0"/>
                <a:cs typeface="Times New Roman" panose="02020603050405020304" pitchFamily="18" charset="0"/>
              </a:rPr>
              <a:t>2.1 Description of the Equipment in French on the Contract – If the contract refers to an invoice</a:t>
            </a:r>
          </a:p>
          <a:p>
            <a:pPr marL="800100" lvl="1" indent="-34290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French invoice must be obtained;</a:t>
            </a:r>
          </a:p>
          <a:p>
            <a:pPr lvl="1"/>
            <a:r>
              <a:rPr lang="en-US" sz="1600">
                <a:latin typeface="Times New Roman" panose="02020603050405020304" pitchFamily="18" charset="0"/>
                <a:cs typeface="Times New Roman" panose="02020603050405020304" pitchFamily="18" charset="0"/>
              </a:rPr>
              <a:t>OR</a:t>
            </a:r>
            <a:endParaRPr lang="en-US" sz="1600" dirty="0">
              <a:latin typeface="Times New Roman" panose="02020603050405020304" pitchFamily="18" charset="0"/>
              <a:cs typeface="Times New Roman" panose="02020603050405020304" pitchFamily="18" charset="0"/>
            </a:endParaRPr>
          </a:p>
          <a:p>
            <a:pPr marL="800100" lvl="1" indent="-342900">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If we are unable to obtain the invoice in French, the person issuing the contract must manually prepare a regular Appendix A with the description in French</a:t>
            </a:r>
            <a:br>
              <a:rPr lang="en-US" sz="1600" dirty="0">
                <a:latin typeface="Times New Roman" panose="02020603050405020304" pitchFamily="18" charset="0"/>
                <a:cs typeface="Times New Roman" panose="02020603050405020304" pitchFamily="18" charset="0"/>
              </a:rPr>
            </a:br>
            <a:endParaRPr lang="en-US" sz="2400" dirty="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4619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39E307-7EF9-0BF9-FB10-5C8CA153FDE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5F8828E-3CF7-61F5-B6F5-D47A1D42C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F35C2058-70E9-300B-C06D-AD3ADC2E84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D223D40D-41DB-88D0-608B-F6B04DB9DD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5EFECFB-04ED-BB52-4058-08444410BF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8D02F5C-8565-9CE2-70A4-FB4265DE8D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62BAD128-D4D0-6AB5-F254-5078DF40E6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F2D1166-CE5D-EEF8-E082-54775EB72C8F}"/>
              </a:ext>
            </a:extLst>
          </p:cNvPr>
          <p:cNvSpPr>
            <a:spLocks noGrp="1"/>
          </p:cNvSpPr>
          <p:nvPr>
            <p:ph type="title"/>
          </p:nvPr>
        </p:nvSpPr>
        <p:spPr>
          <a:xfrm>
            <a:off x="1043631" y="809898"/>
            <a:ext cx="9942716" cy="1554480"/>
          </a:xfrm>
        </p:spPr>
        <p:txBody>
          <a:bodyPr vert="horz" lIns="91440" tIns="45720" rIns="91440" bIns="45720" rtlCol="0" anchor="ctr">
            <a:normAutofit/>
          </a:bodyPr>
          <a:lstStyle/>
          <a:p>
            <a:r>
              <a:rPr lang="en-US" sz="4800" b="1" dirty="0">
                <a:latin typeface="Times New Roman" panose="02020603050405020304" pitchFamily="18" charset="0"/>
                <a:cs typeface="Times New Roman" panose="02020603050405020304" pitchFamily="18" charset="0"/>
              </a:rPr>
              <a:t>Guidelines</a:t>
            </a:r>
          </a:p>
        </p:txBody>
      </p:sp>
      <p:sp>
        <p:nvSpPr>
          <p:cNvPr id="4" name="Espace réservé du texte 3">
            <a:extLst>
              <a:ext uri="{FF2B5EF4-FFF2-40B4-BE49-F238E27FC236}">
                <a16:creationId xmlns:a16="http://schemas.microsoft.com/office/drawing/2014/main" id="{CDF08B2E-D200-4219-FFAF-A8ADE3FE1DA7}"/>
              </a:ext>
            </a:extLst>
          </p:cNvPr>
          <p:cNvSpPr>
            <a:spLocks noGrp="1"/>
          </p:cNvSpPr>
          <p:nvPr>
            <p:ph type="body" sz="half" idx="2"/>
          </p:nvPr>
        </p:nvSpPr>
        <p:spPr>
          <a:xfrm>
            <a:off x="1263499" y="2704014"/>
            <a:ext cx="9502980" cy="2986216"/>
          </a:xfrm>
        </p:spPr>
        <p:txBody>
          <a:bodyPr vert="horz" lIns="91440" tIns="45720" rIns="91440" bIns="45720" rtlCol="0" anchor="ctr">
            <a:normAutofit/>
          </a:bodyPr>
          <a:lstStyle/>
          <a:p>
            <a:r>
              <a:rPr lang="en-US" b="1" dirty="0">
                <a:solidFill>
                  <a:srgbClr val="C00000"/>
                </a:solidFill>
                <a:latin typeface="Times New Roman" panose="02020603050405020304" pitchFamily="18" charset="0"/>
                <a:cs typeface="Times New Roman" panose="02020603050405020304" pitchFamily="18" charset="0"/>
              </a:rPr>
              <a:t>3. Full Drafting of the RDPRM needs to be in French</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Our name in its French version</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the client has a </a:t>
            </a:r>
            <a:r>
              <a:rPr lang="en-US" u="sng" dirty="0">
                <a:latin typeface="Times New Roman" panose="02020603050405020304" pitchFamily="18" charset="0"/>
                <a:cs typeface="Times New Roman" panose="02020603050405020304" pitchFamily="18" charset="0"/>
              </a:rPr>
              <a:t>legal name </a:t>
            </a:r>
            <a:r>
              <a:rPr lang="en-US" dirty="0">
                <a:latin typeface="Times New Roman" panose="02020603050405020304" pitchFamily="18" charset="0"/>
                <a:cs typeface="Times New Roman" panose="02020603050405020304" pitchFamily="18" charset="0"/>
              </a:rPr>
              <a:t>in French, use that one (not DBA)</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Description of the equipment in French</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General Collateral in French</a:t>
            </a:r>
          </a:p>
        </p:txBody>
      </p:sp>
      <p:cxnSp>
        <p:nvCxnSpPr>
          <p:cNvPr id="18" name="Straight Connector 17">
            <a:extLst>
              <a:ext uri="{FF2B5EF4-FFF2-40B4-BE49-F238E27FC236}">
                <a16:creationId xmlns:a16="http://schemas.microsoft.com/office/drawing/2014/main" id="{03D4F58E-EB64-587D-B381-8BA5E8C27C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7555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E6B1C7-C133-697F-3218-C1329DC2275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A9D31C8-C638-1B75-0FF6-AD95609A88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C66BA79B-A92A-88F2-6419-971DCD2295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2CD435F8-1A44-7A62-8926-BE0CED016F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C63D4D8-3266-5DFD-ABC2-80CB42CE2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D4ABEF2-99A8-EDC1-1E11-B873DD55ED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C6B1BB59-4078-4A9A-6E2C-FA923AB69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98F9341-08B1-1E1F-6EA4-80CA128BB762}"/>
              </a:ext>
            </a:extLst>
          </p:cNvPr>
          <p:cNvSpPr>
            <a:spLocks noGrp="1"/>
          </p:cNvSpPr>
          <p:nvPr>
            <p:ph type="title"/>
          </p:nvPr>
        </p:nvSpPr>
        <p:spPr>
          <a:xfrm>
            <a:off x="1043631" y="809898"/>
            <a:ext cx="9942716" cy="1554480"/>
          </a:xfrm>
        </p:spPr>
        <p:txBody>
          <a:bodyPr vert="horz" lIns="91440" tIns="45720" rIns="91440" bIns="45720" rtlCol="0" anchor="ctr">
            <a:normAutofit/>
          </a:bodyPr>
          <a:lstStyle/>
          <a:p>
            <a:r>
              <a:rPr lang="en-US" sz="4800" b="1" dirty="0">
                <a:latin typeface="Times New Roman" panose="02020603050405020304" pitchFamily="18" charset="0"/>
                <a:cs typeface="Times New Roman" panose="02020603050405020304" pitchFamily="18" charset="0"/>
              </a:rPr>
              <a:t>Translation tools</a:t>
            </a:r>
          </a:p>
        </p:txBody>
      </p:sp>
      <p:sp>
        <p:nvSpPr>
          <p:cNvPr id="4" name="Espace réservé du texte 3">
            <a:extLst>
              <a:ext uri="{FF2B5EF4-FFF2-40B4-BE49-F238E27FC236}">
                <a16:creationId xmlns:a16="http://schemas.microsoft.com/office/drawing/2014/main" id="{44C94FAC-8031-B598-D5A2-5F2E2CC0970F}"/>
              </a:ext>
            </a:extLst>
          </p:cNvPr>
          <p:cNvSpPr>
            <a:spLocks noGrp="1"/>
          </p:cNvSpPr>
          <p:nvPr>
            <p:ph type="body" sz="half" idx="2"/>
          </p:nvPr>
        </p:nvSpPr>
        <p:spPr>
          <a:xfrm>
            <a:off x="838200" y="2889482"/>
            <a:ext cx="9941319" cy="2986216"/>
          </a:xfrm>
        </p:spPr>
        <p:txBody>
          <a:bodyPr vert="horz" lIns="91440" tIns="45720" rIns="91440" bIns="45720" rtlCol="0" anchor="ctr">
            <a:normAutofit/>
          </a:bodyPr>
          <a:lstStyle/>
          <a:p>
            <a:pPr marL="342900" indent="-342900">
              <a:lnSpc>
                <a:spcPct val="150000"/>
              </a:lnSpc>
              <a:buFont typeface="Arial" panose="020B0604020202020204" pitchFamily="34" charset="0"/>
              <a:buChar char="•"/>
            </a:pPr>
            <a:r>
              <a:rPr lang="fr-CA" sz="2400" dirty="0" err="1"/>
              <a:t>Internal</a:t>
            </a:r>
            <a:r>
              <a:rPr lang="fr-CA" sz="2400" dirty="0"/>
              <a:t> </a:t>
            </a:r>
            <a:r>
              <a:rPr lang="fr-CA" sz="2400" dirty="0" err="1"/>
              <a:t>Glossary</a:t>
            </a:r>
            <a:r>
              <a:rPr lang="fr-CA" sz="2400" dirty="0"/>
              <a:t>: </a:t>
            </a:r>
            <a:r>
              <a:rPr lang="fr-CA" sz="2400" dirty="0">
                <a:hlinkClick r:id="rId2"/>
              </a:rPr>
              <a:t>Glossaire - Mitsubishi HC Capital</a:t>
            </a:r>
            <a:r>
              <a:rPr lang="fr-CA" sz="2400" dirty="0"/>
              <a:t> </a:t>
            </a:r>
          </a:p>
          <a:p>
            <a:pPr marL="342900" indent="-342900">
              <a:lnSpc>
                <a:spcPct val="150000"/>
              </a:lnSpc>
              <a:buFont typeface="Arial" panose="020B0604020202020204" pitchFamily="34" charset="0"/>
              <a:buChar char="•"/>
            </a:pPr>
            <a:r>
              <a:rPr lang="fr-CA" sz="2400" dirty="0" err="1"/>
              <a:t>Website</a:t>
            </a:r>
            <a:r>
              <a:rPr lang="fr-CA" sz="2400" dirty="0"/>
              <a:t> of the Office of the French </a:t>
            </a:r>
            <a:r>
              <a:rPr lang="fr-CA" sz="2400" dirty="0" err="1"/>
              <a:t>Language</a:t>
            </a:r>
            <a:r>
              <a:rPr lang="fr-CA" sz="2400" dirty="0"/>
              <a:t>: </a:t>
            </a:r>
            <a:r>
              <a:rPr lang="fr-CA" sz="2400" dirty="0">
                <a:hlinkClick r:id="rId3"/>
              </a:rPr>
              <a:t>La Vitrine linguistique de l’Office québécois de la langue française</a:t>
            </a:r>
            <a:endParaRPr lang="fr-CA" sz="2400" dirty="0"/>
          </a:p>
          <a:p>
            <a:pPr marL="342900" indent="-342900">
              <a:lnSpc>
                <a:spcPct val="150000"/>
              </a:lnSpc>
              <a:buFont typeface="Arial" panose="020B0604020202020204" pitchFamily="34" charset="0"/>
              <a:buChar char="•"/>
            </a:pPr>
            <a:r>
              <a:rPr lang="fr-CA" sz="2400" dirty="0"/>
              <a:t>Canadian Translation </a:t>
            </a:r>
            <a:r>
              <a:rPr lang="fr-CA" sz="2400" dirty="0" err="1"/>
              <a:t>Website</a:t>
            </a:r>
            <a:r>
              <a:rPr lang="fr-CA" sz="2400" dirty="0"/>
              <a:t>: </a:t>
            </a:r>
            <a:r>
              <a:rPr lang="fr-CA" sz="2400" dirty="0">
                <a:hlinkClick r:id="rId4"/>
              </a:rPr>
              <a:t>TERMIUM Plus®</a:t>
            </a:r>
            <a:endParaRPr lang="en-US" sz="2400" dirty="0"/>
          </a:p>
        </p:txBody>
      </p:sp>
      <p:cxnSp>
        <p:nvCxnSpPr>
          <p:cNvPr id="18" name="Straight Connector 17">
            <a:extLst>
              <a:ext uri="{FF2B5EF4-FFF2-40B4-BE49-F238E27FC236}">
                <a16:creationId xmlns:a16="http://schemas.microsoft.com/office/drawing/2014/main" id="{39FA0E8A-9B09-45E5-4745-C9EB17C5C7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0907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E9E0959-947E-E4AF-8BEF-AEA2343F4677}"/>
              </a:ext>
            </a:extLst>
          </p:cNvPr>
          <p:cNvSpPr>
            <a:spLocks noGrp="1"/>
          </p:cNvSpPr>
          <p:nvPr>
            <p:ph type="title"/>
          </p:nvPr>
        </p:nvSpPr>
        <p:spPr>
          <a:xfrm>
            <a:off x="1067213" y="314947"/>
            <a:ext cx="11111730" cy="970378"/>
          </a:xfrm>
        </p:spPr>
        <p:txBody>
          <a:bodyPr anchor="b">
            <a:noAutofit/>
          </a:bodyPr>
          <a:lstStyle/>
          <a:p>
            <a:br>
              <a:rPr lang="fr-CA" sz="2800"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Potential consequences of non-compliance with the law:</a:t>
            </a:r>
            <a:br>
              <a:rPr lang="en-US" sz="2400" b="1" dirty="0">
                <a:latin typeface="Times New Roman" panose="02020603050405020304" pitchFamily="18" charset="0"/>
                <a:cs typeface="Times New Roman" panose="02020603050405020304" pitchFamily="18" charset="0"/>
              </a:rPr>
            </a:br>
            <a:endParaRPr lang="fr-CA" sz="2400" b="1" dirty="0">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7E46F7C3-840D-7CD3-E6BB-D47F70009B90}"/>
              </a:ext>
            </a:extLst>
          </p:cNvPr>
          <p:cNvSpPr>
            <a:spLocks noGrp="1"/>
          </p:cNvSpPr>
          <p:nvPr>
            <p:ph idx="1"/>
          </p:nvPr>
        </p:nvSpPr>
        <p:spPr>
          <a:xfrm>
            <a:off x="1204178" y="1647730"/>
            <a:ext cx="9856092" cy="4053257"/>
          </a:xfrm>
        </p:spPr>
        <p:txBody>
          <a:bodyPr anchor="ctr">
            <a:normAutofit/>
          </a:bodyPr>
          <a:lstStyle/>
          <a:p>
            <a:r>
              <a:rPr lang="en-US" sz="1800" dirty="0">
                <a:latin typeface="Times New Roman" panose="02020603050405020304" pitchFamily="18" charset="0"/>
                <a:cs typeface="Times New Roman" panose="02020603050405020304" pitchFamily="18" charset="0"/>
              </a:rPr>
              <a:t>Non-French word registration: The </a:t>
            </a:r>
            <a:r>
              <a:rPr lang="en-US" sz="1800" b="1" dirty="0">
                <a:solidFill>
                  <a:srgbClr val="C00000"/>
                </a:solidFill>
                <a:latin typeface="Times New Roman" panose="02020603050405020304" pitchFamily="18" charset="0"/>
                <a:cs typeface="Times New Roman" panose="02020603050405020304" pitchFamily="18" charset="0"/>
              </a:rPr>
              <a:t>RDPRM could refuse </a:t>
            </a:r>
            <a:r>
              <a:rPr lang="en-US" sz="1800" dirty="0">
                <a:latin typeface="Times New Roman" panose="02020603050405020304" pitchFamily="18" charset="0"/>
                <a:cs typeface="Times New Roman" panose="02020603050405020304" pitchFamily="18" charset="0"/>
              </a:rPr>
              <a:t>our registration request, and we would be informed too late, putting us in an unsecured position with a financed contract not registered within the 7-day deadline.</a:t>
            </a:r>
          </a:p>
          <a:p>
            <a:r>
              <a:rPr lang="en-US" sz="1800" dirty="0">
                <a:latin typeface="Times New Roman" panose="02020603050405020304" pitchFamily="18" charset="0"/>
                <a:cs typeface="Times New Roman" panose="02020603050405020304" pitchFamily="18" charset="0"/>
              </a:rPr>
              <a:t>Registration in French in Quebec but a contract with equipment description in English: </a:t>
            </a:r>
            <a:r>
              <a:rPr lang="en-US" sz="1800" b="1" dirty="0">
                <a:solidFill>
                  <a:srgbClr val="C00000"/>
                </a:solidFill>
                <a:latin typeface="Times New Roman" panose="02020603050405020304" pitchFamily="18" charset="0"/>
                <a:cs typeface="Times New Roman" panose="02020603050405020304" pitchFamily="18" charset="0"/>
              </a:rPr>
              <a:t>Inconsistency</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between what is on the contract and what we register, affecting the </a:t>
            </a:r>
            <a:r>
              <a:rPr lang="en-US" sz="1800" b="1" dirty="0">
                <a:solidFill>
                  <a:srgbClr val="C00000"/>
                </a:solidFill>
                <a:latin typeface="Times New Roman" panose="02020603050405020304" pitchFamily="18" charset="0"/>
                <a:cs typeface="Times New Roman" panose="02020603050405020304" pitchFamily="18" charset="0"/>
              </a:rPr>
              <a:t>validity</a:t>
            </a:r>
            <a:r>
              <a:rPr lang="en-US" sz="1800" dirty="0">
                <a:latin typeface="Times New Roman" panose="02020603050405020304" pitchFamily="18" charset="0"/>
                <a:cs typeface="Times New Roman" panose="02020603050405020304" pitchFamily="18" charset="0"/>
              </a:rPr>
              <a:t> of our registration and contract.</a:t>
            </a:r>
          </a:p>
          <a:p>
            <a:r>
              <a:rPr lang="en-US" sz="1800" dirty="0">
                <a:latin typeface="Times New Roman" panose="02020603050405020304" pitchFamily="18" charset="0"/>
                <a:cs typeface="Times New Roman" panose="02020603050405020304" pitchFamily="18" charset="0"/>
              </a:rPr>
              <a:t>The client or a third party could </a:t>
            </a:r>
            <a:r>
              <a:rPr lang="en-US" sz="1800" b="1" dirty="0">
                <a:solidFill>
                  <a:srgbClr val="C00000"/>
                </a:solidFill>
                <a:latin typeface="Times New Roman" panose="02020603050405020304" pitchFamily="18" charset="0"/>
                <a:cs typeface="Times New Roman" panose="02020603050405020304" pitchFamily="18" charset="0"/>
              </a:rPr>
              <a:t>invalidate the contract in court </a:t>
            </a:r>
            <a:r>
              <a:rPr lang="en-US" sz="1800" dirty="0">
                <a:latin typeface="Times New Roman" panose="02020603050405020304" pitchFamily="18" charset="0"/>
                <a:cs typeface="Times New Roman" panose="02020603050405020304" pitchFamily="18" charset="0"/>
              </a:rPr>
              <a:t>if they find a loophole in the application of the law. If this leads to the contract being invalidated by the court, word could spread and create a precedent.</a:t>
            </a:r>
          </a:p>
          <a:p>
            <a:r>
              <a:rPr lang="en-US" sz="1800" dirty="0">
                <a:latin typeface="Times New Roman" panose="02020603050405020304" pitchFamily="18" charset="0"/>
                <a:cs typeface="Times New Roman" panose="02020603050405020304" pitchFamily="18" charset="0"/>
              </a:rPr>
              <a:t>The </a:t>
            </a:r>
            <a:r>
              <a:rPr lang="en-US" sz="1800" b="1" dirty="0">
                <a:solidFill>
                  <a:srgbClr val="C00000"/>
                </a:solidFill>
                <a:latin typeface="Times New Roman" panose="02020603050405020304" pitchFamily="18" charset="0"/>
                <a:cs typeface="Times New Roman" panose="02020603050405020304" pitchFamily="18" charset="0"/>
              </a:rPr>
              <a:t>OQLF</a:t>
            </a:r>
            <a:r>
              <a:rPr lang="en-US" sz="1800" dirty="0">
                <a:latin typeface="Times New Roman" panose="02020603050405020304" pitchFamily="18" charset="0"/>
                <a:cs typeface="Times New Roman" panose="02020603050405020304" pitchFamily="18" charset="0"/>
              </a:rPr>
              <a:t> (Quebec government agency) is increasingly conducting </a:t>
            </a:r>
            <a:r>
              <a:rPr lang="en-US" sz="1800" b="1" dirty="0">
                <a:solidFill>
                  <a:srgbClr val="C00000"/>
                </a:solidFill>
                <a:latin typeface="Times New Roman" panose="02020603050405020304" pitchFamily="18" charset="0"/>
                <a:cs typeface="Times New Roman" panose="02020603050405020304" pitchFamily="18" charset="0"/>
              </a:rPr>
              <a:t>audits and investigations </a:t>
            </a:r>
            <a:r>
              <a:rPr lang="en-US" sz="1800" dirty="0">
                <a:latin typeface="Times New Roman" panose="02020603050405020304" pitchFamily="18" charset="0"/>
                <a:cs typeface="Times New Roman" panose="02020603050405020304" pitchFamily="18" charset="0"/>
              </a:rPr>
              <a:t>in businesses to ensure compliance with the law. They are authorized to </a:t>
            </a:r>
            <a:r>
              <a:rPr lang="en-US" sz="1800" b="1" dirty="0">
                <a:solidFill>
                  <a:srgbClr val="C00000"/>
                </a:solidFill>
                <a:latin typeface="Times New Roman" panose="02020603050405020304" pitchFamily="18" charset="0"/>
                <a:cs typeface="Times New Roman" panose="02020603050405020304" pitchFamily="18" charset="0"/>
              </a:rPr>
              <a:t>impose fines </a:t>
            </a:r>
            <a:r>
              <a:rPr lang="en-US" sz="1800" dirty="0">
                <a:latin typeface="Times New Roman" panose="02020603050405020304" pitchFamily="18" charset="0"/>
                <a:cs typeface="Times New Roman" panose="02020603050405020304" pitchFamily="18" charset="0"/>
              </a:rPr>
              <a:t>of up to $30,000.</a:t>
            </a:r>
          </a:p>
          <a:p>
            <a:endParaRPr lang="fr-CA" sz="1400" dirty="0">
              <a:latin typeface="Times New Roman" panose="02020603050405020304" pitchFamily="18" charset="0"/>
              <a:cs typeface="Times New Roman" panose="02020603050405020304" pitchFamily="18" charset="0"/>
            </a:endParaRPr>
          </a:p>
        </p:txBody>
      </p:sp>
      <p:sp>
        <p:nvSpPr>
          <p:cNvPr id="4" name="Bulle narrative : ronde 3">
            <a:extLst>
              <a:ext uri="{FF2B5EF4-FFF2-40B4-BE49-F238E27FC236}">
                <a16:creationId xmlns:a16="http://schemas.microsoft.com/office/drawing/2014/main" id="{C4C6B5DD-83D2-C27D-4D74-5015959B8BF8}"/>
              </a:ext>
            </a:extLst>
          </p:cNvPr>
          <p:cNvSpPr/>
          <p:nvPr/>
        </p:nvSpPr>
        <p:spPr>
          <a:xfrm>
            <a:off x="8869272" y="5294700"/>
            <a:ext cx="2743200" cy="1248353"/>
          </a:xfrm>
          <a:prstGeom prst="wedgeEllipseCallou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i="1" dirty="0">
                <a:ln w="0"/>
                <a:solidFill>
                  <a:schemeClr val="tx1"/>
                </a:solidFill>
                <a:effectLst>
                  <a:outerShdw blurRad="38100" dist="19050" dir="2700000" algn="tl" rotWithShape="0">
                    <a:schemeClr val="dk1">
                      <a:alpha val="40000"/>
                    </a:schemeClr>
                  </a:outerShdw>
                </a:effectLst>
              </a:rPr>
              <a:t>No, there is still no case law to guide us on how the courts interpret this law.</a:t>
            </a:r>
            <a:endParaRPr lang="fr-CA" sz="1400" i="1"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98468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180DE06-7362-4888-AADA-7AADD57AC4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A3B3E7D-C735-C9FC-62E2-F5937F080A40}"/>
              </a:ext>
            </a:extLst>
          </p:cNvPr>
          <p:cNvSpPr>
            <a:spLocks noGrp="1"/>
          </p:cNvSpPr>
          <p:nvPr>
            <p:ph type="title"/>
          </p:nvPr>
        </p:nvSpPr>
        <p:spPr>
          <a:xfrm>
            <a:off x="7331384" y="679730"/>
            <a:ext cx="4171994" cy="3932729"/>
          </a:xfrm>
        </p:spPr>
        <p:txBody>
          <a:bodyPr vert="horz" lIns="91440" tIns="45720" rIns="91440" bIns="45720" rtlCol="0" anchor="b">
            <a:normAutofit/>
          </a:bodyPr>
          <a:lstStyle/>
          <a:p>
            <a:r>
              <a:rPr lang="en-US" sz="6000" kern="1200" dirty="0">
                <a:solidFill>
                  <a:schemeClr val="tx1"/>
                </a:solidFill>
                <a:latin typeface="Times New Roman" panose="02020603050405020304" pitchFamily="18" charset="0"/>
                <a:cs typeface="Times New Roman" panose="02020603050405020304" pitchFamily="18" charset="0"/>
              </a:rPr>
              <a:t>Questions</a:t>
            </a:r>
          </a:p>
        </p:txBody>
      </p:sp>
      <p:grpSp>
        <p:nvGrpSpPr>
          <p:cNvPr id="40" name="Group 23">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2218698" y="2733627"/>
            <a:ext cx="1340409" cy="5777807"/>
            <a:chOff x="329184" y="2"/>
            <a:chExt cx="524256" cy="5777807"/>
          </a:xfrm>
        </p:grpSpPr>
        <p:cxnSp>
          <p:nvCxnSpPr>
            <p:cNvPr id="41" name="Straight Connector 24">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2"/>
              <a:ext cx="524256" cy="566677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Rectangle 2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3" y="372533"/>
            <a:ext cx="6116779" cy="606872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Help">
            <a:extLst>
              <a:ext uri="{FF2B5EF4-FFF2-40B4-BE49-F238E27FC236}">
                <a16:creationId xmlns:a16="http://schemas.microsoft.com/office/drawing/2014/main" id="{AA7E2574-15BF-B504-B026-1BE7580F1D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2597" y="624585"/>
            <a:ext cx="5608830" cy="5608830"/>
          </a:xfrm>
          <a:prstGeom prst="rect">
            <a:avLst/>
          </a:prstGeom>
        </p:spPr>
      </p:pic>
    </p:spTree>
    <p:extLst>
      <p:ext uri="{BB962C8B-B14F-4D97-AF65-F5344CB8AC3E}">
        <p14:creationId xmlns:p14="http://schemas.microsoft.com/office/powerpoint/2010/main" val="19677147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8a20640-9d3c-485c-89f7-1d89e68889ec" xsi:nil="true"/>
    <lcf76f155ced4ddcb4097134ff3c332f xmlns="de8d1f3b-a4bd-481d-b3de-f96f62a9a352">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64442C3DA54004AA01E344097644DE4" ma:contentTypeVersion="12" ma:contentTypeDescription="Create a new document." ma:contentTypeScope="" ma:versionID="7af49e90958fdc79abdced4e58990e2c">
  <xsd:schema xmlns:xsd="http://www.w3.org/2001/XMLSchema" xmlns:xs="http://www.w3.org/2001/XMLSchema" xmlns:p="http://schemas.microsoft.com/office/2006/metadata/properties" xmlns:ns2="de8d1f3b-a4bd-481d-b3de-f96f62a9a352" xmlns:ns3="e8a20640-9d3c-485c-89f7-1d89e68889ec" targetNamespace="http://schemas.microsoft.com/office/2006/metadata/properties" ma:root="true" ma:fieldsID="8cf8fff97fd7d30a2692de720e3a55a3" ns2:_="" ns3:_="">
    <xsd:import namespace="de8d1f3b-a4bd-481d-b3de-f96f62a9a352"/>
    <xsd:import namespace="e8a20640-9d3c-485c-89f7-1d89e68889e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8d1f3b-a4bd-481d-b3de-f96f62a9a35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43e6210-2fa7-4e77-943a-e2e7fb6c882d"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8a20640-9d3c-485c-89f7-1d89e68889e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9503ab1-e41a-48f4-b0c9-3c105af3e6f5}" ma:internalName="TaxCatchAll" ma:showField="CatchAllData" ma:web="e8a20640-9d3c-485c-89f7-1d89e68889e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26D69F-90D6-44AD-A574-921DBF0AEA75}">
  <ds:schemaRefs>
    <ds:schemaRef ds:uri="http://schemas.microsoft.com/sharepoint/v3/contenttype/forms"/>
  </ds:schemaRefs>
</ds:datastoreItem>
</file>

<file path=customXml/itemProps2.xml><?xml version="1.0" encoding="utf-8"?>
<ds:datastoreItem xmlns:ds="http://schemas.openxmlformats.org/officeDocument/2006/customXml" ds:itemID="{21ED5AA0-35F4-4DC8-8A3D-5A232E87AC5B}">
  <ds:schemaRefs>
    <ds:schemaRef ds:uri="http://schemas.microsoft.com/office/2006/metadata/properties"/>
    <ds:schemaRef ds:uri="http://schemas.microsoft.com/office/infopath/2007/PartnerControls"/>
    <ds:schemaRef ds:uri="e8a20640-9d3c-485c-89f7-1d89e68889ec"/>
    <ds:schemaRef ds:uri="de8d1f3b-a4bd-481d-b3de-f96f62a9a352"/>
  </ds:schemaRefs>
</ds:datastoreItem>
</file>

<file path=customXml/itemProps3.xml><?xml version="1.0" encoding="utf-8"?>
<ds:datastoreItem xmlns:ds="http://schemas.openxmlformats.org/officeDocument/2006/customXml" ds:itemID="{35461A84-D368-4BC3-8A2A-1082FC806AD2}"/>
</file>

<file path=docProps/app.xml><?xml version="1.0" encoding="utf-8"?>
<Properties xmlns="http://schemas.openxmlformats.org/officeDocument/2006/extended-properties" xmlns:vt="http://schemas.openxmlformats.org/officeDocument/2006/docPropsVTypes">
  <TotalTime>730</TotalTime>
  <Words>946</Words>
  <Application>Microsoft Office PowerPoint</Application>
  <PresentationFormat>Widescreen</PresentationFormat>
  <Paragraphs>77</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Thème Office</vt:lpstr>
      <vt:lpstr>Bill 96</vt:lpstr>
      <vt:lpstr>Agenda</vt:lpstr>
      <vt:lpstr>What the law stipulates Article 45 of the French Language Charter</vt:lpstr>
      <vt:lpstr>What the law stipulates Articles 2984 and 3006 of the Civil Code of Quebec</vt:lpstr>
      <vt:lpstr>Policies and Guideline</vt:lpstr>
      <vt:lpstr>How to determine if Bill 96 applies</vt:lpstr>
      <vt:lpstr>Guidelines</vt:lpstr>
      <vt:lpstr>Guidelines</vt:lpstr>
      <vt:lpstr>Guidelines</vt:lpstr>
      <vt:lpstr>Translation tools</vt:lpstr>
      <vt:lpstr> Potential consequences of non-compliance with the law: </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Mélanie Piché</dc:creator>
  <cp:lastModifiedBy>Mélanie Piché</cp:lastModifiedBy>
  <cp:revision>99</cp:revision>
  <dcterms:created xsi:type="dcterms:W3CDTF">2025-02-03T15:41:17Z</dcterms:created>
  <dcterms:modified xsi:type="dcterms:W3CDTF">2025-11-13T20:30:09Z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0x010100064442C3DA54004AA01E344097644DE4</vt:lpwstr>
  </property>
  <property fmtid="{D5CDD505-2E9C-101B-9397-08002B2CF9AE}" pid="3" name="MediaServiceImageTags">
    <vt:lpwstr/>
  </property>
</Properties>
</file>