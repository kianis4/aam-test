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0" r:id="rId6"/>
    <p:sldId id="259" r:id="rId7"/>
    <p:sldId id="265" r:id="rId8"/>
    <p:sldId id="261" r:id="rId9"/>
    <p:sldId id="266" r:id="rId10"/>
    <p:sldId id="258" r:id="rId11"/>
    <p:sldId id="267" r:id="rId12"/>
    <p:sldId id="268" r:id="rId13"/>
    <p:sldId id="269" r:id="rId14"/>
    <p:sldId id="257" r:id="rId15"/>
    <p:sldId id="262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208EE6-13E8-1E7F-AE68-7585E8AE008D}" v="4" dt="2025-10-23T18:04:42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élanie Piché" userId="S::mpiche@mhccna.com::444ecbfc-ca99-4bcd-9a70-0d706cd83004" providerId="AD" clId="Web-{E4208EE6-13E8-1E7F-AE68-7585E8AE008D}"/>
    <pc:docChg chg="modSld">
      <pc:chgData name="Mélanie Piché" userId="S::mpiche@mhccna.com::444ecbfc-ca99-4bcd-9a70-0d706cd83004" providerId="AD" clId="Web-{E4208EE6-13E8-1E7F-AE68-7585E8AE008D}" dt="2025-10-23T18:04:42.965" v="1" actId="20577"/>
      <pc:docMkLst>
        <pc:docMk/>
      </pc:docMkLst>
      <pc:sldChg chg="modSp">
        <pc:chgData name="Mélanie Piché" userId="S::mpiche@mhccna.com::444ecbfc-ca99-4bcd-9a70-0d706cd83004" providerId="AD" clId="Web-{E4208EE6-13E8-1E7F-AE68-7585E8AE008D}" dt="2025-10-23T18:04:42.965" v="1" actId="20577"/>
        <pc:sldMkLst>
          <pc:docMk/>
          <pc:sldMk cId="2919584216" sldId="266"/>
        </pc:sldMkLst>
        <pc:spChg chg="mod">
          <ac:chgData name="Mélanie Piché" userId="S::mpiche@mhccna.com::444ecbfc-ca99-4bcd-9a70-0d706cd83004" providerId="AD" clId="Web-{E4208EE6-13E8-1E7F-AE68-7585E8AE008D}" dt="2025-10-23T18:04:42.965" v="1" actId="20577"/>
          <ac:spMkLst>
            <pc:docMk/>
            <pc:sldMk cId="2919584216" sldId="266"/>
            <ac:spMk id="3" creationId="{59D6E76D-03C5-120F-48E6-2B1E7AF1FD7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671D8E-CCF6-8913-B29E-32365FFDC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636E3EF-ABFB-115D-FE71-270FB0FC4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32815-F39D-E548-38C3-35490813A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76AC-1065-4D08-9E88-39EDE1BFE096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9541F7-6DBC-5C7B-8C89-0B8F2D0BD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209CA6-E71E-23FD-6278-AF506AC49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DA08-68F5-4A41-970B-93B22FEE1028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00685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964906-50C4-8B41-4085-86B269E31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2757E9-ABFC-FCC3-ADF7-CE983953F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58108B-D9CF-AD39-F242-E800022FA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76AC-1065-4D08-9E88-39EDE1BFE096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E823D6-B17C-D6BE-B375-16A199F2E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CE8A26-61A1-C723-E75B-F0BE1F7FE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DA08-68F5-4A41-970B-93B22FEE1028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86697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8A6BE7-4378-DD34-D7A9-971E36113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846641-4A61-D3FF-2EDD-CB61DF721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6EFEAF-7CF9-2ECB-8197-93FC0B40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76AC-1065-4D08-9E88-39EDE1BFE096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5DCFE5-94B3-E8B6-4F1F-C7040476C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222DA4-AF20-BB5D-7CAA-8171DFCA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DA08-68F5-4A41-970B-93B22FEE1028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45192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6AE1EA-1FA2-2C60-CA4E-66CB79F99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6D87AD-4EB8-1918-227D-4DE7E82BF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11988EE-EFCD-872C-2AEF-9D7247985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DC0D0C-68F0-B0DD-212F-9F6689A3E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76AC-1065-4D08-9E88-39EDE1BFE096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6CB25A-BCBD-E343-05B2-77D51B53B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C87E6C8-E2BB-37AC-ACF2-00D2FB41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DA08-68F5-4A41-970B-93B22FEE1028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38588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BA26BD-43C4-D6F5-8D9A-534A720B7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7A0F4D6-D132-274B-D1FB-62A0B4D62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8849F2D-B0F6-D7CE-5483-0D35DFDFC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4887D98-ECDE-3ED1-A9C8-AB744BBDA9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57B8A98-01CE-7F35-2804-0B6E8B3F59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F448A0B-8390-475C-69D0-AEB5702BA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76AC-1065-4D08-9E88-39EDE1BFE096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A26B07F-D495-3959-4FD7-B1BA92070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61E6ABD-9870-0331-1A56-5A4AFAC13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DA08-68F5-4A41-970B-93B22FEE1028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20309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CA4533-6457-884A-4C49-C3982D38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A92FFBB-0EEF-5104-39E9-0B666EFF4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76AC-1065-4D08-9E88-39EDE1BFE096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3A52D14-1CD8-CD80-A265-984E96E62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75F1B1-E30F-3069-89A2-B37C0934E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DA08-68F5-4A41-970B-93B22FEE1028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6359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B7028A2-1F0F-49AF-FA8E-A8CD0485D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76AC-1065-4D08-9E88-39EDE1BFE096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F998018-4059-4E98-0F2F-C022CAC0C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2AB8B3-0E88-79A5-9F1B-0AEC4B91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DA08-68F5-4A41-970B-93B22FEE1028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91870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3C2FF0-15EE-36AE-807C-726DDDB9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7420E8-791B-5CFE-CD19-2B27F7E95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574DAF6-4CDB-10BA-32F6-99482636A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877E40-59F4-A811-8986-25742EE21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76AC-1065-4D08-9E88-39EDE1BFE096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B2267C-FED6-F635-4A4D-C7B40D399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17AD7A-5B06-DB4E-0B30-539454D0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DA08-68F5-4A41-970B-93B22FEE1028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97794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53D964-9F88-1C16-4DC1-55E3D7A0A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44AC928-2580-D77D-0670-7BCB64070D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8A5439-B96A-5BFA-D1EF-9C9E18656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A0C597-9893-F32C-41F1-80BB1C4DA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76AC-1065-4D08-9E88-39EDE1BFE096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0B9E95F-EF2F-5631-F357-80CAB03D4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CE68BD-6E73-A2EB-FCE0-31FF705B6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DA08-68F5-4A41-970B-93B22FEE1028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685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BEE4A0-4CD2-B60A-2C66-91BD8BA6B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840C0A-24B3-83ED-0891-4C1AF2E8A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875E22-E13B-412B-B5BA-1AFB49BF2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76AC-1065-4D08-9E88-39EDE1BFE096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925F3A-0127-FF6C-9842-4BFBBFAA2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3D9636-E47B-186F-3BF7-AA6A486E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DA08-68F5-4A41-970B-93B22FEE1028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25790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A24E108-2030-7A56-7C70-2B9F26B638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E8A1327-9B18-7FD3-25D5-32C8AE46D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0DFB88-C016-4931-6622-474618D2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76AC-1065-4D08-9E88-39EDE1BFE096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A689A8-A00E-9B62-0F5B-029C46BBA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DB9286-D44D-EB7F-F874-1C5AAAE4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DA08-68F5-4A41-970B-93B22FEE1028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54348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8801D69-BF40-1097-B419-272C9C83C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F0150CF-CE89-3D4E-3878-A62A3EA3A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CF3560-30FF-2EAF-D9F9-B058946B41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9976AC-1065-4D08-9E88-39EDE1BFE096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27DD1C-F247-023F-AACD-476844F56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8F0019-8600-D530-82FC-1AD676861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6CDA08-68F5-4A41-970B-93B22FEE1028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3190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vitrinelinguistique.oqlf.gouv.qc.ca/" TargetMode="External"/><Relationship Id="rId2" Type="http://schemas.openxmlformats.org/officeDocument/2006/relationships/hyperlink" Target="https://www.mhccna.com/fr-ca/landing/glossaire?oft_id=107&amp;oft_k=m4W16Ihp&amp;oft_lk=nr2Vjs&amp;oft_d=638029080779200000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btb.termiumplus.gc.ca/tpv2alpha/alpha-eng.html?lang=eng&amp;i=1&amp;srchtxt=originator&amp;codom2nd_wet=1#resultrec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Rectangle 1045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B53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208B81-8543-818F-ECD6-AFB75991F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Loi 96</a:t>
            </a:r>
          </a:p>
        </p:txBody>
      </p:sp>
      <p:pic>
        <p:nvPicPr>
          <p:cNvPr id="1028" name="Picture 4" descr="Fleur De Lys Quebec Images – Browse 505 Stock Photos, Vectors, and Video |  Adobe Stock">
            <a:extLst>
              <a:ext uri="{FF2B5EF4-FFF2-40B4-BE49-F238E27FC236}">
                <a16:creationId xmlns:a16="http://schemas.microsoft.com/office/drawing/2014/main" id="{DCE6E5C4-6818-5524-4D1E-D8F6076B0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243391"/>
            <a:ext cx="7188199" cy="4367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DA8AA45-9A8C-6B61-C5AF-844CC1FC752E}"/>
              </a:ext>
            </a:extLst>
          </p:cNvPr>
          <p:cNvSpPr txBox="1"/>
          <p:nvPr/>
        </p:nvSpPr>
        <p:spPr>
          <a:xfrm>
            <a:off x="7354431" y="5975287"/>
            <a:ext cx="401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i="1" dirty="0">
                <a:solidFill>
                  <a:srgbClr val="C00000"/>
                </a:solidFill>
              </a:rPr>
              <a:t>Pour faire le point après plus d’un an</a:t>
            </a:r>
          </a:p>
        </p:txBody>
      </p:sp>
    </p:spTree>
    <p:extLst>
      <p:ext uri="{BB962C8B-B14F-4D97-AF65-F5344CB8AC3E}">
        <p14:creationId xmlns:p14="http://schemas.microsoft.com/office/powerpoint/2010/main" val="227886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25882-A861-0BB4-657E-5A7A6B615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32ACB7D-8C5B-920A-123A-7AF5CD216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78FF167A-2CEF-4DB0-EE35-42637F6AB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5AE3B4-5682-CE3A-352A-B05BAE9A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41DA59-85FA-701F-E134-8E1198DE9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fr-CA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 de la 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F3B07C-6912-AB2F-E549-B69E40EAE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669083"/>
            <a:ext cx="8074815" cy="3100781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que dit la loi </a:t>
            </a:r>
          </a:p>
          <a:p>
            <a:pPr>
              <a:lnSpc>
                <a:spcPct val="100000"/>
              </a:lnSpc>
            </a:pPr>
            <a:r>
              <a:rPr 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Politiques internes</a:t>
            </a:r>
          </a:p>
          <a:p>
            <a:pPr>
              <a:lnSpc>
                <a:spcPct val="100000"/>
              </a:lnSpc>
            </a:pPr>
            <a:r>
              <a:rPr 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 déterminer si la loi s’applique</a:t>
            </a:r>
          </a:p>
          <a:p>
            <a:pPr>
              <a:lnSpc>
                <a:spcPct val="100000"/>
              </a:lnSpc>
            </a:pPr>
            <a:r>
              <a:rPr 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Directives d’application</a:t>
            </a:r>
          </a:p>
          <a:p>
            <a:pPr>
              <a:lnSpc>
                <a:spcPct val="100000"/>
              </a:lnSpc>
            </a:pPr>
            <a:r>
              <a:rPr 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Conséquences de non-respect</a:t>
            </a:r>
          </a:p>
          <a:p>
            <a:pPr>
              <a:lnSpc>
                <a:spcPct val="100000"/>
              </a:lnSpc>
            </a:pPr>
            <a:r>
              <a:rPr 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  <a:p>
            <a:pPr marL="0" indent="0">
              <a:buNone/>
            </a:pPr>
            <a:endParaRPr lang="fr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A" sz="2400" dirty="0"/>
          </a:p>
        </p:txBody>
      </p:sp>
    </p:spTree>
    <p:extLst>
      <p:ext uri="{BB962C8B-B14F-4D97-AF65-F5344CB8AC3E}">
        <p14:creationId xmlns:p14="http://schemas.microsoft.com/office/powerpoint/2010/main" val="766492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5596D41-0EC5-6689-1654-F728E5623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87" y="386930"/>
            <a:ext cx="11454594" cy="1298448"/>
          </a:xfrm>
        </p:spPr>
        <p:txBody>
          <a:bodyPr anchor="b">
            <a:normAutofit/>
          </a:bodyPr>
          <a:lstStyle/>
          <a:p>
            <a:r>
              <a:rPr lang="fr-CA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que dit la loi </a:t>
            </a:r>
            <a:br>
              <a:rPr lang="fr-CA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A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Article 45 de la Charte de langue Française</a:t>
            </a:r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Image 1" descr="Ville de Candiac - Loi 96 – Utilisation du français">
            <a:extLst>
              <a:ext uri="{FF2B5EF4-FFF2-40B4-BE49-F238E27FC236}">
                <a16:creationId xmlns:a16="http://schemas.microsoft.com/office/drawing/2014/main" id="{D70768F9-0BF9-BAC6-D5BB-8F2D4A79E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43311" y="2560745"/>
            <a:ext cx="3484775" cy="232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5" name="Rectangle 308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Image 7">
            <a:extLst>
              <a:ext uri="{FF2B5EF4-FFF2-40B4-BE49-F238E27FC236}">
                <a16:creationId xmlns:a16="http://schemas.microsoft.com/office/drawing/2014/main" id="{8821F076-2790-07FD-1D87-2BEB1E624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9" y="2203078"/>
            <a:ext cx="5933612" cy="3488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82B8F36A-D992-4D7A-4349-83A9BA2C2A0F}"/>
              </a:ext>
            </a:extLst>
          </p:cNvPr>
          <p:cNvSpPr txBox="1"/>
          <p:nvPr/>
        </p:nvSpPr>
        <p:spPr>
          <a:xfrm>
            <a:off x="1077363" y="5691784"/>
            <a:ext cx="517858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050" dirty="0"/>
              <a:t>*Extrait de Projet de loi no 96 </a:t>
            </a:r>
          </a:p>
          <a:p>
            <a:r>
              <a:rPr lang="fr-CA" sz="1050" dirty="0"/>
              <a:t>«LOI SUR LA LANGUE OFFICIELLE ET COMMUNE DU QUÉBEC, LE FRANÇAIS»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F7AF515-4BB5-BE40-505F-D029AA0A9F8D}"/>
              </a:ext>
            </a:extLst>
          </p:cNvPr>
          <p:cNvSpPr/>
          <p:nvPr/>
        </p:nvSpPr>
        <p:spPr>
          <a:xfrm>
            <a:off x="2381061" y="3159659"/>
            <a:ext cx="398353" cy="14485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0313E2E-B8AB-164B-22EC-5AE8727EA56A}"/>
              </a:ext>
            </a:extLst>
          </p:cNvPr>
          <p:cNvSpPr/>
          <p:nvPr/>
        </p:nvSpPr>
        <p:spPr>
          <a:xfrm>
            <a:off x="2221724" y="3304515"/>
            <a:ext cx="557690" cy="12448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19DAEED7-A014-B66B-4D75-59E950701EB1}"/>
              </a:ext>
            </a:extLst>
          </p:cNvPr>
          <p:cNvCxnSpPr>
            <a:stCxn id="8" idx="6"/>
          </p:cNvCxnSpPr>
          <p:nvPr/>
        </p:nvCxnSpPr>
        <p:spPr>
          <a:xfrm>
            <a:off x="2779414" y="3232087"/>
            <a:ext cx="4599160" cy="220904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FF4DB0D4-9CC5-B3B0-FC03-56388E5D3919}"/>
              </a:ext>
            </a:extLst>
          </p:cNvPr>
          <p:cNvCxnSpPr>
            <a:stCxn id="9" idx="6"/>
          </p:cNvCxnSpPr>
          <p:nvPr/>
        </p:nvCxnSpPr>
        <p:spPr>
          <a:xfrm>
            <a:off x="2779414" y="3366758"/>
            <a:ext cx="4663897" cy="255420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678883A0-C9D8-F650-1FF5-89D04024E93A}"/>
              </a:ext>
            </a:extLst>
          </p:cNvPr>
          <p:cNvSpPr txBox="1"/>
          <p:nvPr/>
        </p:nvSpPr>
        <p:spPr>
          <a:xfrm>
            <a:off x="7443311" y="5294939"/>
            <a:ext cx="37119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300" dirty="0">
                <a:solidFill>
                  <a:srgbClr val="C00000"/>
                </a:solidFill>
              </a:rPr>
              <a:t>Le contrat FR doit être envoyé </a:t>
            </a:r>
            <a:r>
              <a:rPr lang="fr-CA" sz="1300" b="1" u="sng" dirty="0">
                <a:solidFill>
                  <a:srgbClr val="C00000"/>
                </a:solidFill>
              </a:rPr>
              <a:t>avant</a:t>
            </a:r>
            <a:r>
              <a:rPr lang="fr-CA" sz="1300" dirty="0">
                <a:solidFill>
                  <a:srgbClr val="C00000"/>
                </a:solidFill>
              </a:rPr>
              <a:t> celui en EN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26DBAE6-F53E-39AF-715D-900B7587F4EC}"/>
              </a:ext>
            </a:extLst>
          </p:cNvPr>
          <p:cNvSpPr txBox="1"/>
          <p:nvPr/>
        </p:nvSpPr>
        <p:spPr>
          <a:xfrm>
            <a:off x="7455957" y="5753339"/>
            <a:ext cx="37119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300" dirty="0">
                <a:solidFill>
                  <a:srgbClr val="C00000"/>
                </a:solidFill>
              </a:rPr>
              <a:t>Le client doit </a:t>
            </a:r>
            <a:r>
              <a:rPr lang="fr-CA" sz="1300" b="1" u="sng" dirty="0">
                <a:solidFill>
                  <a:srgbClr val="C00000"/>
                </a:solidFill>
              </a:rPr>
              <a:t>ensuite</a:t>
            </a:r>
            <a:r>
              <a:rPr lang="fr-CA" sz="1300" dirty="0">
                <a:solidFill>
                  <a:srgbClr val="C00000"/>
                </a:solidFill>
              </a:rPr>
              <a:t> mentionner </a:t>
            </a:r>
            <a:r>
              <a:rPr lang="fr-CA" sz="1300" b="1" u="sng" dirty="0">
                <a:solidFill>
                  <a:srgbClr val="C00000"/>
                </a:solidFill>
              </a:rPr>
              <a:t>expressément</a:t>
            </a:r>
            <a:r>
              <a:rPr lang="fr-CA" sz="1300" dirty="0">
                <a:solidFill>
                  <a:srgbClr val="C00000"/>
                </a:solidFill>
              </a:rPr>
              <a:t> sa préférence pour l’EN </a:t>
            </a:r>
          </a:p>
        </p:txBody>
      </p:sp>
    </p:spTree>
    <p:extLst>
      <p:ext uri="{BB962C8B-B14F-4D97-AF65-F5344CB8AC3E}">
        <p14:creationId xmlns:p14="http://schemas.microsoft.com/office/powerpoint/2010/main" val="2567089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13082-4E2F-4E6C-0C4F-2D79D7C49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C89F0B0F-203A-F80B-2506-4A039F379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CF73C16A-D21B-BA36-8431-F45037D15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4D82DD29-057A-8B68-4CF8-FC69C8B59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Image 1" descr="Ville de Candiac - Loi 96 – Utilisation du français">
            <a:extLst>
              <a:ext uri="{FF2B5EF4-FFF2-40B4-BE49-F238E27FC236}">
                <a16:creationId xmlns:a16="http://schemas.microsoft.com/office/drawing/2014/main" id="{E555133A-5BC4-F961-D983-42FB60618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77528" y="2479960"/>
            <a:ext cx="3322116" cy="221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5" name="Rectangle 3084">
            <a:extLst>
              <a:ext uri="{FF2B5EF4-FFF2-40B4-BE49-F238E27FC236}">
                <a16:creationId xmlns:a16="http://schemas.microsoft.com/office/drawing/2014/main" id="{95A19BC4-42B3-2B58-AA0A-5EE699C13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1395973-460B-B4B6-16DF-E400B9F9E62E}"/>
              </a:ext>
            </a:extLst>
          </p:cNvPr>
          <p:cNvSpPr txBox="1"/>
          <p:nvPr/>
        </p:nvSpPr>
        <p:spPr>
          <a:xfrm>
            <a:off x="7476163" y="4811439"/>
            <a:ext cx="3918318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300" dirty="0">
                <a:solidFill>
                  <a:srgbClr val="C00000"/>
                </a:solidFill>
              </a:rPr>
              <a:t>Les publications au </a:t>
            </a:r>
            <a:r>
              <a:rPr lang="fr-CA" sz="1300" b="1" u="sng" dirty="0">
                <a:solidFill>
                  <a:srgbClr val="C00000"/>
                </a:solidFill>
              </a:rPr>
              <a:t>RDPRM</a:t>
            </a:r>
            <a:r>
              <a:rPr lang="fr-CA" sz="1300" dirty="0">
                <a:solidFill>
                  <a:srgbClr val="C00000"/>
                </a:solidFill>
              </a:rPr>
              <a:t> (PPSA au QC) doivent être faite entièrement en FR, même si le contrat est en anglais. </a:t>
            </a:r>
          </a:p>
          <a:p>
            <a:endParaRPr lang="fr-CA" sz="1300" dirty="0">
              <a:solidFill>
                <a:srgbClr val="C00000"/>
              </a:solidFill>
            </a:endParaRPr>
          </a:p>
          <a:p>
            <a:r>
              <a:rPr lang="fr-CA" sz="1300" dirty="0">
                <a:solidFill>
                  <a:srgbClr val="C00000"/>
                </a:solidFill>
              </a:rPr>
              <a:t>La description des biens au RDPRM doit concorder avec celle sur le contrat, d’où l’exigence de </a:t>
            </a:r>
            <a:r>
              <a:rPr lang="fr-CA" sz="1300" b="1" u="sng" dirty="0">
                <a:solidFill>
                  <a:srgbClr val="C00000"/>
                </a:solidFill>
              </a:rPr>
              <a:t>décrire les biens en français sur un contrat en anglais</a:t>
            </a:r>
            <a:r>
              <a:rPr lang="fr-CA" sz="1300" dirty="0">
                <a:solidFill>
                  <a:srgbClr val="C00000"/>
                </a:solidFill>
              </a:rPr>
              <a:t>. 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A52B0907-BB5F-4575-454C-6F0EBE492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87" y="386930"/>
            <a:ext cx="11454594" cy="1298448"/>
          </a:xfrm>
        </p:spPr>
        <p:txBody>
          <a:bodyPr anchor="b">
            <a:normAutofit/>
          </a:bodyPr>
          <a:lstStyle/>
          <a:p>
            <a:r>
              <a:rPr lang="fr-CA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que dit la loi </a:t>
            </a:r>
            <a:br>
              <a:rPr lang="fr-CA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A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Articles 2984 et 3006 du Code Civil du Québec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DD374061-FAD5-A16E-B594-3B59218C4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19" y="2722198"/>
            <a:ext cx="5753100" cy="1924050"/>
          </a:xfrm>
          <a:prstGeom prst="rect">
            <a:avLst/>
          </a:prstGeom>
        </p:spPr>
      </p:pic>
      <p:sp>
        <p:nvSpPr>
          <p:cNvPr id="17" name="Ellipse 16">
            <a:extLst>
              <a:ext uri="{FF2B5EF4-FFF2-40B4-BE49-F238E27FC236}">
                <a16:creationId xmlns:a16="http://schemas.microsoft.com/office/drawing/2014/main" id="{31409144-4E2F-A9BF-01C0-89018D0ACA1D}"/>
              </a:ext>
            </a:extLst>
          </p:cNvPr>
          <p:cNvSpPr/>
          <p:nvPr/>
        </p:nvSpPr>
        <p:spPr>
          <a:xfrm>
            <a:off x="3598793" y="3299663"/>
            <a:ext cx="2037030" cy="37481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DFB41362-E1DD-2CBA-7C5D-C9C1980B5875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5635823" y="3487069"/>
            <a:ext cx="1785590" cy="14832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lipse 19">
            <a:extLst>
              <a:ext uri="{FF2B5EF4-FFF2-40B4-BE49-F238E27FC236}">
                <a16:creationId xmlns:a16="http://schemas.microsoft.com/office/drawing/2014/main" id="{812A5CDF-CFA8-0C45-283A-FDB03DEB6FB4}"/>
              </a:ext>
            </a:extLst>
          </p:cNvPr>
          <p:cNvSpPr/>
          <p:nvPr/>
        </p:nvSpPr>
        <p:spPr>
          <a:xfrm>
            <a:off x="496919" y="4077457"/>
            <a:ext cx="2391136" cy="56879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AFE98EA1-190B-A2D8-A4E1-8F06C399CE24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2888055" y="4361853"/>
            <a:ext cx="4533358" cy="15591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755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966F94-8FE9-14A5-2033-D9655D661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fr-CA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Politiques internes applicables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9355EF-9384-1D48-22D9-74E1A3155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Toutes les informations relatives à la loi sont disponibles sur Audit </a:t>
            </a:r>
            <a:r>
              <a:rPr lang="fr-C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Board</a:t>
            </a:r>
            <a:r>
              <a:rPr 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sous Cross </a:t>
            </a:r>
            <a:r>
              <a:rPr lang="fr-C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Comply</a:t>
            </a:r>
            <a:r>
              <a:rPr 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se retrouvent dans:</a:t>
            </a:r>
          </a:p>
          <a:p>
            <a:endParaRPr lang="fr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Politique «Documentation and Security»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Politique de Validation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sur la qualité des documents</a:t>
            </a:r>
          </a:p>
          <a:p>
            <a:endParaRPr lang="fr-CA" sz="2400" dirty="0"/>
          </a:p>
        </p:txBody>
      </p:sp>
    </p:spTree>
    <p:extLst>
      <p:ext uri="{BB962C8B-B14F-4D97-AF65-F5344CB8AC3E}">
        <p14:creationId xmlns:p14="http://schemas.microsoft.com/office/powerpoint/2010/main" val="3272172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C9EBD-6180-68B2-43BF-AC9320A2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F0BF5733-7CFA-3397-709C-7AA8ADDDF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035F547-55D5-8F9C-E14F-D8DB879C8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 fontScale="90000"/>
          </a:bodyPr>
          <a:lstStyle/>
          <a:p>
            <a:r>
              <a:rPr lang="fr-CA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 déterminer si la Loi 96 s’applique</a:t>
            </a:r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6C2B3837-6A63-FE3B-B78F-52F68320D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182FE241-D9A9-A54D-9234-A8DA92490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ADDD5330-8761-B1AD-FCB3-2FB616CF2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9D6E76D-03C5-120F-48E6-2B1E7AF1FD7D}"/>
              </a:ext>
            </a:extLst>
          </p:cNvPr>
          <p:cNvSpPr txBox="1"/>
          <p:nvPr/>
        </p:nvSpPr>
        <p:spPr>
          <a:xfrm>
            <a:off x="108643" y="2259582"/>
            <a:ext cx="9641940" cy="45550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CA" dirty="0">
                <a:latin typeface="Times New Roman"/>
                <a:cs typeface="Times New Roman"/>
              </a:rPr>
              <a:t>Facteurs déterminant si un contrat est conclu au Québec et donc si la Loi 96 s’applique: </a:t>
            </a:r>
          </a:p>
          <a:p>
            <a:r>
              <a:rPr lang="fr-CA" dirty="0">
                <a:latin typeface="Times New Roman"/>
                <a:cs typeface="Times New Roman"/>
              </a:rPr>
              <a:t>(un de ceux-ci est suffisant)</a:t>
            </a:r>
            <a:endParaRPr lang="fr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client (entreprise) est basé au Québec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Siège social au Québec / Enregistré au Registraire des Entreprises du Québec (REQ) </a:t>
            </a:r>
          </a:p>
          <a:p>
            <a:pPr lvl="2"/>
            <a:endParaRPr lang="fr-C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signataire réside au Québec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du Québec / Adresse au Québec </a:t>
            </a:r>
          </a:p>
          <a:p>
            <a:pPr lvl="2"/>
            <a:endParaRPr lang="fr-C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L’Équipement sera utilisé et/ ou plaqué au Québec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y aura donc publication au RDPRM</a:t>
            </a:r>
          </a:p>
          <a:p>
            <a:pPr lvl="1"/>
            <a:endParaRPr lang="fr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caution personnelle intervient au contrat et réside au Québec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processus de la loi 96 est à respecter, pour le contrat et le document de cautionnement (avec la caution et non le client-si ce dernier n’est pas au Québec)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fr-C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A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La loi ne s’applique pas pour un vendeur </a:t>
            </a:r>
            <a:r>
              <a:rPr lang="fr-CA" sz="16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Québecois</a:t>
            </a:r>
            <a:r>
              <a:rPr lang="fr-CA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qui signe un SSC, une Convention de Rachat, etc.</a:t>
            </a:r>
            <a:endParaRPr lang="fr-CA" sz="1600" i="1" dirty="0">
              <a:solidFill>
                <a:srgbClr val="C00000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919584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1C4CBC5-95AD-2C24-9356-D74685BA9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81743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Directives </a:t>
            </a:r>
            <a:r>
              <a:rPr lang="en-US" sz="4800" b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d’application</a:t>
            </a:r>
            <a:r>
              <a:rPr lang="en-US" sz="48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en-US" sz="4800" b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loi</a:t>
            </a:r>
            <a:endParaRPr lang="en-US" sz="4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C79198-BD82-3175-B5B5-E0A70D575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5028" y="3122024"/>
            <a:ext cx="9941319" cy="3637608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fr-CA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accepter un contrat en Anglais conclu au Québec, il nous faudra au dossier : 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eriod"/>
            </a:pPr>
            <a:r>
              <a:rPr lang="fr-CA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Preuve que le client a reçu la version française en premier puis qu’il a demandé d’avoir la version anglophone</a:t>
            </a:r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Preuve acceptée : </a:t>
            </a:r>
            <a:r>
              <a:rPr lang="fr-CA" sz="1600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chaine de courriel </a:t>
            </a:r>
            <a:r>
              <a:rPr lang="fr-C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provenant du </a:t>
            </a:r>
            <a:r>
              <a:rPr lang="fr-CA" sz="1600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fr-C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avec la mention qu’il préfère la V.A. à la V.F. avec la /les copie/s de </a:t>
            </a:r>
            <a:r>
              <a:rPr lang="fr-CA" sz="1600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contrats joints et vérifiables </a:t>
            </a:r>
            <a:r>
              <a:rPr lang="fr-C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(où on peut cliquer et ouvrir la p.-j.).</a:t>
            </a:r>
          </a:p>
          <a:p>
            <a:pPr lvl="2">
              <a:lnSpc>
                <a:spcPct val="120000"/>
              </a:lnSpc>
            </a:pPr>
            <a:endParaRPr lang="fr-CA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+mj-lt"/>
              <a:buAutoNum type="arabicPeriod"/>
            </a:pPr>
            <a:r>
              <a:rPr lang="fr-CA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 de l’équipement en Français sur le contrat</a:t>
            </a:r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CA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Seules les marques/modèles peuvent être dans la version originale</a:t>
            </a:r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CA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Nous devons pouvoir prouver qu’il s’agit bien d’un nom de marque et/ou modèle</a:t>
            </a:r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CA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 nous avons l’acronyme « VIN » au lieu de « NIV » ou «SUV» pour «VUS» etc. par exemple, nous pouvons corriger manuellement nous-même sans retourner au client. Nous devons nous assurer que le tout est conforme au PPSA (FR)</a:t>
            </a:r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CA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Aucun retour au client n’est nécessaire pour paraphe dans les cas d’erreurs cléricales. Nous sommes en droit de faire ces corrections, basé sur la clause 3 de nos contrats.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eriod"/>
            </a:pPr>
            <a:endParaRPr lang="fr-CA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CA" sz="1700" b="0" i="0" u="sng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CA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227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B5D72A-5981-D12F-3100-3030EEA7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E35DD3A-D387-6E8C-ABCA-7CFF076E4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A021FC7-2C6A-9F95-F10E-5242CA936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15B2348-6A97-3030-07C8-98B6CD050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B76898F-CDC7-F622-BED3-55F2F86DD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9E6B8CF-F1D1-BF7B-5BC2-C19FE0F519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4021D5CE-B662-5224-5DBD-021560F54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6C42967-3C28-9FC6-018C-911D49B89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81743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Directives </a:t>
            </a:r>
            <a:r>
              <a:rPr lang="en-US" sz="4800" b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d’application</a:t>
            </a:r>
            <a:r>
              <a:rPr lang="en-US" sz="48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en-US" sz="4800" b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loi</a:t>
            </a:r>
            <a:r>
              <a:rPr lang="en-US" sz="48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(suite)</a:t>
            </a:r>
            <a:endParaRPr lang="en-US" sz="4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0F1A06-3ED3-E40E-17C3-FCFF9D4C4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5028" y="3122024"/>
            <a:ext cx="9941319" cy="36376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1">
              <a:lnSpc>
                <a:spcPct val="120000"/>
              </a:lnSpc>
            </a:pPr>
            <a:r>
              <a:rPr lang="fr-CA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Description de l’équipement en Français sur le contrat – Si le contrat réfère à une facture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C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Obtenir la facture en français;</a:t>
            </a:r>
          </a:p>
          <a:p>
            <a:pPr lvl="2"/>
            <a:r>
              <a:rPr lang="fr-C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CA" sz="1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C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 défaut d'obtenir la facture en français, la personne émettant le contrat doit préparer manuellement un Annexe A régulière avec la description en français </a:t>
            </a:r>
          </a:p>
          <a:p>
            <a:pPr lvl="2">
              <a:lnSpc>
                <a:spcPct val="120000"/>
              </a:lnSpc>
            </a:pPr>
            <a:endParaRPr lang="fr-CA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endParaRPr lang="fr-CA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CA" sz="1700" b="0" i="0" u="sng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CA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270825-96E1-7204-30DF-4794FDFB6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748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B0300-B65C-9B65-BFAD-F19E9BE6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D473B0F-E448-4339-47A9-EE09EBBB8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4BEC96D-5C4B-E3F8-D793-4FC16AA79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94C5B-C35E-D642-C280-AC46CD6C3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CEF8A3B-229C-2DD3-117A-510233AB6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B074EE6-A847-0C99-71FA-4381BECB5D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CBB0A96E-6622-F176-0653-BD0EA302C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A7D3E85-7400-F856-8E98-C7979A3DB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81743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Directives </a:t>
            </a:r>
            <a:r>
              <a:rPr lang="en-US" sz="4800" b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d’application</a:t>
            </a:r>
            <a:r>
              <a:rPr lang="en-US" sz="48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en-US" sz="4800" b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loi</a:t>
            </a:r>
            <a:r>
              <a:rPr lang="en-US" sz="48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(suite)</a:t>
            </a:r>
            <a:endParaRPr lang="en-US" sz="4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BAAC42-ADCF-A781-B56F-8AF8139B9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5028" y="3122024"/>
            <a:ext cx="9941319" cy="36376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1">
              <a:lnSpc>
                <a:spcPct val="120000"/>
              </a:lnSpc>
            </a:pPr>
            <a:r>
              <a:rPr lang="fr-CA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Rédaction complète du RDPRM/PPSA en français </a:t>
            </a: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Notre nom dans sa version francophone </a:t>
            </a: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le client a un nom </a:t>
            </a:r>
            <a:r>
              <a:rPr lang="fr-CA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légal</a:t>
            </a:r>
            <a:r>
              <a:rPr lang="fr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avec une version francophone, utiliser ce dernier (pas FASRS / DBA)</a:t>
            </a: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de l’équipement en FR </a:t>
            </a: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</a:t>
            </a:r>
            <a:r>
              <a:rPr lang="fr-C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Collateral</a:t>
            </a:r>
            <a:r>
              <a:rPr lang="fr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français </a:t>
            </a:r>
          </a:p>
          <a:p>
            <a:pPr lvl="2">
              <a:lnSpc>
                <a:spcPct val="120000"/>
              </a:lnSpc>
            </a:pPr>
            <a:endParaRPr lang="fr-CA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+mj-lt"/>
              <a:buAutoNum type="arabicPeriod"/>
            </a:pPr>
            <a:endParaRPr lang="fr-CA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CA" sz="1700" b="0" i="0" u="sng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CA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095A45E-7865-C1C4-7E59-ED7267215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7913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62F072-0BB2-9325-6ECA-4292673B9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3CA34A-05D4-F0D6-D392-11D42C20A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2F8D098-A552-2C3F-CAED-9C9B7E994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5F8D015-D91D-44FA-7BD9-A3DC8BC94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BE884F1-B5C8-AEBA-45AD-E9A25510A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C17039F-AA48-04E7-4E6A-67BC55022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4B976F3A-437D-348A-CBA9-5AA5A8579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2F0B07C-345C-25B4-732D-01C1E30D3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81743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Outils</a:t>
            </a:r>
            <a:r>
              <a:rPr lang="en-US" sz="48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800" b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traduction</a:t>
            </a:r>
            <a:endParaRPr lang="en-US" sz="4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C2D99EB-AE2F-5823-E68C-FD7080F39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0F88A2C-B92C-94F4-6BD1-E963DE74B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0661" y="3081701"/>
            <a:ext cx="10016905" cy="231416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500" dirty="0"/>
              <a:t>Glossaire interne : </a:t>
            </a:r>
            <a:r>
              <a:rPr lang="fr-CA" sz="2500" dirty="0">
                <a:hlinkClick r:id="rId2"/>
              </a:rPr>
              <a:t>Glossaire - Mitsubishi HC Capital</a:t>
            </a:r>
            <a:r>
              <a:rPr lang="fr-CA" sz="25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500" dirty="0"/>
              <a:t>Site Web de l’Office de la langue Française :</a:t>
            </a:r>
            <a:r>
              <a:rPr lang="fr-CA" sz="2500" dirty="0">
                <a:hlinkClick r:id="rId3"/>
              </a:rPr>
              <a:t>La Vitrine linguistique de l’Office québécois de la langue française</a:t>
            </a:r>
            <a:endParaRPr lang="fr-CA" sz="2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500" dirty="0"/>
              <a:t>Site Web de traduction Canadien : </a:t>
            </a:r>
            <a:r>
              <a:rPr lang="fr-CA" sz="2500" dirty="0">
                <a:hlinkClick r:id="rId4"/>
              </a:rPr>
              <a:t>TERMIUM Plus®</a:t>
            </a:r>
            <a:endParaRPr lang="fr-CA" sz="2500" dirty="0"/>
          </a:p>
        </p:txBody>
      </p:sp>
    </p:spTree>
    <p:extLst>
      <p:ext uri="{BB962C8B-B14F-4D97-AF65-F5344CB8AC3E}">
        <p14:creationId xmlns:p14="http://schemas.microsoft.com/office/powerpoint/2010/main" val="921967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46F7C3-840D-7CD3-E6BB-D47F70009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932" y="1555755"/>
            <a:ext cx="9856092" cy="3745853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lang="fr-CA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Enregistrement de mots non français : </a:t>
            </a:r>
            <a:r>
              <a:rPr lang="fr-CA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RDPRM pourrait refuser </a:t>
            </a: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notre demande d'enregistrement, nous serions informés trop tard, nous plaçant dans une situation non sécurisée avec un contrat financé non enregistré dans le délai de 7 jours.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Enregistrement en français au Québec mais un contrat avec une description d'équipement en anglais : </a:t>
            </a:r>
            <a:r>
              <a:rPr lang="fr-CA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incohérence</a:t>
            </a: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entre ce qui est sur le contrat et ce que nous enregistrons, ce qui affecte la </a:t>
            </a:r>
            <a:r>
              <a:rPr lang="fr-CA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validité</a:t>
            </a: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notre enregistrement et de notre contrat.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client ou une tierce partie pourrait </a:t>
            </a:r>
            <a:r>
              <a:rPr lang="fr-CA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invalider le contrat devant un tribunal </a:t>
            </a: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s'ils trouvent une faille dans l'application de la loi. Si cela entraîne l'invalidation du contrat par le tribunal, cela pourrait causer des remous sur le marché et créer un précédent.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L'OQLF</a:t>
            </a: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(Office Québécois de la langue Française) effectue de plus en plus </a:t>
            </a:r>
            <a:r>
              <a:rPr lang="fr-CA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d'audits et d'enquêtes </a:t>
            </a: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les entreprises pour s'assurer de leur conformité à la loi. Ils sont autorisés à infliger des </a:t>
            </a:r>
            <a:r>
              <a:rPr lang="fr-CA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amendes</a:t>
            </a: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allant jusqu'à 30 000 $.</a:t>
            </a:r>
          </a:p>
          <a:p>
            <a:endParaRPr lang="fr-C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6A398C11-169C-B99E-AA14-18A53F9C4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74272" cy="1325563"/>
          </a:xfrm>
        </p:spPr>
        <p:txBody>
          <a:bodyPr>
            <a:normAutofit fontScale="90000"/>
          </a:bodyPr>
          <a:lstStyle/>
          <a:p>
            <a:r>
              <a:rPr lang="fr-CA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Conséquences potentielles du non-respect des règles :</a:t>
            </a:r>
            <a:br>
              <a:rPr lang="fr-CA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CA" dirty="0"/>
          </a:p>
        </p:txBody>
      </p:sp>
      <p:sp>
        <p:nvSpPr>
          <p:cNvPr id="6" name="Bulle narrative : ronde 5">
            <a:extLst>
              <a:ext uri="{FF2B5EF4-FFF2-40B4-BE49-F238E27FC236}">
                <a16:creationId xmlns:a16="http://schemas.microsoft.com/office/drawing/2014/main" id="{87C3933A-976A-E82E-27D6-F0D2DAAF22FE}"/>
              </a:ext>
            </a:extLst>
          </p:cNvPr>
          <p:cNvSpPr/>
          <p:nvPr/>
        </p:nvSpPr>
        <p:spPr>
          <a:xfrm>
            <a:off x="7498257" y="5002647"/>
            <a:ext cx="3250194" cy="1555757"/>
          </a:xfrm>
          <a:prstGeom prst="wedgeEllipseCallou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5FACD28-D4E6-A641-3781-0DBEB3251161}"/>
              </a:ext>
            </a:extLst>
          </p:cNvPr>
          <p:cNvSpPr txBox="1"/>
          <p:nvPr/>
        </p:nvSpPr>
        <p:spPr>
          <a:xfrm>
            <a:off x="7743415" y="5270407"/>
            <a:ext cx="27598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i="1" dirty="0"/>
              <a:t>Non, toujours aucune jurisprudence pour nous indiquer comment les tribunaux interprètent cette Loi. </a:t>
            </a:r>
          </a:p>
        </p:txBody>
      </p:sp>
    </p:spTree>
    <p:extLst>
      <p:ext uri="{BB962C8B-B14F-4D97-AF65-F5344CB8AC3E}">
        <p14:creationId xmlns:p14="http://schemas.microsoft.com/office/powerpoint/2010/main" val="498468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180DE06-7362-4888-AADA-7AADD57AC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3B3E7D-C735-C9FC-62E2-F5937F080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1384" y="679730"/>
            <a:ext cx="4171994" cy="39327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</p:txBody>
      </p:sp>
      <p:grpSp>
        <p:nvGrpSpPr>
          <p:cNvPr id="40" name="Group 23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2218698" y="2733627"/>
            <a:ext cx="1340409" cy="5777807"/>
            <a:chOff x="329184" y="2"/>
            <a:chExt cx="524256" cy="5777807"/>
          </a:xfrm>
        </p:grpSpPr>
        <p:cxnSp>
          <p:nvCxnSpPr>
            <p:cNvPr id="41" name="Straight Connector 24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372533"/>
            <a:ext cx="6116779" cy="606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AA7E2574-15BF-B504-B026-1BE7580F1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597" y="624585"/>
            <a:ext cx="5608830" cy="560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714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a20640-9d3c-485c-89f7-1d89e68889ec" xsi:nil="true"/>
    <lcf76f155ced4ddcb4097134ff3c332f xmlns="de8d1f3b-a4bd-481d-b3de-f96f62a9a35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4442C3DA54004AA01E344097644DE4" ma:contentTypeVersion="12" ma:contentTypeDescription="Create a new document." ma:contentTypeScope="" ma:versionID="7af49e90958fdc79abdced4e58990e2c">
  <xsd:schema xmlns:xsd="http://www.w3.org/2001/XMLSchema" xmlns:xs="http://www.w3.org/2001/XMLSchema" xmlns:p="http://schemas.microsoft.com/office/2006/metadata/properties" xmlns:ns2="de8d1f3b-a4bd-481d-b3de-f96f62a9a352" xmlns:ns3="e8a20640-9d3c-485c-89f7-1d89e68889ec" targetNamespace="http://schemas.microsoft.com/office/2006/metadata/properties" ma:root="true" ma:fieldsID="8cf8fff97fd7d30a2692de720e3a55a3" ns2:_="" ns3:_="">
    <xsd:import namespace="de8d1f3b-a4bd-481d-b3de-f96f62a9a352"/>
    <xsd:import namespace="e8a20640-9d3c-485c-89f7-1d89e68889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8d1f3b-a4bd-481d-b3de-f96f62a9a3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43e6210-2fa7-4e77-943a-e2e7fb6c88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20640-9d3c-485c-89f7-1d89e68889e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9503ab1-e41a-48f4-b0c9-3c105af3e6f5}" ma:internalName="TaxCatchAll" ma:showField="CatchAllData" ma:web="e8a20640-9d3c-485c-89f7-1d89e68889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B1AED7-C007-472B-BE5B-BC10D96B1C96}">
  <ds:schemaRefs>
    <ds:schemaRef ds:uri="http://schemas.microsoft.com/office/2006/metadata/properties"/>
    <ds:schemaRef ds:uri="http://schemas.microsoft.com/office/infopath/2007/PartnerControls"/>
    <ds:schemaRef ds:uri="e8a20640-9d3c-485c-89f7-1d89e68889ec"/>
    <ds:schemaRef ds:uri="de8d1f3b-a4bd-481d-b3de-f96f62a9a352"/>
  </ds:schemaRefs>
</ds:datastoreItem>
</file>

<file path=customXml/itemProps2.xml><?xml version="1.0" encoding="utf-8"?>
<ds:datastoreItem xmlns:ds="http://schemas.openxmlformats.org/officeDocument/2006/customXml" ds:itemID="{58C24599-5B7D-47DA-8231-F2E00A7E53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23096B-5CFB-4F7A-AA62-51D0B1461BB7}"/>
</file>

<file path=docProps/app.xml><?xml version="1.0" encoding="utf-8"?>
<Properties xmlns="http://schemas.openxmlformats.org/officeDocument/2006/extended-properties" xmlns:vt="http://schemas.openxmlformats.org/officeDocument/2006/docPropsVTypes">
  <TotalTime>2101</TotalTime>
  <Words>889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Thème Office</vt:lpstr>
      <vt:lpstr>Loi 96</vt:lpstr>
      <vt:lpstr>Agenda de la présentation</vt:lpstr>
      <vt:lpstr>Ce que dit la loi  Article 45 de la Charte de langue Française</vt:lpstr>
      <vt:lpstr>Ce que dit la loi  Articles 2984 et 3006 du Code Civil du Québec</vt:lpstr>
      <vt:lpstr>Politiques internes applicables</vt:lpstr>
      <vt:lpstr>Comment déterminer si la Loi 96 s’applique</vt:lpstr>
      <vt:lpstr>Directives d’application de la loi</vt:lpstr>
      <vt:lpstr>Directives d’application de la loi (suite)</vt:lpstr>
      <vt:lpstr>Directives d’application de la loi (suite)</vt:lpstr>
      <vt:lpstr>Outils de traduction</vt:lpstr>
      <vt:lpstr>Conséquences potentielles du non-respect des règles : 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Mélanie Piché</dc:creator>
  <cp:lastModifiedBy>Mélanie Piché</cp:lastModifiedBy>
  <cp:revision>77</cp:revision>
  <dcterms:created xsi:type="dcterms:W3CDTF">2025-02-03T15:41:17Z</dcterms:created>
  <dcterms:modified xsi:type="dcterms:W3CDTF">2025-10-23T18:04:43Z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0x010100064442C3DA54004AA01E344097644DE4</vt:lpwstr>
  </property>
  <property fmtid="{D5CDD505-2E9C-101B-9397-08002B2CF9AE}" pid="3" name="MediaServiceImageTags">
    <vt:lpwstr/>
  </property>
</Properties>
</file>