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121" d="100"/>
          <a:sy n="121" d="100"/>
        </p:scale>
        <p:origin x="192" y="-3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etitia Emmanuel" userId="f6802da9-84f8-4f56-a9df-a5530d9bf036" providerId="ADAL" clId="{8F4C2FD4-DAAE-4EFA-8826-A27618638B07}"/>
    <pc:docChg chg="modSld">
      <pc:chgData name="Laetitia Emmanuel" userId="f6802da9-84f8-4f56-a9df-a5530d9bf036" providerId="ADAL" clId="{8F4C2FD4-DAAE-4EFA-8826-A27618638B07}" dt="2026-02-17T12:29:02.846" v="34" actId="20577"/>
      <pc:docMkLst>
        <pc:docMk/>
      </pc:docMkLst>
      <pc:sldChg chg="modSp mod">
        <pc:chgData name="Laetitia Emmanuel" userId="f6802da9-84f8-4f56-a9df-a5530d9bf036" providerId="ADAL" clId="{8F4C2FD4-DAAE-4EFA-8826-A27618638B07}" dt="2026-02-17T12:23:14" v="32" actId="6549"/>
        <pc:sldMkLst>
          <pc:docMk/>
          <pc:sldMk cId="193234696" sldId="256"/>
        </pc:sldMkLst>
        <pc:spChg chg="mod">
          <ac:chgData name="Laetitia Emmanuel" userId="f6802da9-84f8-4f56-a9df-a5530d9bf036" providerId="ADAL" clId="{8F4C2FD4-DAAE-4EFA-8826-A27618638B07}" dt="2026-02-17T12:23:10.462" v="31" actId="20577"/>
          <ac:spMkLst>
            <pc:docMk/>
            <pc:sldMk cId="193234696" sldId="256"/>
            <ac:spMk id="2" creationId="{BE8A9FCD-3E33-891F-39A0-98286C1A78DB}"/>
          </ac:spMkLst>
        </pc:spChg>
        <pc:spChg chg="mod">
          <ac:chgData name="Laetitia Emmanuel" userId="f6802da9-84f8-4f56-a9df-a5530d9bf036" providerId="ADAL" clId="{8F4C2FD4-DAAE-4EFA-8826-A27618638B07}" dt="2026-02-17T12:23:14" v="32" actId="6549"/>
          <ac:spMkLst>
            <pc:docMk/>
            <pc:sldMk cId="193234696" sldId="256"/>
            <ac:spMk id="3" creationId="{EA7283AD-FE55-74A6-342C-8F12D01494BB}"/>
          </ac:spMkLst>
        </pc:spChg>
      </pc:sldChg>
      <pc:sldChg chg="modSp mod">
        <pc:chgData name="Laetitia Emmanuel" userId="f6802da9-84f8-4f56-a9df-a5530d9bf036" providerId="ADAL" clId="{8F4C2FD4-DAAE-4EFA-8826-A27618638B07}" dt="2026-02-17T12:29:02.846" v="34" actId="20577"/>
        <pc:sldMkLst>
          <pc:docMk/>
          <pc:sldMk cId="4199750287" sldId="257"/>
        </pc:sldMkLst>
        <pc:spChg chg="mod">
          <ac:chgData name="Laetitia Emmanuel" userId="f6802da9-84f8-4f56-a9df-a5530d9bf036" providerId="ADAL" clId="{8F4C2FD4-DAAE-4EFA-8826-A27618638B07}" dt="2026-02-17T12:29:02.846" v="34" actId="20577"/>
          <ac:spMkLst>
            <pc:docMk/>
            <pc:sldMk cId="4199750287" sldId="257"/>
            <ac:spMk id="8" creationId="{39F89FBB-2A67-5ECA-CCC8-D276C01DF4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5C0B3-4567-421B-A274-21EB88CBBE0B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E945C-BB44-4E36-8C98-BFEBF50C1F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0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1">
            <a:extLst>
              <a:ext uri="{FF2B5EF4-FFF2-40B4-BE49-F238E27FC236}">
                <a16:creationId xmlns:a16="http://schemas.microsoft.com/office/drawing/2014/main" id="{246D2032-6EB1-AA38-9C03-4EC05745DF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noFill/>
        </p:spPr>
        <p:txBody>
          <a:bodyPr lIns="360000" tIns="360000" rIns="360000" bIns="360000" anchor="t"/>
          <a:lstStyle>
            <a:lvl1pPr algn="l">
              <a:defRPr sz="5000">
                <a:solidFill>
                  <a:schemeClr val="bg2"/>
                </a:solidFill>
              </a:defRPr>
            </a:lvl1pPr>
          </a:lstStyle>
          <a:p>
            <a:r>
              <a:rPr lang="en-US"/>
              <a:t>Change the style of the title</a:t>
            </a:r>
            <a:endParaRPr lang="en-US" dirty="0"/>
          </a:p>
        </p:txBody>
      </p:sp>
      <p:sp>
        <p:nvSpPr>
          <p:cNvPr id="38" name="Sous-titre 2">
            <a:extLst>
              <a:ext uri="{FF2B5EF4-FFF2-40B4-BE49-F238E27FC236}">
                <a16:creationId xmlns:a16="http://schemas.microsoft.com/office/drawing/2014/main" id="{C7ACC6BC-9944-C510-373F-4D648FABA8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noFill/>
        </p:spPr>
        <p:txBody>
          <a:bodyPr lIns="360000" tIns="360000" rIns="360000" bIns="0" anchor="b"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Change the style of the mask subtitles</a:t>
            </a:r>
            <a:endParaRPr lang="en-US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4FB53285-AF96-6D5A-578C-081FDFA3D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322057"/>
            <a:ext cx="4530010" cy="1013184"/>
          </a:xfrm>
          <a:prstGeom prst="rect">
            <a:avLst/>
          </a:prstGeom>
        </p:spPr>
      </p:pic>
      <p:pic>
        <p:nvPicPr>
          <p:cNvPr id="40" name="Graphique 39">
            <a:extLst>
              <a:ext uri="{FF2B5EF4-FFF2-40B4-BE49-F238E27FC236}">
                <a16:creationId xmlns:a16="http://schemas.microsoft.com/office/drawing/2014/main" id="{19A63CAE-D959-E7CF-EEE5-3F5CEE43B4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3502" y="4838581"/>
            <a:ext cx="1592804" cy="1592803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0DA2037C-70D4-08BC-5BB4-3AAB77063B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3502" y="3100648"/>
            <a:ext cx="1592804" cy="1592803"/>
          </a:xfrm>
          <a:prstGeom prst="rect">
            <a:avLst/>
          </a:prstGeom>
        </p:spPr>
      </p:pic>
      <p:pic>
        <p:nvPicPr>
          <p:cNvPr id="42" name="Graphique 41">
            <a:extLst>
              <a:ext uri="{FF2B5EF4-FFF2-40B4-BE49-F238E27FC236}">
                <a16:creationId xmlns:a16="http://schemas.microsoft.com/office/drawing/2014/main" id="{806D06F9-7021-A252-08E3-84D25422BD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4838581"/>
            <a:ext cx="1592804" cy="1592803"/>
          </a:xfrm>
          <a:prstGeom prst="rect">
            <a:avLst/>
          </a:prstGeom>
        </p:spPr>
      </p:pic>
      <p:pic>
        <p:nvPicPr>
          <p:cNvPr id="43" name="Graphique 42">
            <a:extLst>
              <a:ext uri="{FF2B5EF4-FFF2-40B4-BE49-F238E27FC236}">
                <a16:creationId xmlns:a16="http://schemas.microsoft.com/office/drawing/2014/main" id="{5940BCC3-C3B3-9039-4AB4-C1971BA7E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3100648"/>
            <a:ext cx="1592804" cy="1592803"/>
          </a:xfrm>
          <a:prstGeom prst="rect">
            <a:avLst/>
          </a:prstGeom>
        </p:spPr>
      </p:pic>
      <p:sp>
        <p:nvSpPr>
          <p:cNvPr id="44" name="Espace réservé pour une image  18">
            <a:extLst>
              <a:ext uri="{FF2B5EF4-FFF2-40B4-BE49-F238E27FC236}">
                <a16:creationId xmlns:a16="http://schemas.microsoft.com/office/drawing/2014/main" id="{8021CF9D-D2ED-B291-9CE1-EE3F2AE989C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544882" y="3252027"/>
            <a:ext cx="1290045" cy="1290045"/>
          </a:xfrm>
          <a:prstGeom prst="roundRect">
            <a:avLst>
              <a:gd name="adj" fmla="val 8647"/>
            </a:avLst>
          </a:prstGeom>
        </p:spPr>
        <p:txBody>
          <a:bodyPr/>
          <a:lstStyle>
            <a:lvl1pPr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CA"/>
          </a:p>
        </p:txBody>
      </p:sp>
      <p:pic>
        <p:nvPicPr>
          <p:cNvPr id="45" name="Graphique 44">
            <a:extLst>
              <a:ext uri="{FF2B5EF4-FFF2-40B4-BE49-F238E27FC236}">
                <a16:creationId xmlns:a16="http://schemas.microsoft.com/office/drawing/2014/main" id="{C0DCF638-D783-DAD9-C2C4-3E988DB444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1362715"/>
            <a:ext cx="1592804" cy="1592803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5404ABE1-4F3E-265D-F710-89436939E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449" y="4838581"/>
            <a:ext cx="1592804" cy="15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E3941FB-BD47-4E2D-A65B-ECB8A32F4D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63638"/>
            <a:ext cx="12192000" cy="56943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25B8D23-EBCC-42C3-B6E5-754CF42CC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65E2AF0-1E25-4CAA-930E-55C1C448A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8DB4542-6795-46FA-8206-77BFA8E9F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112452"/>
            <a:ext cx="4530010" cy="10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9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F02C0-59AF-4611-9B8C-7D137DCF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71806"/>
            <a:ext cx="2923367" cy="1876169"/>
          </a:xfrm>
          <a:prstGeom prst="rect">
            <a:avLst/>
          </a:prstGeom>
          <a:noFill/>
        </p:spPr>
        <p:txBody>
          <a:bodyPr lIns="216000" tIns="36000" rIns="216000" bIns="18000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DEA4E8-6294-44D3-B0D9-41A92362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325" y="971809"/>
            <a:ext cx="8133693" cy="5205153"/>
          </a:xfrm>
          <a:prstGeom prst="rect">
            <a:avLst/>
          </a:prstGeom>
        </p:spPr>
        <p:txBody>
          <a:bodyPr lIns="180000" tIns="180000" rIns="180000" bIns="180000" numCol="2" spcCol="720000"/>
          <a:lstStyle>
            <a:lvl1pPr marL="514350" indent="-514350">
              <a:spcAft>
                <a:spcPts val="1200"/>
              </a:spcAft>
              <a:buClr>
                <a:schemeClr val="bg2"/>
              </a:buClr>
              <a:buSzPct val="105000"/>
              <a:buFont typeface="+mj-lt"/>
              <a:buAutoNum type="arabicPeriod"/>
              <a:defRPr sz="2400"/>
            </a:lvl1pPr>
            <a:lvl2pPr marL="9144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2000"/>
            </a:lvl2pPr>
            <a:lvl3pPr marL="13716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800"/>
            </a:lvl3pPr>
            <a:lvl4pPr marL="17145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4pPr>
            <a:lvl5pPr marL="21717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28ECB7-DE2C-473F-8CD3-E9567CED89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DBB548-FC81-4391-BD42-278C025F5132}"/>
              </a:ext>
            </a:extLst>
          </p:cNvPr>
          <p:cNvSpPr/>
          <p:nvPr userDrawn="1"/>
        </p:nvSpPr>
        <p:spPr>
          <a:xfrm>
            <a:off x="0" y="971807"/>
            <a:ext cx="419100" cy="52051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AA6D22C-9BA0-48C0-A8F1-64E2B33D5D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6900" y="2959100"/>
            <a:ext cx="2946400" cy="32178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DDBA5D20-298E-44EA-B2F2-D1684501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49E73B9-2A1B-E689-E27F-03DE9880FB93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</a:t>
            </a:r>
            <a:r>
              <a:rPr lang="en-US" sz="1000">
                <a:cs typeface="Calibri Light" panose="020F0302020204030204" pitchFamily="34" charset="0"/>
              </a:rPr>
              <a:t>Canada 2026. </a:t>
            </a:r>
            <a:r>
              <a:rPr lang="en-US" sz="1000" dirty="0">
                <a:cs typeface="Calibri Light" panose="020F0302020204030204" pitchFamily="34" charset="0"/>
              </a:rPr>
              <a:t>Tous droits </a:t>
            </a:r>
            <a:r>
              <a:rPr lang="en-US" sz="1000" dirty="0" err="1">
                <a:cs typeface="Calibri Light" panose="020F0302020204030204" pitchFamily="34" charset="0"/>
              </a:rPr>
              <a:t>réservés</a:t>
            </a:r>
            <a:r>
              <a:rPr lang="en-US" sz="1000" dirty="0">
                <a:cs typeface="Calibri Light" panose="020F0302020204030204" pitchFamily="34" charset="0"/>
              </a:rPr>
              <a:t>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15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D264B0F-C016-5FDF-0169-2798BC111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5397" y="2126232"/>
            <a:ext cx="2545571" cy="254557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5">
              <a:lumMod val="75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2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2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4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54EC37-01EB-33A8-D987-850541EEDF8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93D2985-4F6B-7282-69DC-775B60A85CAA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/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787D01FF-2EE0-57E3-1BB4-15D605E9B991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96BC23D-F34D-7803-EB17-6051D2649BE9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C1EDD5C1-194B-C446-E4CB-A1D5460823B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92903AE-3124-55EC-1FC2-74021A5F0AA8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5C1AAFA2-CA50-0C02-6B8C-382E6053A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9131B87-8E92-7D6D-57D4-386A1CA63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961C141D-750B-B5C0-1D6D-042AE830F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060" y="540181"/>
            <a:ext cx="2442363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box 3 col. content - contenu 3 col 2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911600" cy="4716463"/>
          </a:xfrm>
          <a:prstGeom prst="rect">
            <a:avLst/>
          </a:prstGeo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93A5E-7B93-48E8-B4F6-3D9D924A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D19DF6D4-C0F9-48BA-9108-2E36C363353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E774ADA-B0FB-478A-8A1E-1171D13518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3700" y="1460500"/>
            <a:ext cx="7696200" cy="4716463"/>
          </a:xfrm>
          <a:prstGeom prst="rect">
            <a:avLst/>
          </a:prstGeom>
          <a:noFill/>
        </p:spPr>
        <p:txBody>
          <a:bodyPr lIns="360000" tIns="360000" rIns="360000" bIns="360000" numCol="2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2D0FFB6-BEB0-415F-A818-09FB5CA0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0DD089-605C-D270-6133-B32A0147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2E86E8-D045-09C0-175D-CCA0D938573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22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ox content - contenu 3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619500" cy="47164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B483F5BC-E705-4594-8F69-A2584C3409B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8625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1BB7B1-4DA3-4707-88B2-30229628DC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8040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717A1FF6-DF5A-4BF6-8E12-711B6F95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E29BC-0AA9-3944-1875-DB6E3241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DBE3BDAB-B470-2A08-BDA3-7F02A6974E9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A1B5409-B357-CD2D-B6D6-DDE100C66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B41C91F-0E79-3968-8FFE-2C15F561D356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847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0/50 tex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9A3D40-84E1-4C94-948D-CEF3749013F5}"/>
              </a:ext>
            </a:extLst>
          </p:cNvPr>
          <p:cNvSpPr/>
          <p:nvPr userDrawn="1"/>
        </p:nvSpPr>
        <p:spPr>
          <a:xfrm>
            <a:off x="292100" y="1393050"/>
            <a:ext cx="5803900" cy="49061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156" y="17404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5156" y="2821264"/>
            <a:ext cx="5157787" cy="31731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725C576E-4E39-4450-9D29-69E336D99D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392793"/>
            <a:ext cx="5803900" cy="49061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911CC7C8-E969-47C4-BE69-A7BAB082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5430FF-6B70-F789-4A72-F705F986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C547173-FEB6-4D86-64C3-FCF89D585E6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9EA723-6A35-5BD3-C898-EA6B7B966E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F5B33DF-6E29-28FE-FB60-78A4EB87F21C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772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_text - 2/3_image-graph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4127500" cy="11599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2705099"/>
            <a:ext cx="41275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2495BEA-529C-47B8-880F-141CF8A9C88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762500" y="1392792"/>
            <a:ext cx="7137399" cy="4906150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48286AC-0A86-48CB-B688-74B85F26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F57F95-8001-9CFE-9AE3-49DF191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06246886-0A51-2FBD-6719-C623C4D1D51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58E407-2644-ACAB-B203-4AE184F7A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898637F-483D-C480-5C99-BF36508554D9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8100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highlight - souligne des donne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11584918" cy="237198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5164436"/>
            <a:ext cx="5473700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0AD63EF-8251-455A-943D-C2FBF900A7F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92101" y="4212194"/>
            <a:ext cx="5473700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100 %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AAB538C-D14A-4194-AAA0-6DEB9B616F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7786"/>
            <a:ext cx="0" cy="213171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5DB4C81D-79BB-49D1-AB60-DA24C66C686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26201" y="5164436"/>
            <a:ext cx="5450818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7F8EB1F-235F-4F56-9E3A-74E68BBEC6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26201" y="4212194"/>
            <a:ext cx="5450818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167,850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5A4D534E-EC4B-48BC-8640-B0D4BD66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236ED6-D1E2-63F0-B4A9-8AB9A447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5C0DDD9-7853-1165-8B84-AC2B12A6C8E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22DAEB-4939-4E55-0F0E-B5C1441EB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E68BA5A-96C0-487D-AC75-11AC9D9B7C2B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3423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-div horiz - 1/3_text - 2/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82D688-9ADA-45E9-9ACE-3DADFDFBF2F4}"/>
              </a:ext>
            </a:extLst>
          </p:cNvPr>
          <p:cNvSpPr/>
          <p:nvPr userDrawn="1"/>
        </p:nvSpPr>
        <p:spPr>
          <a:xfrm>
            <a:off x="317500" y="835285"/>
            <a:ext cx="4178300" cy="55591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1211BB4-2811-436C-9514-7F55B171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11252"/>
            <a:ext cx="3543300" cy="1314448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E63814-A83D-4A0A-A1D3-39D74B319EE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300" y="2527299"/>
            <a:ext cx="35433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B421EEB0-3132-4629-99A6-97E81BFCFD9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86300" y="83528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A6C2539-48DA-40FA-94CE-47852252C8B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86300" y="392773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DF5DD9E6-7603-4730-89E0-97650EE0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3213899-1856-36CB-A750-92B8E16D7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9A02993-F37D-5947-78FA-EF1848AA048A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4468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9648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11569933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94128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F67E45A-AF52-D15D-1C0A-35B8FDD1883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36484" y="1392222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55791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456AB99-2268-1DD0-944C-4809DC3BA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39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403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FDE6758D-0600-40A4-853E-8AB0568534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549901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D52F7B0-9496-478A-B66B-B0200484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2667000"/>
            <a:ext cx="4127500" cy="2527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360000" tIns="360000" rIns="360000" bIns="360000" anchor="t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1E0868-E46A-81B9-0EB7-3D28AC459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862195-07C7-A3A9-683B-7E9D660F2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1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6AE5122-ECEB-4DDC-82D8-6C0DDE11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1062592"/>
            <a:ext cx="4801357" cy="314110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A175F3C-65EF-04B2-D4C9-A6E93FBEA1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99563A-909E-8913-A231-61E8751AE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9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80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8" r:id="rId2"/>
    <p:sldLayoutId id="214748365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9" r:id="rId16"/>
    <p:sldLayoutId id="2147483690" r:id="rId17"/>
    <p:sldLayoutId id="2147483685" r:id="rId18"/>
    <p:sldLayoutId id="2147483691" r:id="rId19"/>
    <p:sldLayoutId id="2147483686" r:id="rId20"/>
    <p:sldLayoutId id="214748368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A9FCD-3E33-891F-39A0-98286C1A7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641" y="2781300"/>
            <a:ext cx="5694676" cy="2209800"/>
          </a:xfrm>
        </p:spPr>
        <p:txBody>
          <a:bodyPr/>
          <a:lstStyle/>
          <a:p>
            <a:r>
              <a:rPr lang="fr-CA" dirty="0" err="1"/>
              <a:t>Answers</a:t>
            </a:r>
            <a:r>
              <a:rPr lang="fr-CA" dirty="0"/>
              <a:t> to Most Common </a:t>
            </a:r>
            <a:r>
              <a:rPr lang="fr-CA" dirty="0" err="1"/>
              <a:t>Ojections</a:t>
            </a:r>
            <a:endParaRPr lang="fr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7283AD-FE55-74A6-342C-8F12D0149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41" y="4992174"/>
            <a:ext cx="5852331" cy="1439210"/>
          </a:xfrm>
        </p:spPr>
        <p:txBody>
          <a:bodyPr/>
          <a:lstStyle/>
          <a:p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D5A399BA-D168-B437-173B-6DD7190DE2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23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475BE2-F6E8-1F7C-C413-ED6C831F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9" y="224880"/>
            <a:ext cx="8382000" cy="542664"/>
          </a:xfrm>
        </p:spPr>
        <p:txBody>
          <a:bodyPr/>
          <a:lstStyle/>
          <a:p>
            <a:br>
              <a:rPr lang="en-CA" dirty="0"/>
            </a:br>
            <a:r>
              <a:rPr lang="en-CA" dirty="0"/>
              <a:t>Answers to Most Common Objections </a:t>
            </a:r>
            <a:br>
              <a:rPr lang="en-CA" dirty="0"/>
            </a:br>
            <a:endParaRPr lang="en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9F89FBB-2A67-5ECA-CCC8-D276C01DF46F}"/>
              </a:ext>
            </a:extLst>
          </p:cNvPr>
          <p:cNvSpPr txBox="1"/>
          <p:nvPr/>
        </p:nvSpPr>
        <p:spPr>
          <a:xfrm>
            <a:off x="207579" y="867104"/>
            <a:ext cx="11776842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600" b="1" i="0" u="sng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What’s your rate?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Well that’s exactly why I would like to meet you, since we offer tailor-made financing solutions, instead of flat rates.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Would you be available to meet either Monday afternoon or Wednesday morning?</a:t>
            </a:r>
          </a:p>
          <a:p>
            <a:pPr>
              <a:buNone/>
            </a:pPr>
            <a:endParaRPr lang="en-CA" sz="1600" b="0" i="0" dirty="0">
              <a:solidFill>
                <a:srgbClr val="525252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CA" sz="1600" b="1" i="0" u="sng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Let me call you when I have something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I understand you may not have anything to finance as we speak, and that’s why timing is great right now. When you will have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financing needs, you will already have an idea of what we can offer as attractive financing solutions to your clients.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So would you be available to meet either Wednesday morning or Thursday afternoon?</a:t>
            </a:r>
          </a:p>
          <a:p>
            <a:pPr>
              <a:buNone/>
            </a:pPr>
            <a:endParaRPr lang="en-CA" sz="1600" b="0" i="0" dirty="0">
              <a:solidFill>
                <a:srgbClr val="525252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CA" sz="1600" b="1" i="0" u="sng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I am not interested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I wasn’t expecting you to be interested out of the box. That’s why we should meet so you can see what we do and look how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we can implement our solutions to help your customers. Are you available on…?</a:t>
            </a:r>
          </a:p>
          <a:p>
            <a:pPr>
              <a:buNone/>
            </a:pPr>
            <a:endParaRPr lang="en-CA" sz="1600" b="0" i="0" dirty="0">
              <a:solidFill>
                <a:srgbClr val="525252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CA" sz="1600" b="1" i="0" u="sng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There has been a lot of changes in your company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This is true. With the huge expansion we had in the last 2 years, there has been a lot of changes in the company. Now that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everything is settled it is a great time to meet and take a look at the great new programs that’s we have in place. Are you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available on…?</a:t>
            </a:r>
          </a:p>
          <a:p>
            <a:pPr>
              <a:buNone/>
            </a:pPr>
            <a:endParaRPr lang="en-CA" sz="1600" b="0" i="0" dirty="0">
              <a:solidFill>
                <a:srgbClr val="525252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CA" sz="1600" b="1" i="0" u="sng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I had a bad experience with Hitachi Capital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I’m sorry to hear that. We’ve been trough an important growth in the company for the last years and we work hard to fix it. I’d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like to meet you and show you how we improved our operations process.</a:t>
            </a:r>
            <a:r>
              <a:rPr lang="en-CA" sz="1600" dirty="0"/>
              <a:t> </a:t>
            </a:r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9750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208D-DF7D-F234-3FFE-D1F7D3D9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2B6CED-D98D-C8CE-8B7F-149FE3123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9" y="224880"/>
            <a:ext cx="8382000" cy="542664"/>
          </a:xfrm>
        </p:spPr>
        <p:txBody>
          <a:bodyPr/>
          <a:lstStyle/>
          <a:p>
            <a:br>
              <a:rPr lang="en-CA" dirty="0"/>
            </a:br>
            <a:r>
              <a:rPr lang="en-CA" dirty="0"/>
              <a:t>Answers to Most Common Objections </a:t>
            </a:r>
            <a:br>
              <a:rPr lang="en-CA" dirty="0"/>
            </a:br>
            <a:endParaRPr lang="en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B1151C-B98B-1B7F-D539-F359222C7B2F}"/>
              </a:ext>
            </a:extLst>
          </p:cNvPr>
          <p:cNvSpPr txBox="1"/>
          <p:nvPr/>
        </p:nvSpPr>
        <p:spPr>
          <a:xfrm>
            <a:off x="207579" y="867104"/>
            <a:ext cx="11776842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600" b="1" u="sng" dirty="0">
                <a:solidFill>
                  <a:srgbClr val="525252"/>
                </a:solidFill>
                <a:latin typeface="Arial" panose="020B0604020202020204" pitchFamily="34" charset="0"/>
              </a:rPr>
              <a:t>I don’t have time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Yes, I understand how valuable your time is. As I mentioned earlier, Hitachi Capital focuses on tailor made financing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solutions customized for your customer’s needs. By investing a small amount of your time talking with me, I am confident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you will be able to save far more time for your customers with the quality products we offer that I would like to tell you about.</a:t>
            </a:r>
          </a:p>
          <a:p>
            <a:pPr>
              <a:buNone/>
            </a:pPr>
            <a:endParaRPr lang="en-CA" sz="1600" b="0" i="0" dirty="0">
              <a:solidFill>
                <a:srgbClr val="525252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CA" sz="1600" b="1" i="0" u="sng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I have other companies I finance with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That’s a good thing! Every company should have several financing options that allows you to offer the most to your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customers. If you give me a few minutes, I’d love to sit down together to explain how Hitachi Capital can provide your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customers with added value to service all of their financing needs.</a:t>
            </a:r>
          </a:p>
          <a:p>
            <a:pPr>
              <a:buNone/>
            </a:pPr>
            <a:endParaRPr lang="en-CA" sz="1600" b="0" i="0" dirty="0">
              <a:solidFill>
                <a:srgbClr val="525252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Great! This will give you a good sense of how financing companies like Hitachi Capital operate. I would love to sit together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and explain some of the ways our products can be customized to service the areas that your current lenders can’t!</a:t>
            </a:r>
          </a:p>
          <a:p>
            <a:pPr>
              <a:buNone/>
            </a:pPr>
            <a:endParaRPr lang="en-CA" sz="1600" b="0" i="0" dirty="0">
              <a:solidFill>
                <a:srgbClr val="525252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CA" sz="1600" b="1" i="0" u="sng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Our customer pay cash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Yes, I understand some customers can pay cash. But there are also lots of benefits of financing. I would like to sit with you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and discuss the benefits your customer can get from financing their purchase. Can we meet next Monday?</a:t>
            </a:r>
          </a:p>
          <a:p>
            <a:pPr>
              <a:buNone/>
            </a:pPr>
            <a:endParaRPr lang="en-CA" sz="1600" b="0" i="0" dirty="0">
              <a:solidFill>
                <a:srgbClr val="525252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CA" sz="1600" b="1" i="0" u="sng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Please send me document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Yes, I will. But I want to optimize your time by going through the information together and have all your questions addressed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immediately. Hitachi capital can develop a very customized solution to help you grow your business. I will be in your area</a:t>
            </a:r>
          </a:p>
          <a:p>
            <a:pPr>
              <a:buNone/>
            </a:pPr>
            <a:r>
              <a:rPr lang="en-CA" sz="1600" b="0" i="0" dirty="0">
                <a:solidFill>
                  <a:srgbClr val="525252"/>
                </a:solidFill>
                <a:effectLst/>
                <a:latin typeface="Arial" panose="020B0604020202020204" pitchFamily="34" charset="0"/>
              </a:rPr>
              <a:t>next Monday. Can we meet then</a:t>
            </a:r>
            <a:r>
              <a:rPr lang="en-CA" sz="1600" dirty="0"/>
              <a:t> </a:t>
            </a:r>
            <a:r>
              <a:rPr lang="en-CA" sz="1600" dirty="0">
                <a:solidFill>
                  <a:srgbClr val="525252"/>
                </a:solidFill>
                <a:latin typeface="Arial" panose="020B0604020202020204" pitchFamily="34" charset="0"/>
              </a:rPr>
              <a:t>?</a:t>
            </a:r>
            <a:br>
              <a:rPr lang="en-CA" sz="1600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52245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HCCNA">
      <a:dk1>
        <a:srgbClr val="000000"/>
      </a:dk1>
      <a:lt1>
        <a:sysClr val="window" lastClr="FFFFFF"/>
      </a:lt1>
      <a:dk2>
        <a:srgbClr val="234A5D"/>
      </a:dk2>
      <a:lt2>
        <a:srgbClr val="7E93A7"/>
      </a:lt2>
      <a:accent1>
        <a:srgbClr val="E60000"/>
      </a:accent1>
      <a:accent2>
        <a:srgbClr val="A03223"/>
      </a:accent2>
      <a:accent3>
        <a:srgbClr val="FFBABA"/>
      </a:accent3>
      <a:accent4>
        <a:srgbClr val="BDCCD7"/>
      </a:accent4>
      <a:accent5>
        <a:srgbClr val="CECECE"/>
      </a:accent5>
      <a:accent6>
        <a:srgbClr val="712319"/>
      </a:accent6>
      <a:hlink>
        <a:srgbClr val="E60000"/>
      </a:hlink>
      <a:folHlink>
        <a:srgbClr val="B0C7D1"/>
      </a:folHlink>
    </a:clrScheme>
    <a:fontScheme name="MHCCNA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2" id="{9FCBC8B7-3A6A-4FE8-9A8E-4A759B9941C9}" vid="{2A3DE66E-0041-4112-9327-C894BD9EC68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CE0836E75D74CB66835CC3F92D61B" ma:contentTypeVersion="15" ma:contentTypeDescription="Crée un document." ma:contentTypeScope="" ma:versionID="3ab975318c1587af2dd5ba40d5259d56">
  <xsd:schema xmlns:xsd="http://www.w3.org/2001/XMLSchema" xmlns:xs="http://www.w3.org/2001/XMLSchema" xmlns:p="http://schemas.microsoft.com/office/2006/metadata/properties" xmlns:ns2="453e6d4f-8cf7-464e-bfdf-5162297045af" xmlns:ns3="47f04214-008e-4087-8e87-37a4b48276b8" targetNamespace="http://schemas.microsoft.com/office/2006/metadata/properties" ma:root="true" ma:fieldsID="2f7636cc8e42b1f4678975e9a38aaefa" ns2:_="" ns3:_="">
    <xsd:import namespace="453e6d4f-8cf7-464e-bfdf-5162297045af"/>
    <xsd:import namespace="47f04214-008e-4087-8e87-37a4b48276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e6d4f-8cf7-464e-bfdf-516229704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f43e6210-2fa7-4e77-943a-e2e7fb6c88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04214-008e-4087-8e87-37a4b48276b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c154dc8-9501-43e4-b867-1c97e2268bf6}" ma:internalName="TaxCatchAll" ma:showField="CatchAllData" ma:web="47f04214-008e-4087-8e87-37a4b48276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e6d4f-8cf7-464e-bfdf-5162297045af">
      <Terms xmlns="http://schemas.microsoft.com/office/infopath/2007/PartnerControls"/>
    </lcf76f155ced4ddcb4097134ff3c332f>
    <TaxCatchAll xmlns="47f04214-008e-4087-8e87-37a4b48276b8" xsi:nil="true"/>
  </documentManagement>
</p:properties>
</file>

<file path=customXml/itemProps1.xml><?xml version="1.0" encoding="utf-8"?>
<ds:datastoreItem xmlns:ds="http://schemas.openxmlformats.org/officeDocument/2006/customXml" ds:itemID="{02FFA2B1-CBD3-4C2F-BB0B-B3B54280AE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8B247B-CC83-41A8-8705-E311CE641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3e6d4f-8cf7-464e-bfdf-5162297045af"/>
    <ds:schemaRef ds:uri="47f04214-008e-4087-8e87-37a4b48276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E48BBD-FBF4-4FC8-B74A-21E16412CDB0}">
  <ds:schemaRefs>
    <ds:schemaRef ds:uri="http://schemas.microsoft.com/office/2006/documentManagement/types"/>
    <ds:schemaRef ds:uri="http://purl.org/dc/terms/"/>
    <ds:schemaRef ds:uri="47f04214-008e-4087-8e87-37a4b48276b8"/>
    <ds:schemaRef ds:uri="453e6d4f-8cf7-464e-bfdf-5162297045af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MHCCCanada-template-gabarit_2026 (1)</Template>
  <TotalTime>18</TotalTime>
  <Words>589</Words>
  <Application>Microsoft Office PowerPoint</Application>
  <PresentationFormat>Grand écran</PresentationFormat>
  <Paragraphs>45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Answers to Most Common Ojections</vt:lpstr>
      <vt:lpstr> Answers to Most Common Objections  </vt:lpstr>
      <vt:lpstr> Answers to Most Common Objections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Laetitia Emmanuel</dc:creator>
  <cp:lastModifiedBy>Laetitia Emmanuel</cp:lastModifiedBy>
  <cp:revision>2</cp:revision>
  <dcterms:created xsi:type="dcterms:W3CDTF">2026-02-17T12:10:44Z</dcterms:created>
  <dcterms:modified xsi:type="dcterms:W3CDTF">2026-02-17T12:29:12Z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0x010100381CE0836E75D74CB66835CC3F92D61B</vt:lpwstr>
  </property>
  <property fmtid="{D5CDD505-2E9C-101B-9397-08002B2CF9AE}" pid="3" name="MediaServiceImageTags">
    <vt:lpwstr/>
  </property>
</Properties>
</file>