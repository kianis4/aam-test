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69" r:id="rId5"/>
    <p:sldId id="268" r:id="rId6"/>
    <p:sldId id="272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93A7"/>
    <a:srgbClr val="688098"/>
    <a:srgbClr val="8DA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ienne Duclos" userId="8ca5b2b2-b8fe-4085-b083-ac4f065c315e" providerId="ADAL" clId="{04A16326-928D-4270-9C00-15E435C964FE}"/>
    <pc:docChg chg="delSld">
      <pc:chgData name="Etienne Duclos" userId="8ca5b2b2-b8fe-4085-b083-ac4f065c315e" providerId="ADAL" clId="{04A16326-928D-4270-9C00-15E435C964FE}" dt="2025-04-10T19:00:00.958" v="0" actId="47"/>
      <pc:docMkLst>
        <pc:docMk/>
      </pc:docMkLst>
      <pc:sldChg chg="del">
        <pc:chgData name="Etienne Duclos" userId="8ca5b2b2-b8fe-4085-b083-ac4f065c315e" providerId="ADAL" clId="{04A16326-928D-4270-9C00-15E435C964FE}" dt="2025-04-10T19:00:00.958" v="0" actId="47"/>
        <pc:sldMkLst>
          <pc:docMk/>
          <pc:sldMk cId="3537113621" sldId="270"/>
        </pc:sldMkLst>
      </pc:sldChg>
      <pc:sldChg chg="del">
        <pc:chgData name="Etienne Duclos" userId="8ca5b2b2-b8fe-4085-b083-ac4f065c315e" providerId="ADAL" clId="{04A16326-928D-4270-9C00-15E435C964FE}" dt="2025-04-10T19:00:00.958" v="0" actId="47"/>
        <pc:sldMkLst>
          <pc:docMk/>
          <pc:sldMk cId="3686358134" sldId="271"/>
        </pc:sldMkLst>
      </pc:sldChg>
      <pc:sldChg chg="del">
        <pc:chgData name="Etienne Duclos" userId="8ca5b2b2-b8fe-4085-b083-ac4f065c315e" providerId="ADAL" clId="{04A16326-928D-4270-9C00-15E435C964FE}" dt="2025-04-10T19:00:00.958" v="0" actId="47"/>
        <pc:sldMkLst>
          <pc:docMk/>
          <pc:sldMk cId="3302526084" sldId="273"/>
        </pc:sldMkLst>
      </pc:sldChg>
      <pc:sldChg chg="del">
        <pc:chgData name="Etienne Duclos" userId="8ca5b2b2-b8fe-4085-b083-ac4f065c315e" providerId="ADAL" clId="{04A16326-928D-4270-9C00-15E435C964FE}" dt="2025-04-10T19:00:00.958" v="0" actId="47"/>
        <pc:sldMkLst>
          <pc:docMk/>
          <pc:sldMk cId="859115182" sldId="274"/>
        </pc:sldMkLst>
      </pc:sldChg>
      <pc:sldChg chg="del">
        <pc:chgData name="Etienne Duclos" userId="8ca5b2b2-b8fe-4085-b083-ac4f065c315e" providerId="ADAL" clId="{04A16326-928D-4270-9C00-15E435C964FE}" dt="2025-04-10T19:00:00.958" v="0" actId="47"/>
        <pc:sldMkLst>
          <pc:docMk/>
          <pc:sldMk cId="153297423" sldId="276"/>
        </pc:sldMkLst>
      </pc:sldChg>
      <pc:sldChg chg="del">
        <pc:chgData name="Etienne Duclos" userId="8ca5b2b2-b8fe-4085-b083-ac4f065c315e" providerId="ADAL" clId="{04A16326-928D-4270-9C00-15E435C964FE}" dt="2025-04-10T19:00:00.958" v="0" actId="47"/>
        <pc:sldMkLst>
          <pc:docMk/>
          <pc:sldMk cId="3407620880" sldId="277"/>
        </pc:sldMkLst>
      </pc:sldChg>
      <pc:sldChg chg="del">
        <pc:chgData name="Etienne Duclos" userId="8ca5b2b2-b8fe-4085-b083-ac4f065c315e" providerId="ADAL" clId="{04A16326-928D-4270-9C00-15E435C964FE}" dt="2025-04-10T19:00:00.958" v="0" actId="47"/>
        <pc:sldMkLst>
          <pc:docMk/>
          <pc:sldMk cId="955820422" sldId="278"/>
        </pc:sldMkLst>
      </pc:sldChg>
      <pc:sldChg chg="del">
        <pc:chgData name="Etienne Duclos" userId="8ca5b2b2-b8fe-4085-b083-ac4f065c315e" providerId="ADAL" clId="{04A16326-928D-4270-9C00-15E435C964FE}" dt="2025-04-10T19:00:00.958" v="0" actId="47"/>
        <pc:sldMkLst>
          <pc:docMk/>
          <pc:sldMk cId="483887709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5C0B3-4567-421B-A274-21EB88CBBE0B}" type="datetimeFigureOut">
              <a:rPr lang="en-US" smtClean="0"/>
              <a:t>4/10/2025</a:t>
            </a:fld>
            <a:endParaRPr lang="en-US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E945C-BB44-4E36-8C98-BFEBF50C1F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106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over -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re 1">
            <a:extLst>
              <a:ext uri="{FF2B5EF4-FFF2-40B4-BE49-F238E27FC236}">
                <a16:creationId xmlns:a16="http://schemas.microsoft.com/office/drawing/2014/main" id="{246D2032-6EB1-AA38-9C03-4EC05745DF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9641" y="2781300"/>
            <a:ext cx="4940559" cy="2209800"/>
          </a:xfrm>
          <a:prstGeom prst="rect">
            <a:avLst/>
          </a:prstGeom>
          <a:noFill/>
        </p:spPr>
        <p:txBody>
          <a:bodyPr lIns="360000" tIns="360000" rIns="360000" bIns="360000" anchor="t"/>
          <a:lstStyle>
            <a:lvl1pPr algn="l">
              <a:defRPr sz="5000">
                <a:solidFill>
                  <a:schemeClr val="bg2"/>
                </a:solidFill>
              </a:defRPr>
            </a:lvl1pPr>
          </a:lstStyle>
          <a:p>
            <a:r>
              <a:rPr lang="en-US"/>
              <a:t>Change the style of the title</a:t>
            </a:r>
            <a:endParaRPr lang="en-US" dirty="0"/>
          </a:p>
        </p:txBody>
      </p:sp>
      <p:sp>
        <p:nvSpPr>
          <p:cNvPr id="38" name="Sous-titre 2">
            <a:extLst>
              <a:ext uri="{FF2B5EF4-FFF2-40B4-BE49-F238E27FC236}">
                <a16:creationId xmlns:a16="http://schemas.microsoft.com/office/drawing/2014/main" id="{C7ACC6BC-9944-C510-373F-4D648FABA8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641" y="4992174"/>
            <a:ext cx="4940559" cy="1439210"/>
          </a:xfrm>
          <a:prstGeom prst="rect">
            <a:avLst/>
          </a:prstGeom>
          <a:noFill/>
        </p:spPr>
        <p:txBody>
          <a:bodyPr lIns="360000" tIns="360000" rIns="360000" bIns="0" anchor="b"/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Change the style of the mask subtitles</a:t>
            </a:r>
            <a:endParaRPr lang="en-US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4FB53285-AF96-6D5A-578C-081FDFA3D2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888" y="322057"/>
            <a:ext cx="4530010" cy="1013184"/>
          </a:xfrm>
          <a:prstGeom prst="rect">
            <a:avLst/>
          </a:prstGeom>
        </p:spPr>
      </p:pic>
      <p:pic>
        <p:nvPicPr>
          <p:cNvPr id="40" name="Graphique 39">
            <a:extLst>
              <a:ext uri="{FF2B5EF4-FFF2-40B4-BE49-F238E27FC236}">
                <a16:creationId xmlns:a16="http://schemas.microsoft.com/office/drawing/2014/main" id="{19A63CAE-D959-E7CF-EEE5-3F5CEE43B4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3502" y="4838581"/>
            <a:ext cx="1592804" cy="1592803"/>
          </a:xfrm>
          <a:prstGeom prst="rect">
            <a:avLst/>
          </a:pr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0DA2037C-70D4-08BC-5BB4-3AAB77063B7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3502" y="3100648"/>
            <a:ext cx="1592804" cy="1592803"/>
          </a:xfrm>
          <a:prstGeom prst="rect">
            <a:avLst/>
          </a:prstGeom>
        </p:spPr>
      </p:pic>
      <p:pic>
        <p:nvPicPr>
          <p:cNvPr id="42" name="Graphique 41">
            <a:extLst>
              <a:ext uri="{FF2B5EF4-FFF2-40B4-BE49-F238E27FC236}">
                <a16:creationId xmlns:a16="http://schemas.microsoft.com/office/drawing/2014/main" id="{806D06F9-7021-A252-08E3-84D25422BD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4838581"/>
            <a:ext cx="1592804" cy="1592803"/>
          </a:xfrm>
          <a:prstGeom prst="rect">
            <a:avLst/>
          </a:prstGeom>
        </p:spPr>
      </p:pic>
      <p:pic>
        <p:nvPicPr>
          <p:cNvPr id="43" name="Graphique 42">
            <a:extLst>
              <a:ext uri="{FF2B5EF4-FFF2-40B4-BE49-F238E27FC236}">
                <a16:creationId xmlns:a16="http://schemas.microsoft.com/office/drawing/2014/main" id="{5940BCC3-C3B3-9039-4AB4-C1971BA7E7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3100648"/>
            <a:ext cx="1592804" cy="1592803"/>
          </a:xfrm>
          <a:prstGeom prst="rect">
            <a:avLst/>
          </a:prstGeom>
        </p:spPr>
      </p:pic>
      <p:sp>
        <p:nvSpPr>
          <p:cNvPr id="44" name="Espace réservé pour une image  18">
            <a:extLst>
              <a:ext uri="{FF2B5EF4-FFF2-40B4-BE49-F238E27FC236}">
                <a16:creationId xmlns:a16="http://schemas.microsoft.com/office/drawing/2014/main" id="{8021CF9D-D2ED-B291-9CE1-EE3F2AE989C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8544882" y="3252027"/>
            <a:ext cx="1290045" cy="1290045"/>
          </a:xfrm>
          <a:prstGeom prst="roundRect">
            <a:avLst>
              <a:gd name="adj" fmla="val 8647"/>
            </a:avLst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  <a:endParaRPr lang="en-CA" dirty="0"/>
          </a:p>
        </p:txBody>
      </p:sp>
      <p:pic>
        <p:nvPicPr>
          <p:cNvPr id="45" name="Graphique 44">
            <a:extLst>
              <a:ext uri="{FF2B5EF4-FFF2-40B4-BE49-F238E27FC236}">
                <a16:creationId xmlns:a16="http://schemas.microsoft.com/office/drawing/2014/main" id="{C0DCF638-D783-DAD9-C2C4-3E988DB444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1362715"/>
            <a:ext cx="1592804" cy="1592803"/>
          </a:xfrm>
          <a:prstGeom prst="rect">
            <a:avLst/>
          </a:prstGeom>
        </p:spPr>
      </p:pic>
      <p:pic>
        <p:nvPicPr>
          <p:cNvPr id="46" name="Graphique 45">
            <a:extLst>
              <a:ext uri="{FF2B5EF4-FFF2-40B4-BE49-F238E27FC236}">
                <a16:creationId xmlns:a16="http://schemas.microsoft.com/office/drawing/2014/main" id="{5404ABE1-4F3E-265D-F710-89436939EE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449" y="4838581"/>
            <a:ext cx="1592804" cy="159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7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- cover -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5E3941FB-BD47-4E2D-A65B-ECB8A32F4D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63638"/>
            <a:ext cx="12192000" cy="569436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B25B8D23-EBCC-42C3-B6E5-754CF42CC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641" y="2781300"/>
            <a:ext cx="4940559" cy="2209800"/>
          </a:xfrm>
          <a:prstGeom prst="rect">
            <a:avLst/>
          </a:prstGeom>
          <a:solidFill>
            <a:schemeClr val="bg2"/>
          </a:solidFill>
        </p:spPr>
        <p:txBody>
          <a:bodyPr lIns="360000" tIns="360000" rIns="360000" bIns="360000" anchor="ctr"/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365E2AF0-1E25-4CAA-930E-55C1C448A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641" y="4992174"/>
            <a:ext cx="4940559" cy="1439210"/>
          </a:xfrm>
          <a:prstGeom prst="rect">
            <a:avLst/>
          </a:prstGeom>
          <a:solidFill>
            <a:schemeClr val="bg2"/>
          </a:solidFill>
        </p:spPr>
        <p:txBody>
          <a:bodyPr lIns="360000" tIns="360000" rIns="360000" bIns="360000" anchor="t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8DB4542-6795-46FA-8206-77BFA8E9F8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888" y="112452"/>
            <a:ext cx="4530010" cy="10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9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BF02C0-59AF-4611-9B8C-7D137DCF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971806"/>
            <a:ext cx="2923367" cy="1876169"/>
          </a:xfrm>
          <a:prstGeom prst="rect">
            <a:avLst/>
          </a:prstGeom>
          <a:noFill/>
        </p:spPr>
        <p:txBody>
          <a:bodyPr lIns="216000" tIns="36000" rIns="216000" bIns="18000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DEA4E8-6294-44D3-B0D9-41A923625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325" y="971809"/>
            <a:ext cx="8133693" cy="5205153"/>
          </a:xfrm>
          <a:prstGeom prst="rect">
            <a:avLst/>
          </a:prstGeom>
        </p:spPr>
        <p:txBody>
          <a:bodyPr lIns="180000" tIns="180000" rIns="180000" bIns="180000" numCol="2" spcCol="720000"/>
          <a:lstStyle>
            <a:lvl1pPr marL="514350" indent="-514350">
              <a:spcAft>
                <a:spcPts val="1200"/>
              </a:spcAft>
              <a:buClr>
                <a:schemeClr val="bg2"/>
              </a:buClr>
              <a:buSzPct val="105000"/>
              <a:buFont typeface="+mj-lt"/>
              <a:buAutoNum type="arabicPeriod"/>
              <a:defRPr sz="2400"/>
            </a:lvl1pPr>
            <a:lvl2pPr marL="9144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2000"/>
            </a:lvl2pPr>
            <a:lvl3pPr marL="13716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800"/>
            </a:lvl3pPr>
            <a:lvl4pPr marL="17145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600"/>
            </a:lvl4pPr>
            <a:lvl5pPr marL="21717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728ECB7-DE2C-473F-8CD3-E9567CED89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DBB548-FC81-4391-BD42-278C025F5132}"/>
              </a:ext>
            </a:extLst>
          </p:cNvPr>
          <p:cNvSpPr/>
          <p:nvPr userDrawn="1"/>
        </p:nvSpPr>
        <p:spPr>
          <a:xfrm>
            <a:off x="0" y="971807"/>
            <a:ext cx="419100" cy="52051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7AA6D22C-9BA0-48C0-A8F1-64E2B33D5D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6900" y="2959100"/>
            <a:ext cx="2946400" cy="321786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DDBA5D20-298E-44EA-B2F2-D16845013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049E73B9-2A1B-E689-E27F-03DE9880FB93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159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3D264B0F-C016-5FDF-0169-2798BC1111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5397" y="2126232"/>
            <a:ext cx="2545571" cy="254557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1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accent5">
              <a:lumMod val="75000"/>
            </a:schemeClr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4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accent2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2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34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54EC37-01EB-33A8-D987-850541EEDF8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A93D2985-4F6B-7282-69DC-775B60A85CAA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bg2"/>
          </a:solidFill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787D01FF-2EE0-57E3-1BB4-15D605E9B991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196BC23D-F34D-7803-EB17-6051D2649BE9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C1EDD5C1-194B-C446-E4CB-A1D5460823B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92903AE-3124-55EC-1FC2-74021A5F0AA8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5C1AAFA2-CA50-0C02-6B8C-382E6053A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59131B87-8E92-7D6D-57D4-386A1CA63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961C141D-750B-B5C0-1D6D-042AE830FC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5060" y="540181"/>
            <a:ext cx="2442363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5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box 3 col. content - contenu 3 col 2 boi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AF077E-94E8-410A-941F-1E51B36B3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100" y="1460500"/>
            <a:ext cx="3911600" cy="4716463"/>
          </a:xfrm>
          <a:prstGeom prst="rect">
            <a:avLst/>
          </a:prstGeom>
          <a:solidFill>
            <a:schemeClr val="tx1"/>
          </a:solidFill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793A5E-7B93-48E8-B4F6-3D9D924A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D19DF6D4-C0F9-48BA-9108-2E36C363353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6E774ADA-B0FB-478A-8A1E-1171D13518F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03700" y="1460500"/>
            <a:ext cx="7696200" cy="4716463"/>
          </a:xfrm>
          <a:prstGeom prst="rect">
            <a:avLst/>
          </a:prstGeom>
          <a:noFill/>
        </p:spPr>
        <p:txBody>
          <a:bodyPr lIns="360000" tIns="360000" rIns="360000" bIns="360000" numCol="2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32D0FFB6-BEB0-415F-A818-09FB5CA0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80DD089-605C-D270-6133-B32A0147F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2E86E8-D045-09C0-175D-CCA0D938573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5229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box content - contenu 3 boi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AF077E-94E8-410A-941F-1E51B36B3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100" y="1460500"/>
            <a:ext cx="3619500" cy="47164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B483F5BC-E705-4594-8F69-A2584C3409B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86250" y="1460500"/>
            <a:ext cx="3619500" cy="4716463"/>
          </a:xfrm>
          <a:prstGeom prst="rect">
            <a:avLst/>
          </a:prstGeom>
          <a:noFill/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691BB7B1-4DA3-4707-88B2-30229628DCB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80400" y="1460500"/>
            <a:ext cx="3619500" cy="4716463"/>
          </a:xfrm>
          <a:prstGeom prst="rect">
            <a:avLst/>
          </a:prstGeom>
          <a:noFill/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717A1FF6-DF5A-4BF6-8E12-711B6F95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7E29BC-0AA9-3944-1875-DB6E32417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DBE3BDAB-B470-2A08-BDA3-7F02A6974E9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A1B5409-B357-CD2D-B6D6-DDE100C661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4B41C91F-0E79-3968-8FFE-2C15F561D356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8470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0/50 tex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79A3D40-84E1-4C94-948D-CEF3749013F5}"/>
              </a:ext>
            </a:extLst>
          </p:cNvPr>
          <p:cNvSpPr/>
          <p:nvPr userDrawn="1"/>
        </p:nvSpPr>
        <p:spPr>
          <a:xfrm>
            <a:off x="292100" y="1393050"/>
            <a:ext cx="5803900" cy="49061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156" y="1740435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15156" y="2821264"/>
            <a:ext cx="5157787" cy="31731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725C576E-4E39-4450-9D29-69E336D99D0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1" y="1392793"/>
            <a:ext cx="5803900" cy="49061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911CC7C8-E969-47C4-BE69-A7BAB082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5430FF-6B70-F789-4A72-F705F986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C547173-FEB6-4D86-64C3-FCF89D585E6F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9EA723-6A35-5BD3-C898-EA6B7B966E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CF5B33DF-6E29-28FE-FB60-78A4EB87F21C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5772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3_text - 2/3_image-graph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1" y="1392792"/>
            <a:ext cx="4127500" cy="11599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101" y="2705099"/>
            <a:ext cx="4127500" cy="359384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72495BEA-529C-47B8-880F-141CF8A9C88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762500" y="1392792"/>
            <a:ext cx="7137399" cy="4906150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48286AC-0A86-48CB-B688-74B85F26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F57F95-8001-9CFE-9AE3-49DF1919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06246886-0A51-2FBD-6719-C623C4D1D51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358E407-2644-ACAB-B203-4AE184F7A7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F898637F-483D-C480-5C99-BF36508554D9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8100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highlight - souligne des donne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1" y="1392792"/>
            <a:ext cx="11584918" cy="237198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101" y="5164436"/>
            <a:ext cx="5473700" cy="79186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30AD63EF-8251-455A-943D-C2FBF900A7F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92101" y="4212194"/>
            <a:ext cx="5473700" cy="9268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100 %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AAB538C-D14A-4194-AAA0-6DEB9B616F3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027786"/>
            <a:ext cx="0" cy="213171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5DB4C81D-79BB-49D1-AB60-DA24C66C686C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426201" y="5164436"/>
            <a:ext cx="5450818" cy="79186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17F8EB1F-235F-4F56-9E3A-74E68BBEC6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26201" y="4212194"/>
            <a:ext cx="5450818" cy="9268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167,850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5A4D534E-EC4B-48BC-8640-B0D4BD66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236ED6-D1E2-63F0-B4A9-8AB9A447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5C0DDD9-7853-1165-8B84-AC2B12A6C8E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A22DAEB-4939-4E55-0F0E-B5C1441EB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E68BA5A-96C0-487D-AC75-11AC9D9B7C2B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23423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-div horiz - 1/3_text - 2/3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82D688-9ADA-45E9-9ACE-3DADFDFBF2F4}"/>
              </a:ext>
            </a:extLst>
          </p:cNvPr>
          <p:cNvSpPr/>
          <p:nvPr userDrawn="1"/>
        </p:nvSpPr>
        <p:spPr>
          <a:xfrm>
            <a:off x="317500" y="835285"/>
            <a:ext cx="4178300" cy="55591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1211BB4-2811-436C-9514-7F55B171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1111252"/>
            <a:ext cx="3543300" cy="1314448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28E63814-A83D-4A0A-A1D3-39D74B319EE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2300" y="2527299"/>
            <a:ext cx="3543300" cy="359384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B421EEB0-3132-4629-99A6-97E81BFCFD9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686300" y="835285"/>
            <a:ext cx="7188200" cy="2466715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6A6C2539-48DA-40FA-94CE-47852252C8B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686300" y="3927735"/>
            <a:ext cx="7188200" cy="2466715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DF5DD9E6-7603-4730-89E0-97650EE03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3213899-1856-36CB-A750-92B8E16D7D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09A02993-F37D-5947-78FA-EF1848AA048A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44468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9648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D654F893-0F5B-5F97-93C5-9E4823C2F8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099" y="1396416"/>
            <a:ext cx="11569933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128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D654F893-0F5B-5F97-93C5-9E4823C2F8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099" y="1396416"/>
            <a:ext cx="5563417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DF67E45A-AF52-D15D-1C0A-35B8FDD1883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336484" y="1392222"/>
            <a:ext cx="5563417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5791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- Vid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456AB99-2268-1DD0-944C-4809DC3BA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39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pty - Vid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98787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st slide - Derniere diapo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FDE6758D-0600-40A4-853E-8AB0568534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55499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C4E0861-90BC-4462-8D08-A00F27F6E89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14352" y="5897925"/>
            <a:ext cx="3634007" cy="5810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D52F7B0-9496-478A-B66B-B0200484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7" y="2667000"/>
            <a:ext cx="4127500" cy="2527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360000" tIns="360000" rIns="360000" bIns="360000" anchor="t"/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61E0868-E46A-81B9-0EB7-3D28AC459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6400" y="5651267"/>
            <a:ext cx="4802400" cy="107410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8862195-07C7-A3A9-683B-7E9D660F26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87" y="5906717"/>
            <a:ext cx="581024" cy="5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51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st slide - Derniere diapo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C4E0861-90BC-4462-8D08-A00F27F6E89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14352" y="5897925"/>
            <a:ext cx="3634007" cy="5810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16AE5122-ECEB-4DDC-82D8-6C0DDE115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7" y="1062592"/>
            <a:ext cx="4801357" cy="314110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A175F3C-65EF-04B2-D4C9-A6E93FBEA1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6400" y="5651267"/>
            <a:ext cx="4802400" cy="107410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199563A-909E-8913-A231-61E8751AE8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87" y="5906717"/>
            <a:ext cx="581024" cy="5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94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80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8" r:id="rId2"/>
    <p:sldLayoutId id="214748365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9" r:id="rId16"/>
    <p:sldLayoutId id="2147483690" r:id="rId17"/>
    <p:sldLayoutId id="2147483685" r:id="rId18"/>
    <p:sldLayoutId id="2147483691" r:id="rId19"/>
    <p:sldLayoutId id="2147483686" r:id="rId20"/>
    <p:sldLayoutId id="2147483687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9.jpe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26" Type="http://schemas.openxmlformats.org/officeDocument/2006/relationships/tags" Target="../tags/tag29.xml"/><Relationship Id="rId39" Type="http://schemas.openxmlformats.org/officeDocument/2006/relationships/image" Target="../media/image17.svg"/><Relationship Id="rId3" Type="http://schemas.openxmlformats.org/officeDocument/2006/relationships/tags" Target="../tags/tag6.xml"/><Relationship Id="rId21" Type="http://schemas.openxmlformats.org/officeDocument/2006/relationships/tags" Target="../tags/tag24.xml"/><Relationship Id="rId34" Type="http://schemas.openxmlformats.org/officeDocument/2006/relationships/image" Target="../media/image12.png"/><Relationship Id="rId42" Type="http://schemas.openxmlformats.org/officeDocument/2006/relationships/image" Target="../media/image20.png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tags" Target="../tags/tag28.xml"/><Relationship Id="rId33" Type="http://schemas.openxmlformats.org/officeDocument/2006/relationships/image" Target="../media/image11.svg"/><Relationship Id="rId38" Type="http://schemas.openxmlformats.org/officeDocument/2006/relationships/image" Target="../media/image16.png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tags" Target="../tags/tag23.xml"/><Relationship Id="rId29" Type="http://schemas.openxmlformats.org/officeDocument/2006/relationships/tags" Target="../tags/tag32.xml"/><Relationship Id="rId41" Type="http://schemas.openxmlformats.org/officeDocument/2006/relationships/image" Target="../media/image19.sv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tags" Target="../tags/tag27.xml"/><Relationship Id="rId32" Type="http://schemas.openxmlformats.org/officeDocument/2006/relationships/image" Target="../media/image10.png"/><Relationship Id="rId37" Type="http://schemas.openxmlformats.org/officeDocument/2006/relationships/image" Target="../media/image15.svg"/><Relationship Id="rId40" Type="http://schemas.openxmlformats.org/officeDocument/2006/relationships/image" Target="../media/image18.png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tags" Target="../tags/tag31.xml"/><Relationship Id="rId36" Type="http://schemas.openxmlformats.org/officeDocument/2006/relationships/image" Target="../media/image14.png"/><Relationship Id="rId10" Type="http://schemas.openxmlformats.org/officeDocument/2006/relationships/tags" Target="../tags/tag13.xml"/><Relationship Id="rId19" Type="http://schemas.openxmlformats.org/officeDocument/2006/relationships/tags" Target="../tags/tag22.xml"/><Relationship Id="rId31" Type="http://schemas.openxmlformats.org/officeDocument/2006/relationships/slideLayout" Target="../slideLayouts/slideLayout19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tags" Target="../tags/tag25.xml"/><Relationship Id="rId27" Type="http://schemas.openxmlformats.org/officeDocument/2006/relationships/tags" Target="../tags/tag30.xml"/><Relationship Id="rId30" Type="http://schemas.openxmlformats.org/officeDocument/2006/relationships/tags" Target="../tags/tag33.xml"/><Relationship Id="rId35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20.png"/><Relationship Id="rId4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20.png"/><Relationship Id="rId4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FACC2-20CD-F3A1-0EC6-EDE82ACD8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close-up of people holding a pen and a notebook&#10;&#10;AI-generated content may be incorrect.">
            <a:extLst>
              <a:ext uri="{FF2B5EF4-FFF2-40B4-BE49-F238E27FC236}">
                <a16:creationId xmlns:a16="http://schemas.microsoft.com/office/drawing/2014/main" id="{9A98B895-C569-961C-01FF-880B2942879C}"/>
              </a:ext>
            </a:extLst>
          </p:cNvPr>
          <p:cNvPicPr>
            <a:picLocks noGrp="1" noChangeAspect="1"/>
          </p:cNvPicPr>
          <p:nvPr>
            <p:ph type="pic" sz="quarter" idx="10"/>
            <p:custDataLst>
              <p:tags r:id="rId1"/>
            </p:custDataLst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B3ACB14-4C9D-48CA-10AD-CCB49054093D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69641" y="2748828"/>
            <a:ext cx="4940559" cy="2459564"/>
          </a:xfrm>
        </p:spPr>
        <p:txBody>
          <a:bodyPr/>
          <a:lstStyle/>
          <a:p>
            <a:pPr>
              <a:lnSpc>
                <a:spcPct val="70000"/>
              </a:lnSpc>
              <a:spcBef>
                <a:spcPts val="0"/>
              </a:spcBef>
            </a:pPr>
            <a:r>
              <a:rPr lang="en-US" dirty="0"/>
              <a:t>Private Credit:  </a:t>
            </a:r>
            <a:r>
              <a:rPr lang="en-CA" dirty="0"/>
              <a:t>Senior Secured Cash Flow Loan</a:t>
            </a:r>
            <a:br>
              <a:rPr lang="en-US" sz="2000" dirty="0"/>
            </a:br>
            <a:br>
              <a:rPr lang="en-US" sz="2000" dirty="0"/>
            </a:br>
            <a:r>
              <a:rPr lang="en-US" sz="3200" dirty="0">
                <a:solidFill>
                  <a:schemeClr val="tx2"/>
                </a:solidFill>
              </a:rPr>
              <a:t>Overview</a:t>
            </a:r>
            <a:endParaRPr lang="en-CA" dirty="0">
              <a:solidFill>
                <a:schemeClr val="tx2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B11622B-A96E-61C5-7B8D-8A53EA8201E0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469641" y="5184194"/>
            <a:ext cx="4940559" cy="1256068"/>
          </a:xfrm>
        </p:spPr>
        <p:txBody>
          <a:bodyPr tIns="0"/>
          <a:lstStyle/>
          <a:p>
            <a:r>
              <a:rPr lang="en-US" sz="2800" dirty="0"/>
              <a:t>April 2025</a:t>
            </a:r>
            <a:endParaRPr lang="en-CA" sz="2800" dirty="0"/>
          </a:p>
          <a:p>
            <a:r>
              <a:rPr lang="en-US" sz="1000" dirty="0"/>
              <a:t>USD figures unless otherwise indicated</a:t>
            </a:r>
          </a:p>
          <a:p>
            <a:r>
              <a:rPr lang="en-US" sz="1000" dirty="0"/>
              <a:t>Information presented as of March 31</a:t>
            </a:r>
            <a:r>
              <a:rPr lang="en-US" sz="1000" baseline="30000" dirty="0"/>
              <a:t>st</a:t>
            </a:r>
            <a:r>
              <a:rPr lang="en-US" sz="1000" dirty="0"/>
              <a:t>, 2024</a:t>
            </a:r>
          </a:p>
        </p:txBody>
      </p:sp>
    </p:spTree>
    <p:extLst>
      <p:ext uri="{BB962C8B-B14F-4D97-AF65-F5344CB8AC3E}">
        <p14:creationId xmlns:p14="http://schemas.microsoft.com/office/powerpoint/2010/main" val="625001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34408-A329-BA6F-4F79-5D9BD7729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D1B35750-F7E4-69D4-91D6-B6A100B7E26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314122" y="0"/>
            <a:ext cx="5877878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528822-6DAD-DC84-FEE1-D0EDDF4BED5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2585889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8872F0-07BA-066A-D885-34C5FA1FD54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752809" y="820433"/>
            <a:ext cx="4974545" cy="2750078"/>
          </a:xfrm>
          <a:prstGeom prst="round2SameRect">
            <a:avLst>
              <a:gd name="adj1" fmla="val 7901"/>
              <a:gd name="adj2" fmla="val 0"/>
            </a:avLst>
          </a:prstGeom>
          <a:solidFill>
            <a:schemeClr val="bg1"/>
          </a:solidFill>
          <a:effectLst>
            <a:outerShdw blurRad="114300" algn="ctr" rotWithShape="0">
              <a:prstClr val="black">
                <a:alpha val="40000"/>
              </a:prstClr>
            </a:outerShdw>
          </a:effectLst>
        </p:spPr>
        <p:txBody>
          <a:bodyPr wrap="square" lIns="288000" tIns="432000" rIns="288000" bIns="288000" numCol="2" spcCol="25200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Company Profile</a:t>
            </a:r>
            <a:r>
              <a:rPr lang="en-CA" sz="1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  <a:p>
            <a:pPr marL="180000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Sponsor backed</a:t>
            </a:r>
          </a:p>
          <a:p>
            <a:pPr marL="180000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HQ in Canada / US</a:t>
            </a:r>
          </a:p>
          <a:p>
            <a:pPr marL="180000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Strong management</a:t>
            </a:r>
          </a:p>
          <a:p>
            <a:pPr marL="180000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Diversified &amp; recurring revenue base</a:t>
            </a:r>
          </a:p>
          <a:p>
            <a:pPr marL="180000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PF EBITDA ≥ $10M</a:t>
            </a:r>
          </a:p>
          <a:p>
            <a:pPr marL="180000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Sustainable margins</a:t>
            </a:r>
            <a:b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&amp; cash flow</a:t>
            </a:r>
          </a:p>
          <a:p>
            <a:pPr marL="180000" indent="-180000">
              <a:buFont typeface="Arial" panose="020B0604020202020204" pitchFamily="34" charset="0"/>
              <a:buChar char="•"/>
              <a:defRPr/>
            </a:pPr>
            <a:endParaRPr lang="en-CA" sz="12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Senior leverage</a:t>
            </a:r>
            <a:b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≤4,5x </a:t>
            </a:r>
          </a:p>
          <a:p>
            <a:pPr>
              <a:lnSpc>
                <a:spcPct val="100000"/>
              </a:lnSpc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Security</a:t>
            </a:r>
            <a:b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1</a:t>
            </a:r>
            <a:r>
              <a:rPr lang="en-CA" sz="1200" baseline="300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st</a:t>
            </a: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lien</a:t>
            </a:r>
          </a:p>
          <a:p>
            <a:pPr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Term</a:t>
            </a:r>
            <a:b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≤ 7 years</a:t>
            </a:r>
          </a:p>
          <a:p>
            <a:pPr>
              <a:lnSpc>
                <a:spcPct val="100000"/>
              </a:lnSpc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Targeted Participation</a:t>
            </a:r>
            <a:b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$10-25M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5ABA8C-BD83-376D-2EAE-FA316A07E2D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15663" y="4099542"/>
            <a:ext cx="1919536" cy="132897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288000" rIns="180000" bIns="180000" rtlCol="0" anchor="t" anchorCtr="0"/>
          <a:lstStyle/>
          <a:p>
            <a:pPr algn="ctr">
              <a:lnSpc>
                <a:spcPct val="90000"/>
              </a:lnSpc>
              <a:spcAft>
                <a:spcPts val="300"/>
              </a:spcAft>
              <a:defRPr/>
            </a:pPr>
            <a:r>
              <a:rPr lang="en-US" sz="1400" b="1" kern="0" dirty="0">
                <a:latin typeface="+mj-lt"/>
                <a:cs typeface="Arial" panose="020B0604020202020204" pitchFamily="34" charset="0"/>
              </a:rPr>
              <a:t>Global Network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Operate in</a:t>
            </a:r>
            <a:b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</a:b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20+ countries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30 000+ clients in North America</a:t>
            </a:r>
            <a:endParaRPr kumimoji="0" lang="fr-CA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618A9E-2A90-B81F-46B2-7088A900D35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15663" y="2548272"/>
            <a:ext cx="1919536" cy="12882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288000" rIns="180000" bIns="180000" rtlCol="0" anchor="t" anchorCtr="0"/>
          <a:lstStyle/>
          <a:p>
            <a:pPr algn="ctr">
              <a:lnSpc>
                <a:spcPct val="90000"/>
              </a:lnSpc>
              <a:spcAft>
                <a:spcPts val="300"/>
              </a:spcAft>
              <a:defRPr/>
            </a:pPr>
            <a:r>
              <a:rPr lang="en-US" sz="1400" b="1" kern="0" dirty="0">
                <a:latin typeface="+mj-lt"/>
                <a:cs typeface="Arial" panose="020B0604020202020204" pitchFamily="34" charset="0"/>
              </a:rPr>
              <a:t>Dependable Partner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A- S&amp;P credit rating (Dec. 31</a:t>
            </a:r>
            <a:r>
              <a:rPr kumimoji="0" lang="en-US" sz="12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st</a:t>
            </a:r>
            <a:r>
              <a:rPr lang="en-US" sz="1200" kern="0" dirty="0">
                <a:latin typeface="+mj-lt"/>
                <a:cs typeface="Arial" panose="020B0604020202020204" pitchFamily="34" charset="0"/>
              </a:rPr>
              <a:t>,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2024)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50+ years in business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0EA809-83BC-D678-8EC1-576D24868A8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15663" y="1548164"/>
            <a:ext cx="1919536" cy="74917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288000" rIns="180000" bIns="180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Significant Capital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~$</a:t>
            </a:r>
            <a:r>
              <a:rPr lang="en-US" sz="1200" kern="0" dirty="0">
                <a:latin typeface="+mj-lt"/>
                <a:cs typeface="Arial" panose="020B0604020202020204" pitchFamily="34" charset="0"/>
              </a:rPr>
              <a:t>100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B AUM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32B39A-345F-62A5-AA40-5409B54B6C2D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73766" y="1414498"/>
            <a:ext cx="373168" cy="377879"/>
            <a:chOff x="663905" y="900820"/>
            <a:chExt cx="510363" cy="51036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BFA0CCC-2630-A0B9-3904-EAFAC49AE817}"/>
                </a:ext>
              </a:extLst>
            </p:cNvPr>
            <p:cNvSpPr/>
            <p:nvPr/>
          </p:nvSpPr>
          <p:spPr>
            <a:xfrm>
              <a:off x="663905" y="900820"/>
              <a:ext cx="510363" cy="51036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pic>
          <p:nvPicPr>
            <p:cNvPr id="4" name="Graphique 69" descr="Pie chart avec un remplissage uni">
              <a:extLst>
                <a:ext uri="{FF2B5EF4-FFF2-40B4-BE49-F238E27FC236}">
                  <a16:creationId xmlns:a16="http://schemas.microsoft.com/office/drawing/2014/main" id="{39F98F4D-614D-D2F1-52B9-DD487E8ECB1E}"/>
                </a:ext>
              </a:extLst>
            </p:cNvPr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691349" y="928264"/>
              <a:ext cx="455474" cy="455474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A284B96-3284-709E-78D2-2EFF1463819C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1073767" y="2415623"/>
            <a:ext cx="373167" cy="394851"/>
            <a:chOff x="663905" y="2105051"/>
            <a:chExt cx="510363" cy="53328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493BD6E-8CF9-8B3C-715E-A3EB386A9387}"/>
                </a:ext>
              </a:extLst>
            </p:cNvPr>
            <p:cNvSpPr/>
            <p:nvPr/>
          </p:nvSpPr>
          <p:spPr>
            <a:xfrm>
              <a:off x="663905" y="2105051"/>
              <a:ext cx="510363" cy="51036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7" name="Groupe 60">
              <a:extLst>
                <a:ext uri="{FF2B5EF4-FFF2-40B4-BE49-F238E27FC236}">
                  <a16:creationId xmlns:a16="http://schemas.microsoft.com/office/drawing/2014/main" id="{099C241A-32AF-9F91-B6C0-A7A30AE78E06}"/>
                </a:ext>
              </a:extLst>
            </p:cNvPr>
            <p:cNvGrpSpPr/>
            <p:nvPr>
              <p:custDataLst>
                <p:tags r:id="rId29"/>
              </p:custDataLst>
            </p:nvPr>
          </p:nvGrpSpPr>
          <p:grpSpPr>
            <a:xfrm>
              <a:off x="709304" y="2156551"/>
              <a:ext cx="419565" cy="481786"/>
              <a:chOff x="3836030" y="5087298"/>
              <a:chExt cx="914400" cy="954550"/>
            </a:xfrm>
            <a:solidFill>
              <a:schemeClr val="bg1"/>
            </a:solidFill>
          </p:grpSpPr>
          <p:pic>
            <p:nvPicPr>
              <p:cNvPr id="8" name="Graphique 61" descr="Credit card avec un remplissage uni">
                <a:extLst>
                  <a:ext uri="{FF2B5EF4-FFF2-40B4-BE49-F238E27FC236}">
                    <a16:creationId xmlns:a16="http://schemas.microsoft.com/office/drawing/2014/main" id="{F5E0A2D4-0868-7048-0F4D-037B220184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rcRect/>
              <a:stretch/>
            </p:blipFill>
            <p:spPr>
              <a:xfrm>
                <a:off x="3836030" y="5127449"/>
                <a:ext cx="914400" cy="914399"/>
              </a:xfrm>
              <a:prstGeom prst="rect">
                <a:avLst/>
              </a:prstGeom>
            </p:spPr>
          </p:pic>
          <p:sp>
            <p:nvSpPr>
              <p:cNvPr id="9" name="Étoile : 5 branches 62">
                <a:extLst>
                  <a:ext uri="{FF2B5EF4-FFF2-40B4-BE49-F238E27FC236}">
                    <a16:creationId xmlns:a16="http://schemas.microsoft.com/office/drawing/2014/main" id="{C1A7343F-4CED-6298-9828-C48CB9574AAA}"/>
                  </a:ext>
                </a:extLst>
              </p:cNvPr>
              <p:cNvSpPr/>
              <p:nvPr/>
            </p:nvSpPr>
            <p:spPr>
              <a:xfrm>
                <a:off x="3920519" y="5087298"/>
                <a:ext cx="186922" cy="186922"/>
              </a:xfrm>
              <a:prstGeom prst="star5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Étoile : 5 branches 63">
                <a:extLst>
                  <a:ext uri="{FF2B5EF4-FFF2-40B4-BE49-F238E27FC236}">
                    <a16:creationId xmlns:a16="http://schemas.microsoft.com/office/drawing/2014/main" id="{97C3F633-7298-5D36-A8FE-E0B289745487}"/>
                  </a:ext>
                </a:extLst>
              </p:cNvPr>
              <p:cNvSpPr/>
              <p:nvPr/>
            </p:nvSpPr>
            <p:spPr>
              <a:xfrm>
                <a:off x="4199768" y="5087298"/>
                <a:ext cx="186922" cy="186922"/>
              </a:xfrm>
              <a:prstGeom prst="star5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" name="Étoile : 5 branches 64">
                <a:extLst>
                  <a:ext uri="{FF2B5EF4-FFF2-40B4-BE49-F238E27FC236}">
                    <a16:creationId xmlns:a16="http://schemas.microsoft.com/office/drawing/2014/main" id="{C91E138D-BF55-337D-B815-1B717779571E}"/>
                  </a:ext>
                </a:extLst>
              </p:cNvPr>
              <p:cNvSpPr/>
              <p:nvPr/>
            </p:nvSpPr>
            <p:spPr>
              <a:xfrm>
                <a:off x="4479563" y="5087298"/>
                <a:ext cx="186922" cy="186922"/>
              </a:xfrm>
              <a:prstGeom prst="star5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757AAF-378B-E47F-970D-85B11C99F9CB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1073766" y="3966925"/>
            <a:ext cx="373168" cy="377879"/>
            <a:chOff x="3169208" y="900820"/>
            <a:chExt cx="510363" cy="51036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038A08B-3785-FD53-05DA-7B97614A0E03}"/>
                </a:ext>
              </a:extLst>
            </p:cNvPr>
            <p:cNvSpPr/>
            <p:nvPr/>
          </p:nvSpPr>
          <p:spPr>
            <a:xfrm>
              <a:off x="3169208" y="900820"/>
              <a:ext cx="510363" cy="51036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pic>
          <p:nvPicPr>
            <p:cNvPr id="14" name="Graphique 56" descr="Earth globe: Americas avec un remplissage uni">
              <a:extLst>
                <a:ext uri="{FF2B5EF4-FFF2-40B4-BE49-F238E27FC236}">
                  <a16:creationId xmlns:a16="http://schemas.microsoft.com/office/drawing/2014/main" id="{AA3CF7B0-E9FB-0921-E35E-F709378DDE20}"/>
                </a:ext>
              </a:extLst>
            </p:cNvPr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3189773" y="914507"/>
              <a:ext cx="469232" cy="469232"/>
            </a:xfrm>
            <a:prstGeom prst="rect">
              <a:avLst/>
            </a:prstGeom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FD67DC08-67DD-B5FA-7B13-5187378FDC7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89092" y="1039848"/>
            <a:ext cx="2147707" cy="537597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ED7055-9C22-A8C1-3302-8287833BCE9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31125" y="736279"/>
            <a:ext cx="1371356" cy="584775"/>
          </a:xfrm>
          <a:prstGeom prst="rect">
            <a:avLst/>
          </a:prstGeom>
          <a:solidFill>
            <a:schemeClr val="bg2">
              <a:lumMod val="7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+mj-lt"/>
              </a:rPr>
              <a:t>Mitsubishi HC Capital Group</a:t>
            </a:r>
            <a:endParaRPr lang="en-CA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7892E9-B1A5-D494-6A8A-2C0106673F41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914480" y="1039848"/>
            <a:ext cx="3075694" cy="3867754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numCol="1" spcCol="360000" rtlCol="0" anchor="t" anchorCtr="0"/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Bespoke financing solutions to address specific borrower needs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Transparent decision making</a:t>
            </a:r>
            <a:b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</a:b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to deliver timely </a:t>
            </a:r>
            <a:r>
              <a:rPr lang="en-CA" sz="1400" kern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&amp;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 dependable results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CA" sz="1400" kern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Reliable financial partner with institutional capital &amp; track record of investing in all business cycles</a:t>
            </a:r>
          </a:p>
          <a:p>
            <a:pPr lvl="0">
              <a:spcBef>
                <a:spcPts val="1000"/>
              </a:spcBef>
              <a:spcAft>
                <a:spcPts val="800"/>
              </a:spcAft>
              <a:defRPr/>
            </a:pPr>
            <a:r>
              <a:rPr lang="en-CA" sz="1400" kern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Access to Mitsubishi HC Capital Group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network / talent pool to support portfolio companies</a:t>
            </a:r>
          </a:p>
          <a:p>
            <a:pPr marL="288000" lvl="1" indent="-1800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chemeClr val="tx1"/>
                </a:solidFill>
                <a:cs typeface="Arial" panose="020B0604020202020204" pitchFamily="34" charset="0"/>
              </a:rPr>
              <a:t>Vendor sales financing program</a:t>
            </a:r>
          </a:p>
          <a:p>
            <a:pPr marL="288000" lvl="1" indent="-1800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chemeClr val="tx1"/>
                </a:solidFill>
                <a:cs typeface="Arial" panose="020B0604020202020204" pitchFamily="34" charset="0"/>
              </a:rPr>
              <a:t>Commercial </a:t>
            </a: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introductions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8A2EBC-65CA-1957-C9CD-9BB5355107E5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2988123" y="844000"/>
            <a:ext cx="169046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  <a:latin typeface="+mj-lt"/>
              </a:rPr>
              <a:t>Value Proposition</a:t>
            </a:r>
            <a:endParaRPr lang="en-CA" sz="1600" b="1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BB30DD-3DD0-3931-3133-0A89EEE8229B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2920729" y="5599497"/>
            <a:ext cx="3064803" cy="9474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468000" rIns="108000" bIns="216000" numCol="2" spcCol="180000" rtlCol="0" anchor="ctr" anchorCtr="0"/>
          <a:lstStyle/>
          <a:p>
            <a:pPr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Kevin Hall</a:t>
            </a:r>
            <a:br>
              <a:rPr lang="en-US" sz="1600" dirty="0">
                <a:solidFill>
                  <a:schemeClr val="tx1"/>
                </a:solidFill>
                <a:latin typeface="+mj-lt"/>
              </a:rPr>
            </a:br>
            <a:r>
              <a:rPr lang="en-US" sz="1200" dirty="0">
                <a:solidFill>
                  <a:schemeClr val="accent1"/>
                </a:solidFill>
              </a:rPr>
              <a:t>Vice President</a:t>
            </a:r>
            <a:endParaRPr lang="en-CA" sz="1200" dirty="0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</a:pPr>
            <a:r>
              <a:rPr lang="en-CA" sz="1600" dirty="0">
                <a:solidFill>
                  <a:schemeClr val="tx1"/>
                </a:solidFill>
                <a:latin typeface="+mj-lt"/>
              </a:rPr>
              <a:t>Etienne Duclos</a:t>
            </a:r>
            <a:b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chemeClr val="accent1"/>
                </a:solidFill>
              </a:rPr>
              <a:t>Senior Director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88699B-C2EF-0697-02DD-C7EC98B14E6F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2920729" y="5254345"/>
            <a:ext cx="3064803" cy="31484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360000" rIns="360000" bIns="360000"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+mj-lt"/>
              </a:rPr>
              <a:t>Team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A51DF58-BFE9-D95F-04D5-22BB463490E5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>
          <a:xfrm>
            <a:off x="3117823" y="5568972"/>
            <a:ext cx="75491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7BC58B20-A7B9-D4C4-73EB-DCB1F7BB1391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752809" y="823101"/>
            <a:ext cx="4974545" cy="39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36000" rIns="144000" bIns="36000" rtlCol="0" anchor="ctr"/>
          <a:lstStyle/>
          <a:p>
            <a:r>
              <a:rPr lang="en-US" sz="1600" b="1" dirty="0">
                <a:latin typeface="+mj-lt"/>
              </a:rPr>
              <a:t>Investment Criteria</a:t>
            </a:r>
            <a:endParaRPr lang="en-CA" sz="1600" b="1" dirty="0">
              <a:latin typeface="+mj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E8A17D-6983-5EA8-83DA-49E9CC3A281F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748020" y="3298317"/>
            <a:ext cx="4974545" cy="1481686"/>
          </a:xfrm>
          <a:prstGeom prst="round2SameRect">
            <a:avLst>
              <a:gd name="adj1" fmla="val 7901"/>
              <a:gd name="adj2" fmla="val 0"/>
            </a:avLst>
          </a:prstGeom>
          <a:solidFill>
            <a:schemeClr val="bg1"/>
          </a:solidFill>
          <a:effectLst>
            <a:outerShdw blurRad="114300" algn="ctr" rotWithShape="0">
              <a:prstClr val="black">
                <a:alpha val="40000"/>
              </a:prstClr>
            </a:outerShdw>
          </a:effectLst>
        </p:spPr>
        <p:txBody>
          <a:bodyPr wrap="square" lIns="288000" tIns="396000" rIns="288000" bIns="288000" numCol="2" spcCol="25200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Senior Debt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1</a:t>
            </a:r>
            <a:r>
              <a:rPr lang="en-CA" sz="1400" b="1" baseline="300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st</a:t>
            </a: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Out Unitranche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Revolvers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Term Loans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Delayed Draw Term Loans</a:t>
            </a:r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6E25DE39-42CB-64B6-7611-42140D25B72A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748020" y="3249555"/>
            <a:ext cx="4974545" cy="39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E93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36000" rIns="144000" bIns="36000" rtlCol="0" anchor="ctr"/>
          <a:lstStyle/>
          <a:p>
            <a:r>
              <a:rPr lang="en-US" sz="1600" b="1" dirty="0">
                <a:latin typeface="+mj-lt"/>
              </a:rPr>
              <a:t>Loan Type</a:t>
            </a:r>
            <a:endParaRPr lang="en-CA" sz="1600" b="1" dirty="0">
              <a:latin typeface="+mj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D20C72-F913-CB18-2F18-7D81D47618A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748020" y="4831466"/>
            <a:ext cx="4974545" cy="2026534"/>
          </a:xfrm>
          <a:prstGeom prst="round2SameRect">
            <a:avLst>
              <a:gd name="adj1" fmla="val 7901"/>
              <a:gd name="adj2" fmla="val 0"/>
            </a:avLst>
          </a:prstGeom>
          <a:solidFill>
            <a:schemeClr val="bg1"/>
          </a:solidFill>
          <a:effectLst>
            <a:outerShdw blurRad="114300" algn="ctr" rotWithShape="0">
              <a:prstClr val="black">
                <a:alpha val="40000"/>
              </a:prstClr>
            </a:outerShdw>
          </a:effectLst>
        </p:spPr>
        <p:txBody>
          <a:bodyPr wrap="square" lIns="288000" tIns="252000" rIns="288000" bIns="288000" numCol="1" spcCol="252000">
            <a:noAutofit/>
          </a:bodyPr>
          <a:lstStyle/>
          <a:p>
            <a:pPr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Projects</a:t>
            </a:r>
            <a:b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LBO, M&amp;A, growth, refinancing &amp; recapitalization</a:t>
            </a:r>
          </a:p>
          <a:p>
            <a:pPr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Industries</a:t>
            </a:r>
            <a:b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Business Services, Media &amp; Information Services, Software &amp; Information, Technology, Clean Energy &amp; Sustainability, Healthcare, Food Manufacturing &amp; Distribution, Communications &amp; Data Center Infrastructure, Industrial &amp; Manufacturing</a:t>
            </a:r>
          </a:p>
        </p:txBody>
      </p:sp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47D1B5D0-AA8A-E8C5-10BC-D61521AAE043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6748020" y="4663890"/>
            <a:ext cx="4974545" cy="39547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36000" rIns="144000" bIns="36000" rtlCol="0" anchor="ctr"/>
          <a:lstStyle/>
          <a:p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Projects &amp; Industrie</a:t>
            </a:r>
            <a:endParaRPr lang="en-CA" sz="1600" b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BE2213-462F-FBE5-DE27-DA531673BEA8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315663" y="5710667"/>
            <a:ext cx="1919536" cy="9152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288000" rIns="180000" bIns="180000" rtlCol="0" anchor="t" anchorCtr="0"/>
          <a:lstStyle/>
          <a:p>
            <a:pPr algn="ctr">
              <a:lnSpc>
                <a:spcPct val="90000"/>
              </a:lnSpc>
              <a:spcAft>
                <a:spcPts val="300"/>
              </a:spcAft>
              <a:defRPr/>
            </a:pPr>
            <a:r>
              <a:rPr lang="en-US" sz="1400" b="1" kern="0" dirty="0">
                <a:latin typeface="+mj-lt"/>
                <a:cs typeface="Arial" panose="020B0604020202020204" pitchFamily="34" charset="0"/>
              </a:rPr>
              <a:t>Deep Talent Pool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latin typeface="+mj-lt"/>
                <a:cs typeface="Arial" panose="020B0604020202020204" pitchFamily="34" charset="0"/>
              </a:rPr>
              <a:t>8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,000+ specialized professionals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highlight>
                <a:srgbClr val="FFFF00"/>
              </a:highlight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968B210-0D5E-B45A-85AA-12924918B575}"/>
              </a:ext>
            </a:extLst>
          </p:cNvPr>
          <p:cNvGrpSpPr/>
          <p:nvPr>
            <p:custDataLst>
              <p:tags r:id="rId23"/>
            </p:custDataLst>
          </p:nvPr>
        </p:nvGrpSpPr>
        <p:grpSpPr>
          <a:xfrm>
            <a:off x="1073766" y="5585413"/>
            <a:ext cx="373168" cy="377879"/>
            <a:chOff x="3169208" y="2101435"/>
            <a:chExt cx="510363" cy="51036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F362738-145A-AD7B-021B-BF82E8D49BEB}"/>
                </a:ext>
              </a:extLst>
            </p:cNvPr>
            <p:cNvSpPr/>
            <p:nvPr/>
          </p:nvSpPr>
          <p:spPr>
            <a:xfrm>
              <a:off x="3169208" y="2101435"/>
              <a:ext cx="510363" cy="51036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17" name="Groupe 57">
              <a:extLst>
                <a:ext uri="{FF2B5EF4-FFF2-40B4-BE49-F238E27FC236}">
                  <a16:creationId xmlns:a16="http://schemas.microsoft.com/office/drawing/2014/main" id="{DD8A1725-C303-6123-1CE8-85DACC40C471}"/>
                </a:ext>
              </a:extLst>
            </p:cNvPr>
            <p:cNvGrpSpPr/>
            <p:nvPr>
              <p:custDataLst>
                <p:tags r:id="rId27"/>
              </p:custDataLst>
            </p:nvPr>
          </p:nvGrpSpPr>
          <p:grpSpPr>
            <a:xfrm>
              <a:off x="3169990" y="2137144"/>
              <a:ext cx="508799" cy="415656"/>
              <a:chOff x="3624762" y="3263988"/>
              <a:chExt cx="1354356" cy="914400"/>
            </a:xfrm>
            <a:solidFill>
              <a:schemeClr val="bg1"/>
            </a:solidFill>
          </p:grpSpPr>
          <p:pic>
            <p:nvPicPr>
              <p:cNvPr id="18" name="Graphique 58" descr="Office worker male avec un remplissage uni">
                <a:extLst>
                  <a:ext uri="{FF2B5EF4-FFF2-40B4-BE49-F238E27FC236}">
                    <a16:creationId xmlns:a16="http://schemas.microsoft.com/office/drawing/2014/main" id="{247CBD83-4B16-AF96-03DC-078A47EB90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/>
              </a:stretch>
            </p:blipFill>
            <p:spPr>
              <a:xfrm>
                <a:off x="3624762" y="3263988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9" name="Graphique 59" descr="Office worker female avec un remplissage uni">
                <a:extLst>
                  <a:ext uri="{FF2B5EF4-FFF2-40B4-BE49-F238E27FC236}">
                    <a16:creationId xmlns:a16="http://schemas.microsoft.com/office/drawing/2014/main" id="{06CBEA1A-80C3-CC4C-F901-26D0E6C56F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/>
              </a:stretch>
            </p:blipFill>
            <p:spPr>
              <a:xfrm>
                <a:off x="4064718" y="3263988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975A15A3-0CD3-BD62-FEB8-1495065AE3CD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58" y="0"/>
            <a:ext cx="12191642" cy="6011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52000" tIns="108000" rIns="252000" bIns="108000" rtlCol="0" anchor="ctr"/>
          <a:lstStyle/>
          <a:p>
            <a:r>
              <a:rPr lang="en-US" dirty="0">
                <a:solidFill>
                  <a:schemeClr val="bg1"/>
                </a:solidFill>
                <a:latin typeface="Bahnschrift Condensed" panose="020B0502040204020203" pitchFamily="34" charset="0"/>
              </a:rPr>
              <a:t>Senior Secured Cash Flow Loan</a:t>
            </a:r>
            <a:endParaRPr lang="en-CA" dirty="0">
              <a:solidFill>
                <a:srgbClr val="688098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8D14EB4-1EAE-228F-92F9-09C38C1517AC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49710" y="487099"/>
            <a:ext cx="1764000" cy="11406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52" name="Picture 5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33C0499-88B9-6281-788B-7B979A416E76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933" y="18427"/>
            <a:ext cx="2523067" cy="56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21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7AA66-3F8D-170C-F1B9-03BA97CE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A031F3B8-877F-AFB9-A7E7-83E0673985B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58" y="0"/>
            <a:ext cx="12191642" cy="6011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52000" tIns="108000" rIns="252000" bIns="108000" rtlCol="0" anchor="ctr"/>
          <a:lstStyle/>
          <a:p>
            <a:r>
              <a:rPr lang="en-US" dirty="0">
                <a:solidFill>
                  <a:schemeClr val="bg1"/>
                </a:solidFill>
                <a:latin typeface="Bahnschrift Condensed" panose="020B0502040204020203" pitchFamily="34" charset="0"/>
              </a:rPr>
              <a:t>Recent Transactions</a:t>
            </a:r>
            <a:endParaRPr lang="en-CA" dirty="0">
              <a:solidFill>
                <a:srgbClr val="688098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7ED42E6-8748-7925-BA86-20C290504DB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49710" y="487099"/>
            <a:ext cx="1764000" cy="11406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52" name="Picture 5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4D5CD45-A6AE-1F30-B165-65710B6E070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933" y="18427"/>
            <a:ext cx="2523067" cy="56431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6DE2ECA-510F-9C34-9FB5-444C87CECB3A}"/>
              </a:ext>
            </a:extLst>
          </p:cNvPr>
          <p:cNvSpPr/>
          <p:nvPr/>
        </p:nvSpPr>
        <p:spPr>
          <a:xfrm>
            <a:off x="2957743" y="2319291"/>
            <a:ext cx="6276513" cy="221941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3600" dirty="0"/>
              <a:t>Place Holder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1724793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7298A-12F7-84A7-6032-8F639797A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2A5718C8-72F9-FEA1-DA53-5453F969B24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58" y="0"/>
            <a:ext cx="12191642" cy="6011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52000" tIns="108000" rIns="252000" bIns="108000" rtlCol="0" anchor="ctr"/>
          <a:lstStyle/>
          <a:p>
            <a:r>
              <a:rPr lang="en-US" dirty="0">
                <a:solidFill>
                  <a:schemeClr val="bg1"/>
                </a:solidFill>
                <a:latin typeface="Bahnschrift Condensed" panose="020B0502040204020203" pitchFamily="34" charset="0"/>
              </a:rPr>
              <a:t>Business Case</a:t>
            </a:r>
            <a:endParaRPr lang="en-CA" dirty="0">
              <a:solidFill>
                <a:srgbClr val="688098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56FFB1-F1D0-D619-D37F-D0288CE80F5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49710" y="487099"/>
            <a:ext cx="1764000" cy="11406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52" name="Picture 5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5AE61F1-2AA2-2F12-0336-4BB50E0CEC3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933" y="18427"/>
            <a:ext cx="2523067" cy="56431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289912-115A-8062-3F73-7077E570BCC4}"/>
              </a:ext>
            </a:extLst>
          </p:cNvPr>
          <p:cNvSpPr/>
          <p:nvPr/>
        </p:nvSpPr>
        <p:spPr>
          <a:xfrm>
            <a:off x="2957743" y="2319291"/>
            <a:ext cx="6276513" cy="221941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3600" dirty="0"/>
              <a:t>Place Holder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42292589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heme/theme1.xml><?xml version="1.0" encoding="utf-8"?>
<a:theme xmlns:a="http://schemas.openxmlformats.org/drawingml/2006/main" name="Thème Office">
  <a:themeElements>
    <a:clrScheme name="MHCCNA">
      <a:dk1>
        <a:srgbClr val="000000"/>
      </a:dk1>
      <a:lt1>
        <a:sysClr val="window" lastClr="FFFFFF"/>
      </a:lt1>
      <a:dk2>
        <a:srgbClr val="234A5D"/>
      </a:dk2>
      <a:lt2>
        <a:srgbClr val="7E93A7"/>
      </a:lt2>
      <a:accent1>
        <a:srgbClr val="E60000"/>
      </a:accent1>
      <a:accent2>
        <a:srgbClr val="A03223"/>
      </a:accent2>
      <a:accent3>
        <a:srgbClr val="FFBABA"/>
      </a:accent3>
      <a:accent4>
        <a:srgbClr val="BDCCD7"/>
      </a:accent4>
      <a:accent5>
        <a:srgbClr val="CECECE"/>
      </a:accent5>
      <a:accent6>
        <a:srgbClr val="712319"/>
      </a:accent6>
      <a:hlink>
        <a:srgbClr val="E60000"/>
      </a:hlink>
      <a:folHlink>
        <a:srgbClr val="B0C7D1"/>
      </a:folHlink>
    </a:clrScheme>
    <a:fontScheme name="MHCCNA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duct-sheet-KHall_2025-V1-HB" id="{9F1FED73-44D4-4E96-9E34-8584C5DB316C}" vid="{807BF953-ECC7-4420-98E1-59C30C18A82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3e6d4f-8cf7-464e-bfdf-5162297045af">
      <Terms xmlns="http://schemas.microsoft.com/office/infopath/2007/PartnerControls"/>
    </lcf76f155ced4ddcb4097134ff3c332f>
    <TaxCatchAll xmlns="47f04214-008e-4087-8e87-37a4b48276b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1CE0836E75D74CB66835CC3F92D61B" ma:contentTypeVersion="15" ma:contentTypeDescription="Crée un document." ma:contentTypeScope="" ma:versionID="2d13367ad0578f62c49d0e6b91517e9c">
  <xsd:schema xmlns:xsd="http://www.w3.org/2001/XMLSchema" xmlns:xs="http://www.w3.org/2001/XMLSchema" xmlns:p="http://schemas.microsoft.com/office/2006/metadata/properties" xmlns:ns2="453e6d4f-8cf7-464e-bfdf-5162297045af" xmlns:ns3="47f04214-008e-4087-8e87-37a4b48276b8" targetNamespace="http://schemas.microsoft.com/office/2006/metadata/properties" ma:root="true" ma:fieldsID="eff6f0dd897ede7a59bed34bf3ada1cc" ns2:_="" ns3:_="">
    <xsd:import namespace="453e6d4f-8cf7-464e-bfdf-5162297045af"/>
    <xsd:import namespace="47f04214-008e-4087-8e87-37a4b48276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3e6d4f-8cf7-464e-bfdf-5162297045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f43e6210-2fa7-4e77-943a-e2e7fb6c88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f04214-008e-4087-8e87-37a4b48276b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3c154dc8-9501-43e4-b867-1c97e2268bf6}" ma:internalName="TaxCatchAll" ma:showField="CatchAllData" ma:web="47f04214-008e-4087-8e87-37a4b48276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E48BBD-FBF4-4FC8-B74A-21E16412CDB0}">
  <ds:schemaRefs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453e6d4f-8cf7-464e-bfdf-5162297045af"/>
    <ds:schemaRef ds:uri="47f04214-008e-4087-8e87-37a4b48276b8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2FFA2B1-CBD3-4C2F-BB0B-B3B54280AE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8C23C2-887A-4ED5-A384-7E82B12371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3e6d4f-8cf7-464e-bfdf-5162297045af"/>
    <ds:schemaRef ds:uri="47f04214-008e-4087-8e87-37a4b48276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Product-sheet-KHall_2025-V1-HB</Template>
  <TotalTime>1554</TotalTime>
  <Words>271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Bahnschrift Condensed</vt:lpstr>
      <vt:lpstr>Calibri</vt:lpstr>
      <vt:lpstr>Calibri Light</vt:lpstr>
      <vt:lpstr>Thème Office</vt:lpstr>
      <vt:lpstr>Private Credit:  Senior Secured Cash Flow Loan  Overview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Hélianne Bruneau</dc:creator>
  <cp:lastModifiedBy>Etienne Duclos</cp:lastModifiedBy>
  <cp:revision>13</cp:revision>
  <dcterms:created xsi:type="dcterms:W3CDTF">2025-04-08T19:35:00Z</dcterms:created>
  <dcterms:modified xsi:type="dcterms:W3CDTF">2025-04-10T19:00:04Z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0x010100381CE0836E75D74CB66835CC3F92D61B</vt:lpwstr>
  </property>
</Properties>
</file>